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49.png"/><Relationship Id="rId10" Type="http://schemas.openxmlformats.org/officeDocument/2006/relationships/image" Target="../media/image8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png"/><Relationship Id="rId14" Type="http://schemas.openxmlformats.org/officeDocument/2006/relationships/image" Target="../media/image93.png"/><Relationship Id="rId15" Type="http://schemas.openxmlformats.org/officeDocument/2006/relationships/image" Target="../media/image94.png"/><Relationship Id="rId16" Type="http://schemas.openxmlformats.org/officeDocument/2006/relationships/image" Target="../media/image9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0.png"/><Relationship Id="rId7" Type="http://schemas.openxmlformats.org/officeDocument/2006/relationships/image" Target="../media/image131.png"/><Relationship Id="rId8" Type="http://schemas.openxmlformats.org/officeDocument/2006/relationships/image" Target="../media/image132.png"/><Relationship Id="rId9" Type="http://schemas.openxmlformats.org/officeDocument/2006/relationships/image" Target="../media/image133.png"/><Relationship Id="rId10" Type="http://schemas.openxmlformats.org/officeDocument/2006/relationships/image" Target="../media/image134.png"/><Relationship Id="rId11" Type="http://schemas.openxmlformats.org/officeDocument/2006/relationships/image" Target="../media/image95.png"/><Relationship Id="rId12" Type="http://schemas.openxmlformats.org/officeDocument/2006/relationships/image" Target="../media/image135.png"/><Relationship Id="rId13" Type="http://schemas.openxmlformats.org/officeDocument/2006/relationships/image" Target="../media/image136.png"/><Relationship Id="rId14" Type="http://schemas.openxmlformats.org/officeDocument/2006/relationships/image" Target="../media/image1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image" Target="../media/image52.png"/><Relationship Id="rId6" Type="http://schemas.openxmlformats.org/officeDocument/2006/relationships/image" Target="../media/image140.png"/><Relationship Id="rId7" Type="http://schemas.openxmlformats.org/officeDocument/2006/relationships/image" Target="../media/image1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50.png"/><Relationship Id="rId11" Type="http://schemas.openxmlformats.org/officeDocument/2006/relationships/image" Target="../media/image151.png"/><Relationship Id="rId12" Type="http://schemas.openxmlformats.org/officeDocument/2006/relationships/image" Target="../media/image19.png"/><Relationship Id="rId13" Type="http://schemas.openxmlformats.org/officeDocument/2006/relationships/image" Target="../media/image152.png"/><Relationship Id="rId14" Type="http://schemas.openxmlformats.org/officeDocument/2006/relationships/image" Target="../media/image153.png"/><Relationship Id="rId15" Type="http://schemas.openxmlformats.org/officeDocument/2006/relationships/image" Target="../media/image154.png"/><Relationship Id="rId16" Type="http://schemas.openxmlformats.org/officeDocument/2006/relationships/image" Target="../media/image155.png"/><Relationship Id="rId17" Type="http://schemas.openxmlformats.org/officeDocument/2006/relationships/image" Target="../media/image156.png"/><Relationship Id="rId18" Type="http://schemas.openxmlformats.org/officeDocument/2006/relationships/image" Target="../media/image1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160.png"/><Relationship Id="rId6" Type="http://schemas.openxmlformats.org/officeDocument/2006/relationships/image" Target="../media/image38.png"/><Relationship Id="rId7"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334196"/>
            <a:ext cx="8572500" cy="690562"/>
          </a:xfrm>
          <a:prstGeom prst="rect">
            <a:avLst/>
          </a:prstGeom>
        </p:spPr>
      </p:pic>
      <p:pic>
        <p:nvPicPr>
          <p:cNvPr id="4" name="Picture 3" descr="image.png"/>
          <p:cNvPicPr>
            <a:picLocks noChangeAspect="1"/>
          </p:cNvPicPr>
          <p:nvPr/>
        </p:nvPicPr>
        <p:blipFill>
          <a:blip r:embed="rId4"/>
          <a:stretch>
            <a:fillRect/>
          </a:stretch>
        </p:blipFill>
        <p:spPr>
          <a:xfrm>
            <a:off x="533400" y="4443858"/>
            <a:ext cx="11125200" cy="866775"/>
          </a:xfrm>
          <a:prstGeom prst="rect">
            <a:avLst/>
          </a:prstGeom>
        </p:spPr>
      </p:pic>
      <p:pic>
        <p:nvPicPr>
          <p:cNvPr id="5" name="Picture 4" descr="image.png"/>
          <p:cNvPicPr>
            <a:picLocks noChangeAspect="1"/>
          </p:cNvPicPr>
          <p:nvPr/>
        </p:nvPicPr>
        <p:blipFill>
          <a:blip r:embed="rId5"/>
          <a:stretch>
            <a:fillRect/>
          </a:stretch>
        </p:blipFill>
        <p:spPr>
          <a:xfrm>
            <a:off x="533400" y="4681983"/>
            <a:ext cx="2324100" cy="628650"/>
          </a:xfrm>
          <a:prstGeom prst="rect">
            <a:avLst/>
          </a:prstGeom>
        </p:spPr>
      </p:pic>
      <p:pic>
        <p:nvPicPr>
          <p:cNvPr id="6" name="Picture 5" descr="image.png"/>
          <p:cNvPicPr>
            <a:picLocks noChangeAspect="1"/>
          </p:cNvPicPr>
          <p:nvPr/>
        </p:nvPicPr>
        <p:blipFill>
          <a:blip r:embed="rId6"/>
          <a:stretch>
            <a:fillRect/>
          </a:stretch>
        </p:blipFill>
        <p:spPr>
          <a:xfrm>
            <a:off x="3086100" y="4681983"/>
            <a:ext cx="2143125" cy="628650"/>
          </a:xfrm>
          <a:prstGeom prst="rect">
            <a:avLst/>
          </a:prstGeom>
        </p:spPr>
      </p:pic>
      <p:pic>
        <p:nvPicPr>
          <p:cNvPr id="7" name="Picture 6" descr="image.png"/>
          <p:cNvPicPr>
            <a:picLocks noChangeAspect="1"/>
          </p:cNvPicPr>
          <p:nvPr/>
        </p:nvPicPr>
        <p:blipFill>
          <a:blip r:embed="rId7"/>
          <a:stretch>
            <a:fillRect/>
          </a:stretch>
        </p:blipFill>
        <p:spPr>
          <a:xfrm>
            <a:off x="5457825" y="4681983"/>
            <a:ext cx="2600325" cy="628650"/>
          </a:xfrm>
          <a:prstGeom prst="rect">
            <a:avLst/>
          </a:prstGeom>
        </p:spPr>
      </p:pic>
      <p:pic>
        <p:nvPicPr>
          <p:cNvPr id="8" name="Picture 7" descr="image.png"/>
          <p:cNvPicPr>
            <a:picLocks noChangeAspect="1"/>
          </p:cNvPicPr>
          <p:nvPr/>
        </p:nvPicPr>
        <p:blipFill>
          <a:blip r:embed="rId8"/>
          <a:stretch>
            <a:fillRect/>
          </a:stretch>
        </p:blipFill>
        <p:spPr>
          <a:xfrm>
            <a:off x="8286750" y="4681983"/>
            <a:ext cx="2200275" cy="628650"/>
          </a:xfrm>
          <a:prstGeom prst="rect">
            <a:avLst/>
          </a:prstGeom>
        </p:spPr>
      </p:pic>
      <p:sp>
        <p:nvSpPr>
          <p:cNvPr id="9" name="TextBox 8"/>
          <p:cNvSpPr txBox="1"/>
          <p:nvPr/>
        </p:nvSpPr>
        <p:spPr>
          <a:xfrm>
            <a:off x="533400" y="1547366"/>
            <a:ext cx="11125200" cy="200025"/>
          </a:xfrm>
          <a:prstGeom prst="rect">
            <a:avLst/>
          </a:prstGeom>
          <a:noFill/>
        </p:spPr>
        <p:txBody>
          <a:bodyPr wrap="square" lIns="0" rIns="0" tIns="0" bIns="0" anchor="t">
            <a:spAutoFit/>
          </a:bodyPr>
          <a:lstStyle/>
          <a:p>
            <a:pPr algn="l"/>
            <a:r>
              <a:rPr b="1" sz="1200" i="0" u="none">
                <a:solidFill>
                  <a:srgbClr val="2563EB"/>
                </a:solidFill>
                <a:latin typeface="Plus Jakarta Sans"/>
              </a:rPr>
              <a:t>NLP SUMMER 2026 — NHÓM 15</a:t>
            </a:r>
          </a:p>
        </p:txBody>
      </p:sp>
      <p:sp>
        <p:nvSpPr>
          <p:cNvPr id="10" name="TextBox 9"/>
          <p:cNvSpPr txBox="1"/>
          <p:nvPr/>
        </p:nvSpPr>
        <p:spPr>
          <a:xfrm>
            <a:off x="533400" y="1899791"/>
            <a:ext cx="11658600" cy="569565"/>
          </a:xfrm>
          <a:prstGeom prst="rect">
            <a:avLst/>
          </a:prstGeom>
          <a:noFill/>
        </p:spPr>
        <p:txBody>
          <a:bodyPr wrap="square" lIns="0" rIns="0" tIns="0" bIns="0" anchor="t">
            <a:spAutoFit/>
          </a:bodyPr>
          <a:lstStyle/>
          <a:p>
            <a:pPr algn="l">
              <a:lnSpc>
                <a:spcPts val="4484"/>
              </a:lnSpc>
            </a:pPr>
            <a:r>
              <a:rPr b="1" sz="3900" i="0" u="none">
                <a:solidFill>
                  <a:srgbClr val="0F172A"/>
                </a:solidFill>
                <a:latin typeface="Space Grotesk"/>
              </a:rPr>
              <a:t>VIQA Nexus</a:t>
            </a:r>
          </a:p>
        </p:txBody>
      </p:sp>
      <p:sp>
        <p:nvSpPr>
          <p:cNvPr id="11" name="TextBox 10"/>
          <p:cNvSpPr txBox="1"/>
          <p:nvPr/>
        </p:nvSpPr>
        <p:spPr>
          <a:xfrm>
            <a:off x="533400" y="2659856"/>
            <a:ext cx="8572500" cy="293340"/>
          </a:xfrm>
          <a:prstGeom prst="rect">
            <a:avLst/>
          </a:prstGeom>
          <a:noFill/>
        </p:spPr>
        <p:txBody>
          <a:bodyPr wrap="square" lIns="0" rIns="0" tIns="0" bIns="0" anchor="t">
            <a:spAutoFit/>
          </a:bodyPr>
          <a:lstStyle/>
          <a:p>
            <a:pPr algn="l">
              <a:lnSpc>
                <a:spcPts val="2310"/>
              </a:lnSpc>
            </a:pPr>
            <a:r>
              <a:rPr b="0" sz="1650" i="0" u="none">
                <a:solidFill>
                  <a:srgbClr val="475569"/>
                </a:solidFill>
                <a:latin typeface="Plus Jakarta Sans"/>
              </a:rPr>
              <a:t>Hệ thống hỏi đáp tiếng Việt có dẫn nguồn, Gia sư Socratic và vòng lặp phản hồi</a:t>
            </a:r>
          </a:p>
        </p:txBody>
      </p:sp>
      <p:sp>
        <p:nvSpPr>
          <p:cNvPr id="12" name="TextBox 11"/>
          <p:cNvSpPr txBox="1"/>
          <p:nvPr/>
        </p:nvSpPr>
        <p:spPr>
          <a:xfrm>
            <a:off x="771525" y="3572321"/>
            <a:ext cx="8096250" cy="214312"/>
          </a:xfrm>
          <a:prstGeom prst="rect">
            <a:avLst/>
          </a:prstGeom>
          <a:noFill/>
        </p:spPr>
        <p:txBody>
          <a:bodyPr wrap="square" lIns="257175" rIns="0" tIns="0" bIns="0" anchor="t">
            <a:spAutoFit/>
          </a:bodyPr>
          <a:lstStyle/>
          <a:p>
            <a:pPr algn="l">
              <a:lnSpc>
                <a:spcPts val="1687"/>
              </a:lnSpc>
            </a:pPr>
            <a:r>
              <a:rPr b="1" sz="1125" i="0" u="none">
                <a:solidFill>
                  <a:srgbClr val="1E40AF"/>
                </a:solidFill>
                <a:latin typeface="Plus Jakarta Sans"/>
              </a:rPr>
              <a:t>Giảng viên hướng dẫn:</a:t>
            </a:r>
            <a:r>
              <a:rPr b="0" sz="1125" i="0" u="none">
                <a:solidFill>
                  <a:srgbClr val="1E40AF"/>
                </a:solidFill>
                <a:latin typeface="Plus Jakarta Sans"/>
              </a:rPr>
              <a:t> Trần Hồng Việt — Trường Đại học Công nghệ, ĐHQGHN</a:t>
            </a:r>
          </a:p>
        </p:txBody>
      </p:sp>
      <p:pic>
        <p:nvPicPr>
          <p:cNvPr id="13" name="Picture 12" descr="image.png"/>
          <p:cNvPicPr>
            <a:picLocks noChangeAspect="1"/>
          </p:cNvPicPr>
          <p:nvPr/>
        </p:nvPicPr>
        <p:blipFill>
          <a:blip r:embed="rId9"/>
          <a:stretch>
            <a:fillRect/>
          </a:stretch>
        </p:blipFill>
        <p:spPr>
          <a:xfrm>
            <a:off x="771525" y="3610421"/>
            <a:ext cx="180975" cy="142875"/>
          </a:xfrm>
          <a:prstGeom prst="rect">
            <a:avLst/>
          </a:prstGeom>
        </p:spPr>
      </p:pic>
      <p:sp>
        <p:nvSpPr>
          <p:cNvPr id="14" name="TextBox 13"/>
          <p:cNvSpPr txBox="1"/>
          <p:nvPr/>
        </p:nvSpPr>
        <p:spPr>
          <a:xfrm>
            <a:off x="733425" y="4805808"/>
            <a:ext cx="1924050" cy="180975"/>
          </a:xfrm>
          <a:prstGeom prst="rect">
            <a:avLst/>
          </a:prstGeom>
          <a:noFill/>
        </p:spPr>
        <p:txBody>
          <a:bodyPr wrap="square" lIns="0" rIns="0" tIns="0" bIns="0" anchor="t">
            <a:spAutoFit/>
          </a:bodyPr>
          <a:lstStyle/>
          <a:p>
            <a:pPr algn="l"/>
            <a:r>
              <a:rPr b="1" sz="1125" i="0" u="none">
                <a:solidFill>
                  <a:srgbClr val="0F172A"/>
                </a:solidFill>
                <a:latin typeface="Plus Jakarta Sans"/>
              </a:rPr>
              <a:t>Nguyễn Tùng Dương</a:t>
            </a:r>
          </a:p>
        </p:txBody>
      </p:sp>
      <p:sp>
        <p:nvSpPr>
          <p:cNvPr id="15" name="TextBox 14"/>
          <p:cNvSpPr txBox="1"/>
          <p:nvPr/>
        </p:nvSpPr>
        <p:spPr>
          <a:xfrm>
            <a:off x="733425" y="5024883"/>
            <a:ext cx="1924050" cy="152400"/>
          </a:xfrm>
          <a:prstGeom prst="rect">
            <a:avLst/>
          </a:prstGeom>
          <a:noFill/>
        </p:spPr>
        <p:txBody>
          <a:bodyPr wrap="square" lIns="0" rIns="0" tIns="0" bIns="0" anchor="t">
            <a:spAutoFit/>
          </a:bodyPr>
          <a:lstStyle/>
          <a:p>
            <a:pPr algn="l"/>
            <a:r>
              <a:rPr b="0" sz="975" i="0" u="none">
                <a:solidFill>
                  <a:srgbClr val="64748B"/>
                </a:solidFill>
                <a:latin typeface="Plus Jakarta Sans"/>
              </a:rPr>
              <a:t>24022306 • Document Retriever</a:t>
            </a:r>
          </a:p>
        </p:txBody>
      </p:sp>
      <p:sp>
        <p:nvSpPr>
          <p:cNvPr id="16" name="TextBox 15"/>
          <p:cNvSpPr txBox="1"/>
          <p:nvPr/>
        </p:nvSpPr>
        <p:spPr>
          <a:xfrm>
            <a:off x="3286125" y="4805808"/>
            <a:ext cx="1743075" cy="180975"/>
          </a:xfrm>
          <a:prstGeom prst="rect">
            <a:avLst/>
          </a:prstGeom>
          <a:noFill/>
        </p:spPr>
        <p:txBody>
          <a:bodyPr wrap="square" lIns="0" rIns="0" tIns="0" bIns="0" anchor="t">
            <a:spAutoFit/>
          </a:bodyPr>
          <a:lstStyle/>
          <a:p>
            <a:pPr algn="l"/>
            <a:r>
              <a:rPr b="1" sz="1125" i="0" u="none">
                <a:solidFill>
                  <a:srgbClr val="0F172A"/>
                </a:solidFill>
                <a:latin typeface="Plus Jakarta Sans"/>
              </a:rPr>
              <a:t>Tống Đức Hồng Anh</a:t>
            </a:r>
          </a:p>
        </p:txBody>
      </p:sp>
      <p:sp>
        <p:nvSpPr>
          <p:cNvPr id="17" name="TextBox 16"/>
          <p:cNvSpPr txBox="1"/>
          <p:nvPr/>
        </p:nvSpPr>
        <p:spPr>
          <a:xfrm>
            <a:off x="3286125" y="5024883"/>
            <a:ext cx="1743075" cy="152400"/>
          </a:xfrm>
          <a:prstGeom prst="rect">
            <a:avLst/>
          </a:prstGeom>
          <a:noFill/>
        </p:spPr>
        <p:txBody>
          <a:bodyPr wrap="square" lIns="0" rIns="0" tIns="0" bIns="0" anchor="t">
            <a:spAutoFit/>
          </a:bodyPr>
          <a:lstStyle/>
          <a:p>
            <a:pPr algn="l"/>
            <a:r>
              <a:rPr b="0" sz="975" i="0" u="none">
                <a:solidFill>
                  <a:srgbClr val="64748B"/>
                </a:solidFill>
                <a:latin typeface="Plus Jakarta Sans"/>
              </a:rPr>
              <a:t>2402258 • Reader &amp; Extractor</a:t>
            </a:r>
          </a:p>
        </p:txBody>
      </p:sp>
      <p:sp>
        <p:nvSpPr>
          <p:cNvPr id="18" name="TextBox 17"/>
          <p:cNvSpPr txBox="1"/>
          <p:nvPr/>
        </p:nvSpPr>
        <p:spPr>
          <a:xfrm>
            <a:off x="5657850" y="4805808"/>
            <a:ext cx="2200275" cy="180975"/>
          </a:xfrm>
          <a:prstGeom prst="rect">
            <a:avLst/>
          </a:prstGeom>
          <a:noFill/>
        </p:spPr>
        <p:txBody>
          <a:bodyPr wrap="square" lIns="0" rIns="0" tIns="0" bIns="0" anchor="t">
            <a:spAutoFit/>
          </a:bodyPr>
          <a:lstStyle/>
          <a:p>
            <a:pPr algn="l"/>
            <a:r>
              <a:rPr b="1" sz="1125" i="0" u="none">
                <a:solidFill>
                  <a:srgbClr val="0F172A"/>
                </a:solidFill>
                <a:latin typeface="Plus Jakarta Sans"/>
              </a:rPr>
              <a:t>Lê Toàn</a:t>
            </a:r>
          </a:p>
        </p:txBody>
      </p:sp>
      <p:sp>
        <p:nvSpPr>
          <p:cNvPr id="19" name="TextBox 18"/>
          <p:cNvSpPr txBox="1"/>
          <p:nvPr/>
        </p:nvSpPr>
        <p:spPr>
          <a:xfrm>
            <a:off x="5657850" y="5024883"/>
            <a:ext cx="2200275" cy="152400"/>
          </a:xfrm>
          <a:prstGeom prst="rect">
            <a:avLst/>
          </a:prstGeom>
          <a:noFill/>
        </p:spPr>
        <p:txBody>
          <a:bodyPr wrap="square" lIns="0" rIns="0" tIns="0" bIns="0" anchor="t">
            <a:spAutoFit/>
          </a:bodyPr>
          <a:lstStyle/>
          <a:p>
            <a:pPr algn="l"/>
            <a:r>
              <a:rPr b="0" sz="975" i="0" u="none">
                <a:solidFill>
                  <a:srgbClr val="64748B"/>
                </a:solidFill>
                <a:latin typeface="Plus Jakarta Sans"/>
              </a:rPr>
              <a:t>24022466 • Dataset &amp; Preprocessing</a:t>
            </a:r>
          </a:p>
        </p:txBody>
      </p:sp>
      <p:sp>
        <p:nvSpPr>
          <p:cNvPr id="20" name="TextBox 19"/>
          <p:cNvSpPr txBox="1"/>
          <p:nvPr/>
        </p:nvSpPr>
        <p:spPr>
          <a:xfrm>
            <a:off x="8486775" y="4805808"/>
            <a:ext cx="1800225" cy="180975"/>
          </a:xfrm>
          <a:prstGeom prst="rect">
            <a:avLst/>
          </a:prstGeom>
          <a:noFill/>
        </p:spPr>
        <p:txBody>
          <a:bodyPr wrap="square" lIns="0" rIns="0" tIns="0" bIns="0" anchor="t">
            <a:spAutoFit/>
          </a:bodyPr>
          <a:lstStyle/>
          <a:p>
            <a:pPr algn="l"/>
            <a:r>
              <a:rPr b="1" sz="1125" i="0" u="none">
                <a:solidFill>
                  <a:srgbClr val="0F172A"/>
                </a:solidFill>
                <a:latin typeface="Plus Jakarta Sans"/>
              </a:rPr>
              <a:t>Lê Ngọc Quý</a:t>
            </a:r>
          </a:p>
        </p:txBody>
      </p:sp>
      <p:sp>
        <p:nvSpPr>
          <p:cNvPr id="21" name="TextBox 20"/>
          <p:cNvSpPr txBox="1"/>
          <p:nvPr/>
        </p:nvSpPr>
        <p:spPr>
          <a:xfrm>
            <a:off x="8486775" y="5024883"/>
            <a:ext cx="1800225" cy="152400"/>
          </a:xfrm>
          <a:prstGeom prst="rect">
            <a:avLst/>
          </a:prstGeom>
          <a:noFill/>
        </p:spPr>
        <p:txBody>
          <a:bodyPr wrap="square" lIns="0" rIns="0" tIns="0" bIns="0" anchor="t">
            <a:spAutoFit/>
          </a:bodyPr>
          <a:lstStyle/>
          <a:p>
            <a:pPr algn="l"/>
            <a:r>
              <a:rPr b="0" sz="975" i="0" u="none">
                <a:solidFill>
                  <a:srgbClr val="64748B"/>
                </a:solidFill>
                <a:latin typeface="Plus Jakarta Sans"/>
              </a:rPr>
              <a:t>23021677 • Integration &amp; UI/3D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857625"/>
            <a:ext cx="11125200" cy="933450"/>
          </a:xfrm>
          <a:prstGeom prst="rect">
            <a:avLst/>
          </a:prstGeom>
        </p:spPr>
      </p:pic>
      <p:pic>
        <p:nvPicPr>
          <p:cNvPr id="4" name="Picture 3" descr="image.png"/>
          <p:cNvPicPr>
            <a:picLocks noChangeAspect="1"/>
          </p:cNvPicPr>
          <p:nvPr/>
        </p:nvPicPr>
        <p:blipFill>
          <a:blip r:embed="rId4"/>
          <a:stretch>
            <a:fillRect/>
          </a:stretch>
        </p:blipFill>
        <p:spPr>
          <a:xfrm>
            <a:off x="533400" y="1133475"/>
            <a:ext cx="5429250" cy="2533650"/>
          </a:xfrm>
          <a:prstGeom prst="rect">
            <a:avLst/>
          </a:prstGeom>
        </p:spPr>
      </p:pic>
      <p:pic>
        <p:nvPicPr>
          <p:cNvPr id="5" name="Picture 4" descr="image.png"/>
          <p:cNvPicPr>
            <a:picLocks noChangeAspect="1"/>
          </p:cNvPicPr>
          <p:nvPr/>
        </p:nvPicPr>
        <p:blipFill>
          <a:blip r:embed="rId5"/>
          <a:stretch>
            <a:fillRect/>
          </a:stretch>
        </p:blipFill>
        <p:spPr>
          <a:xfrm>
            <a:off x="6229350" y="1133475"/>
            <a:ext cx="5429250" cy="2533650"/>
          </a:xfrm>
          <a:prstGeom prst="rect">
            <a:avLst/>
          </a:prstGeom>
        </p:spPr>
      </p:pic>
      <p:sp>
        <p:nvSpPr>
          <p:cNvPr id="6" name="TextBox 5"/>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Bài toán &amp; Động lực nghiên cứu</a:t>
            </a:r>
          </a:p>
        </p:txBody>
      </p:sp>
      <p:pic>
        <p:nvPicPr>
          <p:cNvPr id="7" name="Picture 6" descr="image.png"/>
          <p:cNvPicPr>
            <a:picLocks noChangeAspect="1"/>
          </p:cNvPicPr>
          <p:nvPr/>
        </p:nvPicPr>
        <p:blipFill>
          <a:blip r:embed="rId6"/>
          <a:stretch>
            <a:fillRect/>
          </a:stretch>
        </p:blipFill>
        <p:spPr>
          <a:xfrm>
            <a:off x="10291762" y="519112"/>
            <a:ext cx="1366837" cy="285750"/>
          </a:xfrm>
          <a:prstGeom prst="rect">
            <a:avLst/>
          </a:prstGeom>
        </p:spPr>
      </p:pic>
      <p:sp>
        <p:nvSpPr>
          <p:cNvPr id="8" name="TextBox 7"/>
          <p:cNvSpPr txBox="1"/>
          <p:nvPr/>
        </p:nvSpPr>
        <p:spPr>
          <a:xfrm>
            <a:off x="771525" y="4095750"/>
            <a:ext cx="10648950" cy="457200"/>
          </a:xfrm>
          <a:prstGeom prst="rect">
            <a:avLst/>
          </a:prstGeom>
          <a:noFill/>
        </p:spPr>
        <p:txBody>
          <a:bodyPr wrap="square" lIns="190500" rIns="0" tIns="0" bIns="0" anchor="t">
            <a:spAutoFit/>
          </a:bodyPr>
          <a:lstStyle/>
          <a:p>
            <a:pPr algn="l">
              <a:lnSpc>
                <a:spcPts val="1800"/>
              </a:lnSpc>
            </a:pPr>
            <a:r>
              <a:rPr b="0" sz="1200" i="0" u="none">
                <a:solidFill>
                  <a:srgbClr val="166534"/>
                </a:solidFill>
                <a:latin typeface="Plus Jakarta Sans SemiBold"/>
              </a:rPr>
              <a:t>Nguyên tắc lõi: Hệ thống sẵn sàng trả về trạng thái Từ chối (No-Answer / Abstention) khi bằng chứng trong kho tài liệu không đủ hoặc câu hỏi sai tiền đề.</a:t>
            </a:r>
          </a:p>
        </p:txBody>
      </p:sp>
      <p:sp>
        <p:nvSpPr>
          <p:cNvPr id="9" name="TextBox 8"/>
          <p:cNvSpPr txBox="1"/>
          <p:nvPr/>
        </p:nvSpPr>
        <p:spPr>
          <a:xfrm>
            <a:off x="771525" y="1371600"/>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Thách thức trong Question Answering (QA)</a:t>
            </a:r>
          </a:p>
        </p:txBody>
      </p:sp>
      <p:sp>
        <p:nvSpPr>
          <p:cNvPr id="10" name="TextBox 9"/>
          <p:cNvSpPr txBox="1"/>
          <p:nvPr/>
        </p:nvSpPr>
        <p:spPr>
          <a:xfrm>
            <a:off x="6467475" y="1371600"/>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Giải pháp Kiến trúc Retriever–Reader</a:t>
            </a:r>
          </a:p>
        </p:txBody>
      </p:sp>
      <p:pic>
        <p:nvPicPr>
          <p:cNvPr id="11" name="Picture 10" descr="image.png"/>
          <p:cNvPicPr>
            <a:picLocks noChangeAspect="1"/>
          </p:cNvPicPr>
          <p:nvPr/>
        </p:nvPicPr>
        <p:blipFill>
          <a:blip r:embed="rId7"/>
          <a:stretch>
            <a:fillRect/>
          </a:stretch>
        </p:blipFill>
        <p:spPr>
          <a:xfrm>
            <a:off x="771525" y="4133850"/>
            <a:ext cx="114300" cy="152400"/>
          </a:xfrm>
          <a:prstGeom prst="rect">
            <a:avLst/>
          </a:prstGeom>
        </p:spPr>
      </p:pic>
      <p:sp>
        <p:nvSpPr>
          <p:cNvPr id="12" name="TextBox 11"/>
          <p:cNvSpPr txBox="1"/>
          <p:nvPr/>
        </p:nvSpPr>
        <p:spPr>
          <a:xfrm>
            <a:off x="1038225" y="1714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Tìm kiếm truyền thống:</a:t>
            </a:r>
            <a:r>
              <a:rPr b="0" sz="1200" i="0" u="none">
                <a:solidFill>
                  <a:srgbClr val="334155"/>
                </a:solidFill>
                <a:latin typeface="Plus Jakarta Sans"/>
              </a:rPr>
              <a:t> Chỉ trả về danh sách tài liệu, bắt người dùng tự đọc tìm câu trả lời.</a:t>
            </a:r>
          </a:p>
        </p:txBody>
      </p:sp>
      <p:sp>
        <p:nvSpPr>
          <p:cNvPr id="13" name="TextBox 12"/>
          <p:cNvSpPr txBox="1"/>
          <p:nvPr/>
        </p:nvSpPr>
        <p:spPr>
          <a:xfrm>
            <a:off x="1038225" y="22860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Hạn chế tính toán:</a:t>
            </a:r>
            <a:r>
              <a:rPr b="0" sz="1200" i="0" u="none">
                <a:solidFill>
                  <a:srgbClr val="334155"/>
                </a:solidFill>
                <a:latin typeface="Plus Jakarta Sans"/>
              </a:rPr>
              <a:t> Reader/LLM không thể đọc trực tiếp toàn bộ kho tài liệu lớn (5,317 tài liệu) do chi phí GPU &amp; độ trễ quá cao.</a:t>
            </a:r>
          </a:p>
        </p:txBody>
      </p:sp>
      <p:sp>
        <p:nvSpPr>
          <p:cNvPr id="14" name="TextBox 13"/>
          <p:cNvSpPr txBox="1"/>
          <p:nvPr/>
        </p:nvSpPr>
        <p:spPr>
          <a:xfrm>
            <a:off x="1038225" y="2857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Rủi ro Ảo giác (Hallucination):</a:t>
            </a:r>
            <a:r>
              <a:rPr b="0" sz="1200" i="0" u="none">
                <a:solidFill>
                  <a:srgbClr val="334155"/>
                </a:solidFill>
                <a:latin typeface="Plus Jakarta Sans"/>
              </a:rPr>
              <a:t> Mô hình ngôn ngữ tự do thường tự sáng tạo câu trả lời khi thiếu tri thức.</a:t>
            </a:r>
          </a:p>
        </p:txBody>
      </p:sp>
      <p:sp>
        <p:nvSpPr>
          <p:cNvPr id="15" name="TextBox 14"/>
          <p:cNvSpPr txBox="1"/>
          <p:nvPr/>
        </p:nvSpPr>
        <p:spPr>
          <a:xfrm>
            <a:off x="6734175" y="1714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Retriever:</a:t>
            </a:r>
            <a:r>
              <a:rPr b="0" sz="1200" i="0" u="none">
                <a:solidFill>
                  <a:srgbClr val="334155"/>
                </a:solidFill>
                <a:latin typeface="Plus Jakarta Sans"/>
              </a:rPr>
              <a:t> Thu hẹp không gian tìm kiếm từ hàng ngàn tài liệu xuống Top-K passage liên quan nhất.</a:t>
            </a:r>
          </a:p>
        </p:txBody>
      </p:sp>
      <p:sp>
        <p:nvSpPr>
          <p:cNvPr id="16" name="TextBox 15"/>
          <p:cNvSpPr txBox="1"/>
          <p:nvPr/>
        </p:nvSpPr>
        <p:spPr>
          <a:xfrm>
            <a:off x="6734175" y="22860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Reader:</a:t>
            </a:r>
            <a:r>
              <a:rPr b="0" sz="1200" i="0" u="none">
                <a:solidFill>
                  <a:srgbClr val="334155"/>
                </a:solidFill>
                <a:latin typeface="Plus Jakarta Sans"/>
              </a:rPr>
              <a:t> Trích xuất chính xác span câu trả lời từ các passage được chọn.</a:t>
            </a:r>
          </a:p>
        </p:txBody>
      </p:sp>
      <p:sp>
        <p:nvSpPr>
          <p:cNvPr id="17" name="TextBox 16"/>
          <p:cNvSpPr txBox="1"/>
          <p:nvPr/>
        </p:nvSpPr>
        <p:spPr>
          <a:xfrm>
            <a:off x="6734175" y="2857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Closed-Domain Grounding:</a:t>
            </a:r>
            <a:r>
              <a:rPr b="0" sz="1200" i="0" u="none">
                <a:solidFill>
                  <a:srgbClr val="334155"/>
                </a:solidFill>
                <a:latin typeface="Plus Jakarta Sans"/>
              </a:rPr>
              <a:t> Câu trả lời bắt buộc phải có minh chứng (Evidence) và vị trí Offset tường minh.</a:t>
            </a:r>
          </a:p>
        </p:txBody>
      </p:sp>
      <p:pic>
        <p:nvPicPr>
          <p:cNvPr id="18" name="Picture 17" descr="image.png"/>
          <p:cNvPicPr>
            <a:picLocks noChangeAspect="1"/>
          </p:cNvPicPr>
          <p:nvPr/>
        </p:nvPicPr>
        <p:blipFill>
          <a:blip r:embed="rId8"/>
          <a:stretch>
            <a:fillRect/>
          </a:stretch>
        </p:blipFill>
        <p:spPr>
          <a:xfrm>
            <a:off x="771525" y="1752600"/>
            <a:ext cx="152400" cy="152400"/>
          </a:xfrm>
          <a:prstGeom prst="rect">
            <a:avLst/>
          </a:prstGeom>
        </p:spPr>
      </p:pic>
      <p:pic>
        <p:nvPicPr>
          <p:cNvPr id="19" name="Picture 18" descr="image.png"/>
          <p:cNvPicPr>
            <a:picLocks noChangeAspect="1"/>
          </p:cNvPicPr>
          <p:nvPr/>
        </p:nvPicPr>
        <p:blipFill>
          <a:blip r:embed="rId9"/>
          <a:stretch>
            <a:fillRect/>
          </a:stretch>
        </p:blipFill>
        <p:spPr>
          <a:xfrm>
            <a:off x="771525" y="2324100"/>
            <a:ext cx="152400" cy="152400"/>
          </a:xfrm>
          <a:prstGeom prst="rect">
            <a:avLst/>
          </a:prstGeom>
        </p:spPr>
      </p:pic>
      <p:pic>
        <p:nvPicPr>
          <p:cNvPr id="20" name="Picture 19" descr="image.png"/>
          <p:cNvPicPr>
            <a:picLocks noChangeAspect="1"/>
          </p:cNvPicPr>
          <p:nvPr/>
        </p:nvPicPr>
        <p:blipFill>
          <a:blip r:embed="rId10"/>
          <a:stretch>
            <a:fillRect/>
          </a:stretch>
        </p:blipFill>
        <p:spPr>
          <a:xfrm>
            <a:off x="771525" y="2895600"/>
            <a:ext cx="152400" cy="152400"/>
          </a:xfrm>
          <a:prstGeom prst="rect">
            <a:avLst/>
          </a:prstGeom>
        </p:spPr>
      </p:pic>
      <p:pic>
        <p:nvPicPr>
          <p:cNvPr id="21" name="Picture 20" descr="image.png"/>
          <p:cNvPicPr>
            <a:picLocks noChangeAspect="1"/>
          </p:cNvPicPr>
          <p:nvPr/>
        </p:nvPicPr>
        <p:blipFill>
          <a:blip r:embed="rId11"/>
          <a:stretch>
            <a:fillRect/>
          </a:stretch>
        </p:blipFill>
        <p:spPr>
          <a:xfrm>
            <a:off x="6467475" y="1752600"/>
            <a:ext cx="152400" cy="152400"/>
          </a:xfrm>
          <a:prstGeom prst="rect">
            <a:avLst/>
          </a:prstGeom>
        </p:spPr>
      </p:pic>
      <p:pic>
        <p:nvPicPr>
          <p:cNvPr id="22" name="Picture 21" descr="image.png"/>
          <p:cNvPicPr>
            <a:picLocks noChangeAspect="1"/>
          </p:cNvPicPr>
          <p:nvPr/>
        </p:nvPicPr>
        <p:blipFill>
          <a:blip r:embed="rId12"/>
          <a:stretch>
            <a:fillRect/>
          </a:stretch>
        </p:blipFill>
        <p:spPr>
          <a:xfrm>
            <a:off x="6467475" y="2324100"/>
            <a:ext cx="152400" cy="152400"/>
          </a:xfrm>
          <a:prstGeom prst="rect">
            <a:avLst/>
          </a:prstGeom>
        </p:spPr>
      </p:pic>
      <p:pic>
        <p:nvPicPr>
          <p:cNvPr id="23" name="Picture 22" descr="image.png"/>
          <p:cNvPicPr>
            <a:picLocks noChangeAspect="1"/>
          </p:cNvPicPr>
          <p:nvPr/>
        </p:nvPicPr>
        <p:blipFill>
          <a:blip r:embed="rId13"/>
          <a:stretch>
            <a:fillRect/>
          </a:stretch>
        </p:blipFill>
        <p:spPr>
          <a:xfrm>
            <a:off x="6467475" y="2895600"/>
            <a:ext cx="190500" cy="152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3581400" cy="1619250"/>
          </a:xfrm>
          <a:prstGeom prst="rect">
            <a:avLst/>
          </a:prstGeom>
        </p:spPr>
      </p:pic>
      <p:pic>
        <p:nvPicPr>
          <p:cNvPr id="4" name="Picture 3" descr="image.png"/>
          <p:cNvPicPr>
            <a:picLocks noChangeAspect="1"/>
          </p:cNvPicPr>
          <p:nvPr/>
        </p:nvPicPr>
        <p:blipFill>
          <a:blip r:embed="rId4"/>
          <a:stretch>
            <a:fillRect/>
          </a:stretch>
        </p:blipFill>
        <p:spPr>
          <a:xfrm>
            <a:off x="4305300" y="1133475"/>
            <a:ext cx="3581400" cy="1619250"/>
          </a:xfrm>
          <a:prstGeom prst="rect">
            <a:avLst/>
          </a:prstGeom>
        </p:spPr>
      </p:pic>
      <p:pic>
        <p:nvPicPr>
          <p:cNvPr id="5" name="Picture 4" descr="image.png"/>
          <p:cNvPicPr>
            <a:picLocks noChangeAspect="1"/>
          </p:cNvPicPr>
          <p:nvPr/>
        </p:nvPicPr>
        <p:blipFill>
          <a:blip r:embed="rId5"/>
          <a:stretch>
            <a:fillRect/>
          </a:stretch>
        </p:blipFill>
        <p:spPr>
          <a:xfrm>
            <a:off x="8077200" y="1133475"/>
            <a:ext cx="3581400" cy="1619250"/>
          </a:xfrm>
          <a:prstGeom prst="rect">
            <a:avLst/>
          </a:prstGeom>
        </p:spPr>
      </p:pic>
      <p:pic>
        <p:nvPicPr>
          <p:cNvPr id="6" name="Picture 5" descr="image.png"/>
          <p:cNvPicPr>
            <a:picLocks noChangeAspect="1"/>
          </p:cNvPicPr>
          <p:nvPr/>
        </p:nvPicPr>
        <p:blipFill>
          <a:blip r:embed="rId4"/>
          <a:stretch>
            <a:fillRect/>
          </a:stretch>
        </p:blipFill>
        <p:spPr>
          <a:xfrm>
            <a:off x="533400" y="2943225"/>
            <a:ext cx="3581400" cy="1619250"/>
          </a:xfrm>
          <a:prstGeom prst="rect">
            <a:avLst/>
          </a:prstGeom>
        </p:spPr>
      </p:pic>
      <p:pic>
        <p:nvPicPr>
          <p:cNvPr id="7" name="Picture 6" descr="image.png"/>
          <p:cNvPicPr>
            <a:picLocks noChangeAspect="1"/>
          </p:cNvPicPr>
          <p:nvPr/>
        </p:nvPicPr>
        <p:blipFill>
          <a:blip r:embed="rId4"/>
          <a:stretch>
            <a:fillRect/>
          </a:stretch>
        </p:blipFill>
        <p:spPr>
          <a:xfrm>
            <a:off x="4305300" y="2943225"/>
            <a:ext cx="3581400" cy="1619250"/>
          </a:xfrm>
          <a:prstGeom prst="rect">
            <a:avLst/>
          </a:prstGeom>
        </p:spPr>
      </p:pic>
      <p:pic>
        <p:nvPicPr>
          <p:cNvPr id="8" name="Picture 7" descr="image.png"/>
          <p:cNvPicPr>
            <a:picLocks noChangeAspect="1"/>
          </p:cNvPicPr>
          <p:nvPr/>
        </p:nvPicPr>
        <p:blipFill>
          <a:blip r:embed="rId4"/>
          <a:stretch>
            <a:fillRect/>
          </a:stretch>
        </p:blipFill>
        <p:spPr>
          <a:xfrm>
            <a:off x="8077200" y="2943225"/>
            <a:ext cx="3581400" cy="1619250"/>
          </a:xfrm>
          <a:prstGeom prst="rect">
            <a:avLst/>
          </a:prstGeom>
        </p:spPr>
      </p:pic>
      <p:sp>
        <p:nvSpPr>
          <p:cNvPr id="9" name="TextBox 8"/>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Mục tiêu Dự án VIQA Nexus</a:t>
            </a:r>
          </a:p>
        </p:txBody>
      </p:sp>
      <p:pic>
        <p:nvPicPr>
          <p:cNvPr id="10" name="Picture 9" descr="image.png"/>
          <p:cNvPicPr>
            <a:picLocks noChangeAspect="1"/>
          </p:cNvPicPr>
          <p:nvPr/>
        </p:nvPicPr>
        <p:blipFill>
          <a:blip r:embed="rId6"/>
          <a:stretch>
            <a:fillRect/>
          </a:stretch>
        </p:blipFill>
        <p:spPr>
          <a:xfrm>
            <a:off x="10353675" y="519112"/>
            <a:ext cx="1304925" cy="285750"/>
          </a:xfrm>
          <a:prstGeom prst="rect">
            <a:avLst/>
          </a:prstGeom>
        </p:spPr>
      </p:pic>
      <p:sp>
        <p:nvSpPr>
          <p:cNvPr id="11" name="TextBox 10"/>
          <p:cNvSpPr txBox="1"/>
          <p:nvPr/>
        </p:nvSpPr>
        <p:spPr>
          <a:xfrm>
            <a:off x="771525" y="1371600"/>
            <a:ext cx="3260407" cy="247650"/>
          </a:xfrm>
          <a:prstGeom prst="rect">
            <a:avLst/>
          </a:prstGeom>
          <a:noFill/>
        </p:spPr>
        <p:txBody>
          <a:bodyPr wrap="square" lIns="238125" rIns="0" tIns="0" bIns="0" anchor="t">
            <a:spAutoFit/>
          </a:bodyPr>
          <a:lstStyle/>
          <a:p>
            <a:pPr algn="l"/>
            <a:r>
              <a:rPr b="1" sz="1500" i="0" u="none">
                <a:solidFill>
                  <a:srgbClr val="1E293B"/>
                </a:solidFill>
                <a:latin typeface="Space Grotesk"/>
              </a:rPr>
              <a:t>Modular Pipeline</a:t>
            </a:r>
          </a:p>
        </p:txBody>
      </p:sp>
      <p:sp>
        <p:nvSpPr>
          <p:cNvPr id="12" name="TextBox 11"/>
          <p:cNvSpPr txBox="1"/>
          <p:nvPr/>
        </p:nvSpPr>
        <p:spPr>
          <a:xfrm>
            <a:off x="771525" y="171450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Xây dựng hệ thống QA tiếng Việt cho phép linh hoạt thay đổi Retriever và Reader/LLM qua cấu hình JSON.</a:t>
            </a:r>
          </a:p>
        </p:txBody>
      </p:sp>
      <p:sp>
        <p:nvSpPr>
          <p:cNvPr id="13" name="TextBox 12"/>
          <p:cNvSpPr txBox="1"/>
          <p:nvPr/>
        </p:nvSpPr>
        <p:spPr>
          <a:xfrm>
            <a:off x="4543425" y="1371600"/>
            <a:ext cx="3260407" cy="247650"/>
          </a:xfrm>
          <a:prstGeom prst="rect">
            <a:avLst/>
          </a:prstGeom>
          <a:noFill/>
        </p:spPr>
        <p:txBody>
          <a:bodyPr wrap="square" lIns="190500" rIns="0" tIns="0" bIns="0" anchor="t">
            <a:spAutoFit/>
          </a:bodyPr>
          <a:lstStyle/>
          <a:p>
            <a:pPr algn="l"/>
            <a:r>
              <a:rPr b="1" sz="1500" i="0" u="none">
                <a:solidFill>
                  <a:srgbClr val="1E293B"/>
                </a:solidFill>
                <a:latin typeface="Space Grotesk"/>
              </a:rPr>
              <a:t>Source Traceability</a:t>
            </a:r>
          </a:p>
        </p:txBody>
      </p:sp>
      <p:sp>
        <p:nvSpPr>
          <p:cNvPr id="14" name="TextBox 13"/>
          <p:cNvSpPr txBox="1"/>
          <p:nvPr/>
        </p:nvSpPr>
        <p:spPr>
          <a:xfrm>
            <a:off x="4543425" y="171450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Bảo toàn truy vết chính xác từ Answer → Document Title → Passage → Character Offset trong văn bản gốc.</a:t>
            </a:r>
          </a:p>
        </p:txBody>
      </p:sp>
      <p:sp>
        <p:nvSpPr>
          <p:cNvPr id="15" name="TextBox 14"/>
          <p:cNvSpPr txBox="1"/>
          <p:nvPr/>
        </p:nvSpPr>
        <p:spPr>
          <a:xfrm>
            <a:off x="8315325" y="1371600"/>
            <a:ext cx="3260407" cy="247650"/>
          </a:xfrm>
          <a:prstGeom prst="rect">
            <a:avLst/>
          </a:prstGeom>
          <a:noFill/>
        </p:spPr>
        <p:txBody>
          <a:bodyPr wrap="square" lIns="190500" rIns="0" tIns="0" bIns="0" anchor="t">
            <a:spAutoFit/>
          </a:bodyPr>
          <a:lstStyle/>
          <a:p>
            <a:pPr algn="l"/>
            <a:r>
              <a:rPr b="1" sz="1500" i="0" u="none">
                <a:solidFill>
                  <a:srgbClr val="1E293B"/>
                </a:solidFill>
                <a:latin typeface="Space Grotesk"/>
              </a:rPr>
              <a:t>Semantic Validation</a:t>
            </a:r>
          </a:p>
        </p:txBody>
      </p:sp>
      <p:sp>
        <p:nvSpPr>
          <p:cNvPr id="16" name="TextBox 15"/>
          <p:cNvSpPr txBox="1"/>
          <p:nvPr/>
        </p:nvSpPr>
        <p:spPr>
          <a:xfrm>
            <a:off x="8315325" y="171450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Kiểm soát câu trả lời bằng các Semantic Gates có thể kiểm toán (Subject, Relation, Completeness, Evidence).</a:t>
            </a:r>
          </a:p>
        </p:txBody>
      </p:sp>
      <p:sp>
        <p:nvSpPr>
          <p:cNvPr id="17" name="TextBox 16"/>
          <p:cNvSpPr txBox="1"/>
          <p:nvPr/>
        </p:nvSpPr>
        <p:spPr>
          <a:xfrm>
            <a:off x="771525" y="3181350"/>
            <a:ext cx="3260407" cy="247650"/>
          </a:xfrm>
          <a:prstGeom prst="rect">
            <a:avLst/>
          </a:prstGeom>
          <a:noFill/>
        </p:spPr>
        <p:txBody>
          <a:bodyPr wrap="square" lIns="238125" rIns="0" tIns="0" bIns="0" anchor="t">
            <a:spAutoFit/>
          </a:bodyPr>
          <a:lstStyle/>
          <a:p>
            <a:pPr algn="l"/>
            <a:r>
              <a:rPr b="1" sz="1500" i="0" u="none">
                <a:solidFill>
                  <a:srgbClr val="1E293B"/>
                </a:solidFill>
                <a:latin typeface="Space Grotesk"/>
              </a:rPr>
              <a:t>Socratic Tutor</a:t>
            </a:r>
          </a:p>
        </p:txBody>
      </p:sp>
      <p:sp>
        <p:nvSpPr>
          <p:cNvPr id="18" name="TextBox 17"/>
          <p:cNvSpPr txBox="1"/>
          <p:nvPr/>
        </p:nvSpPr>
        <p:spPr>
          <a:xfrm>
            <a:off x="771525" y="352425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Gợi mở học tập bằng câu hỏi nối tiếp có nguồn (grounded one-hop), hoàn toàn không dùng LLM sinh ngoài.</a:t>
            </a:r>
          </a:p>
        </p:txBody>
      </p:sp>
      <p:sp>
        <p:nvSpPr>
          <p:cNvPr id="19" name="TextBox 18"/>
          <p:cNvSpPr txBox="1"/>
          <p:nvPr/>
        </p:nvSpPr>
        <p:spPr>
          <a:xfrm>
            <a:off x="4543425" y="3181350"/>
            <a:ext cx="3260407" cy="247650"/>
          </a:xfrm>
          <a:prstGeom prst="rect">
            <a:avLst/>
          </a:prstGeom>
          <a:noFill/>
        </p:spPr>
        <p:txBody>
          <a:bodyPr wrap="square" lIns="238125" rIns="0" tIns="0" bIns="0" anchor="t">
            <a:spAutoFit/>
          </a:bodyPr>
          <a:lstStyle/>
          <a:p>
            <a:pPr algn="l"/>
            <a:r>
              <a:rPr b="1" sz="1500" i="0" u="none">
                <a:solidFill>
                  <a:srgbClr val="1E293B"/>
                </a:solidFill>
                <a:latin typeface="Space Grotesk"/>
              </a:rPr>
              <a:t>Feedback Loop</a:t>
            </a:r>
          </a:p>
        </p:txBody>
      </p:sp>
      <p:sp>
        <p:nvSpPr>
          <p:cNvPr id="20" name="TextBox 19"/>
          <p:cNvSpPr txBox="1"/>
          <p:nvPr/>
        </p:nvSpPr>
        <p:spPr>
          <a:xfrm>
            <a:off x="4543425" y="352425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Thu thập phản hồi theo quy trình Human-in-the-Loop, tuyệt đối không tự học runtime để tránh ô nhiễm dữ liệu.</a:t>
            </a:r>
          </a:p>
        </p:txBody>
      </p:sp>
      <p:sp>
        <p:nvSpPr>
          <p:cNvPr id="21" name="TextBox 20"/>
          <p:cNvSpPr txBox="1"/>
          <p:nvPr/>
        </p:nvSpPr>
        <p:spPr>
          <a:xfrm>
            <a:off x="8315325" y="3181350"/>
            <a:ext cx="3260407" cy="247650"/>
          </a:xfrm>
          <a:prstGeom prst="rect">
            <a:avLst/>
          </a:prstGeom>
          <a:noFill/>
        </p:spPr>
        <p:txBody>
          <a:bodyPr wrap="square" lIns="238125" rIns="0" tIns="0" bIns="0" anchor="t">
            <a:spAutoFit/>
          </a:bodyPr>
          <a:lstStyle/>
          <a:p>
            <a:pPr algn="l"/>
            <a:r>
              <a:rPr b="1" sz="1500" i="0" u="none">
                <a:solidFill>
                  <a:srgbClr val="1E293B"/>
                </a:solidFill>
                <a:latin typeface="Space Grotesk"/>
              </a:rPr>
              <a:t>Modern UI / 3D Avatar</a:t>
            </a:r>
          </a:p>
        </p:txBody>
      </p:sp>
      <p:sp>
        <p:nvSpPr>
          <p:cNvPr id="22" name="TextBox 21"/>
          <p:cNvSpPr txBox="1"/>
          <p:nvPr/>
        </p:nvSpPr>
        <p:spPr>
          <a:xfrm>
            <a:off x="8315325" y="3524250"/>
            <a:ext cx="3105150" cy="6858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Giao diện Chat responsive với avatar 3D Mari, giọng nói đa phương thức và trang quản trị Evaluation/Blind Spots.</a:t>
            </a:r>
          </a:p>
        </p:txBody>
      </p:sp>
      <p:pic>
        <p:nvPicPr>
          <p:cNvPr id="23" name="Picture 22" descr="image.png"/>
          <p:cNvPicPr>
            <a:picLocks noChangeAspect="1"/>
          </p:cNvPicPr>
          <p:nvPr/>
        </p:nvPicPr>
        <p:blipFill>
          <a:blip r:embed="rId7"/>
          <a:stretch>
            <a:fillRect/>
          </a:stretch>
        </p:blipFill>
        <p:spPr>
          <a:xfrm>
            <a:off x="771525" y="1400175"/>
            <a:ext cx="238125" cy="190500"/>
          </a:xfrm>
          <a:prstGeom prst="rect">
            <a:avLst/>
          </a:prstGeom>
        </p:spPr>
      </p:pic>
      <p:pic>
        <p:nvPicPr>
          <p:cNvPr id="24" name="Picture 23" descr="image.png"/>
          <p:cNvPicPr>
            <a:picLocks noChangeAspect="1"/>
          </p:cNvPicPr>
          <p:nvPr/>
        </p:nvPicPr>
        <p:blipFill>
          <a:blip r:embed="rId8"/>
          <a:stretch>
            <a:fillRect/>
          </a:stretch>
        </p:blipFill>
        <p:spPr>
          <a:xfrm>
            <a:off x="4543425" y="1400175"/>
            <a:ext cx="190500" cy="190500"/>
          </a:xfrm>
          <a:prstGeom prst="rect">
            <a:avLst/>
          </a:prstGeom>
        </p:spPr>
      </p:pic>
      <p:pic>
        <p:nvPicPr>
          <p:cNvPr id="25" name="Picture 24" descr="image.png"/>
          <p:cNvPicPr>
            <a:picLocks noChangeAspect="1"/>
          </p:cNvPicPr>
          <p:nvPr/>
        </p:nvPicPr>
        <p:blipFill>
          <a:blip r:embed="rId9"/>
          <a:stretch>
            <a:fillRect/>
          </a:stretch>
        </p:blipFill>
        <p:spPr>
          <a:xfrm>
            <a:off x="8315325" y="1400175"/>
            <a:ext cx="190500" cy="190500"/>
          </a:xfrm>
          <a:prstGeom prst="rect">
            <a:avLst/>
          </a:prstGeom>
        </p:spPr>
      </p:pic>
      <p:pic>
        <p:nvPicPr>
          <p:cNvPr id="26" name="Picture 25" descr="image.png"/>
          <p:cNvPicPr>
            <a:picLocks noChangeAspect="1"/>
          </p:cNvPicPr>
          <p:nvPr/>
        </p:nvPicPr>
        <p:blipFill>
          <a:blip r:embed="rId10"/>
          <a:stretch>
            <a:fillRect/>
          </a:stretch>
        </p:blipFill>
        <p:spPr>
          <a:xfrm>
            <a:off x="771525" y="3209925"/>
            <a:ext cx="238125" cy="190500"/>
          </a:xfrm>
          <a:prstGeom prst="rect">
            <a:avLst/>
          </a:prstGeom>
        </p:spPr>
      </p:pic>
      <p:pic>
        <p:nvPicPr>
          <p:cNvPr id="27" name="Picture 26" descr="image.png"/>
          <p:cNvPicPr>
            <a:picLocks noChangeAspect="1"/>
          </p:cNvPicPr>
          <p:nvPr/>
        </p:nvPicPr>
        <p:blipFill>
          <a:blip r:embed="rId11"/>
          <a:stretch>
            <a:fillRect/>
          </a:stretch>
        </p:blipFill>
        <p:spPr>
          <a:xfrm>
            <a:off x="4543425" y="3209925"/>
            <a:ext cx="238125" cy="190500"/>
          </a:xfrm>
          <a:prstGeom prst="rect">
            <a:avLst/>
          </a:prstGeom>
        </p:spPr>
      </p:pic>
      <p:pic>
        <p:nvPicPr>
          <p:cNvPr id="28" name="Picture 27" descr="image.png"/>
          <p:cNvPicPr>
            <a:picLocks noChangeAspect="1"/>
          </p:cNvPicPr>
          <p:nvPr/>
        </p:nvPicPr>
        <p:blipFill>
          <a:blip r:embed="rId12"/>
          <a:stretch>
            <a:fillRect/>
          </a:stretch>
        </p:blipFill>
        <p:spPr>
          <a:xfrm>
            <a:off x="8315325" y="3209925"/>
            <a:ext cx="238125" cy="190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819525"/>
            <a:ext cx="11125200" cy="876300"/>
          </a:xfrm>
          <a:prstGeom prst="rect">
            <a:avLst/>
          </a:prstGeom>
        </p:spPr>
      </p:pic>
      <p:pic>
        <p:nvPicPr>
          <p:cNvPr id="4" name="Picture 3" descr="image.png"/>
          <p:cNvPicPr>
            <a:picLocks noChangeAspect="1"/>
          </p:cNvPicPr>
          <p:nvPr/>
        </p:nvPicPr>
        <p:blipFill>
          <a:blip r:embed="rId4"/>
          <a:stretch>
            <a:fillRect/>
          </a:stretch>
        </p:blipFill>
        <p:spPr>
          <a:xfrm>
            <a:off x="533400" y="1133475"/>
            <a:ext cx="3581400" cy="1133475"/>
          </a:xfrm>
          <a:prstGeom prst="rect">
            <a:avLst/>
          </a:prstGeom>
        </p:spPr>
      </p:pic>
      <p:pic>
        <p:nvPicPr>
          <p:cNvPr id="5" name="Picture 4" descr="image.png"/>
          <p:cNvPicPr>
            <a:picLocks noChangeAspect="1"/>
          </p:cNvPicPr>
          <p:nvPr/>
        </p:nvPicPr>
        <p:blipFill>
          <a:blip r:embed="rId5"/>
          <a:stretch>
            <a:fillRect/>
          </a:stretch>
        </p:blipFill>
        <p:spPr>
          <a:xfrm>
            <a:off x="4305300" y="1133475"/>
            <a:ext cx="3581400" cy="1133475"/>
          </a:xfrm>
          <a:prstGeom prst="rect">
            <a:avLst/>
          </a:prstGeom>
        </p:spPr>
      </p:pic>
      <p:pic>
        <p:nvPicPr>
          <p:cNvPr id="6" name="Picture 5" descr="image.png"/>
          <p:cNvPicPr>
            <a:picLocks noChangeAspect="1"/>
          </p:cNvPicPr>
          <p:nvPr/>
        </p:nvPicPr>
        <p:blipFill>
          <a:blip r:embed="rId6"/>
          <a:stretch>
            <a:fillRect/>
          </a:stretch>
        </p:blipFill>
        <p:spPr>
          <a:xfrm>
            <a:off x="8077200" y="1133475"/>
            <a:ext cx="3581400" cy="1133475"/>
          </a:xfrm>
          <a:prstGeom prst="rect">
            <a:avLst/>
          </a:prstGeom>
        </p:spPr>
      </p:pic>
      <p:pic>
        <p:nvPicPr>
          <p:cNvPr id="7" name="Picture 6" descr="image.png"/>
          <p:cNvPicPr>
            <a:picLocks noChangeAspect="1"/>
          </p:cNvPicPr>
          <p:nvPr/>
        </p:nvPicPr>
        <p:blipFill>
          <a:blip r:embed="rId7"/>
          <a:stretch>
            <a:fillRect/>
          </a:stretch>
        </p:blipFill>
        <p:spPr>
          <a:xfrm>
            <a:off x="533400" y="2457450"/>
            <a:ext cx="3581400" cy="1133475"/>
          </a:xfrm>
          <a:prstGeom prst="rect">
            <a:avLst/>
          </a:prstGeom>
        </p:spPr>
      </p:pic>
      <p:pic>
        <p:nvPicPr>
          <p:cNvPr id="8" name="Picture 7" descr="image.png"/>
          <p:cNvPicPr>
            <a:picLocks noChangeAspect="1"/>
          </p:cNvPicPr>
          <p:nvPr/>
        </p:nvPicPr>
        <p:blipFill>
          <a:blip r:embed="rId8"/>
          <a:stretch>
            <a:fillRect/>
          </a:stretch>
        </p:blipFill>
        <p:spPr>
          <a:xfrm>
            <a:off x="4305300" y="2457450"/>
            <a:ext cx="3581400" cy="1133475"/>
          </a:xfrm>
          <a:prstGeom prst="rect">
            <a:avLst/>
          </a:prstGeom>
        </p:spPr>
      </p:pic>
      <p:pic>
        <p:nvPicPr>
          <p:cNvPr id="9" name="Picture 8" descr="image.png"/>
          <p:cNvPicPr>
            <a:picLocks noChangeAspect="1"/>
          </p:cNvPicPr>
          <p:nvPr/>
        </p:nvPicPr>
        <p:blipFill>
          <a:blip r:embed="rId9"/>
          <a:stretch>
            <a:fillRect/>
          </a:stretch>
        </p:blipFill>
        <p:spPr>
          <a:xfrm>
            <a:off x="8077200" y="2457450"/>
            <a:ext cx="3581400" cy="1133475"/>
          </a:xfrm>
          <a:prstGeom prst="rect">
            <a:avLst/>
          </a:prstGeom>
        </p:spPr>
      </p:pic>
      <p:sp>
        <p:nvSpPr>
          <p:cNvPr id="10" name="TextBox 9"/>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Tổng quan Dự án qua Con số</a:t>
            </a:r>
          </a:p>
        </p:txBody>
      </p:sp>
      <p:pic>
        <p:nvPicPr>
          <p:cNvPr id="11" name="Picture 10" descr="image.png"/>
          <p:cNvPicPr>
            <a:picLocks noChangeAspect="1"/>
          </p:cNvPicPr>
          <p:nvPr/>
        </p:nvPicPr>
        <p:blipFill>
          <a:blip r:embed="rId10"/>
          <a:stretch>
            <a:fillRect/>
          </a:stretch>
        </p:blipFill>
        <p:spPr>
          <a:xfrm>
            <a:off x="10339387" y="519112"/>
            <a:ext cx="1319212" cy="285750"/>
          </a:xfrm>
          <a:prstGeom prst="rect">
            <a:avLst/>
          </a:prstGeom>
        </p:spPr>
      </p:pic>
      <p:sp>
        <p:nvSpPr>
          <p:cNvPr id="12" name="TextBox 11"/>
          <p:cNvSpPr txBox="1"/>
          <p:nvPr/>
        </p:nvSpPr>
        <p:spPr>
          <a:xfrm>
            <a:off x="771525" y="4057650"/>
            <a:ext cx="10648950" cy="400050"/>
          </a:xfrm>
          <a:prstGeom prst="rect">
            <a:avLst/>
          </a:prstGeom>
          <a:noFill/>
        </p:spPr>
        <p:txBody>
          <a:bodyPr wrap="square" lIns="209550" rIns="0" tIns="0" bIns="0" anchor="t">
            <a:spAutoFit/>
          </a:bodyPr>
          <a:lstStyle/>
          <a:p>
            <a:pPr algn="l">
              <a:lnSpc>
                <a:spcPts val="1575"/>
              </a:lnSpc>
            </a:pPr>
            <a:r>
              <a:rPr b="1" sz="1050" i="0" u="none">
                <a:solidFill>
                  <a:srgbClr val="92400E"/>
                </a:solidFill>
                <a:latin typeface="Plus Jakarta Sans"/>
              </a:rPr>
              <a:t>Lưu ý quan trọng từ Báo cáo:</a:t>
            </a:r>
            <a:r>
              <a:rPr b="0" sz="1050" i="0" u="none">
                <a:solidFill>
                  <a:srgbClr val="92400E"/>
                </a:solidFill>
                <a:latin typeface="Plus Jakarta Sans"/>
              </a:rPr>
              <a:t> Tập Test (7,301 câu) không có Gold Answer công bố cho Reader, nhưng mỗi câu đều gắn Context. Kết quả Test dùng để Benchmark Retriever cấp độ Document, không phải chất lượng End-to-End.</a:t>
            </a:r>
          </a:p>
        </p:txBody>
      </p:sp>
      <p:sp>
        <p:nvSpPr>
          <p:cNvPr id="13" name="TextBox 12"/>
          <p:cNvSpPr txBox="1"/>
          <p:nvPr/>
        </p:nvSpPr>
        <p:spPr>
          <a:xfrm>
            <a:off x="1652587" y="1371600"/>
            <a:ext cx="1343025"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28,454</a:t>
            </a:r>
          </a:p>
        </p:txBody>
      </p:sp>
      <p:sp>
        <p:nvSpPr>
          <p:cNvPr id="14" name="TextBox 13"/>
          <p:cNvSpPr txBox="1"/>
          <p:nvPr/>
        </p:nvSpPr>
        <p:spPr>
          <a:xfrm>
            <a:off x="1738312" y="1847850"/>
            <a:ext cx="1171575"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Câu hỏi Tập Train</a:t>
            </a:r>
          </a:p>
        </p:txBody>
      </p:sp>
      <p:sp>
        <p:nvSpPr>
          <p:cNvPr id="15" name="TextBox 14"/>
          <p:cNvSpPr txBox="1"/>
          <p:nvPr/>
        </p:nvSpPr>
        <p:spPr>
          <a:xfrm>
            <a:off x="5576887" y="1371600"/>
            <a:ext cx="1038225"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3,814</a:t>
            </a:r>
          </a:p>
        </p:txBody>
      </p:sp>
      <p:sp>
        <p:nvSpPr>
          <p:cNvPr id="16" name="TextBox 15"/>
          <p:cNvSpPr txBox="1"/>
          <p:nvPr/>
        </p:nvSpPr>
        <p:spPr>
          <a:xfrm>
            <a:off x="5319712" y="1847850"/>
            <a:ext cx="1552575"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Câu hỏi Tập Validation</a:t>
            </a:r>
          </a:p>
        </p:txBody>
      </p:sp>
      <p:sp>
        <p:nvSpPr>
          <p:cNvPr id="17" name="TextBox 16"/>
          <p:cNvSpPr txBox="1"/>
          <p:nvPr/>
        </p:nvSpPr>
        <p:spPr>
          <a:xfrm>
            <a:off x="9372600" y="1371600"/>
            <a:ext cx="990600"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7,301</a:t>
            </a:r>
          </a:p>
        </p:txBody>
      </p:sp>
      <p:sp>
        <p:nvSpPr>
          <p:cNvPr id="18" name="TextBox 17"/>
          <p:cNvSpPr txBox="1"/>
          <p:nvPr/>
        </p:nvSpPr>
        <p:spPr>
          <a:xfrm>
            <a:off x="9301162" y="1847850"/>
            <a:ext cx="1133475"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Câu hỏi Tập Test</a:t>
            </a:r>
          </a:p>
        </p:txBody>
      </p:sp>
      <p:sp>
        <p:nvSpPr>
          <p:cNvPr id="19" name="TextBox 18"/>
          <p:cNvSpPr txBox="1"/>
          <p:nvPr/>
        </p:nvSpPr>
        <p:spPr>
          <a:xfrm>
            <a:off x="1828800" y="2695575"/>
            <a:ext cx="990600"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5,317</a:t>
            </a:r>
          </a:p>
        </p:txBody>
      </p:sp>
      <p:sp>
        <p:nvSpPr>
          <p:cNvPr id="20" name="TextBox 19"/>
          <p:cNvSpPr txBox="1"/>
          <p:nvPr/>
        </p:nvSpPr>
        <p:spPr>
          <a:xfrm>
            <a:off x="1638300" y="3171825"/>
            <a:ext cx="1371600"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Tài liệu Kho (SQLite)</a:t>
            </a:r>
          </a:p>
        </p:txBody>
      </p:sp>
      <p:sp>
        <p:nvSpPr>
          <p:cNvPr id="21" name="TextBox 20"/>
          <p:cNvSpPr txBox="1"/>
          <p:nvPr/>
        </p:nvSpPr>
        <p:spPr>
          <a:xfrm>
            <a:off x="5538787" y="2695575"/>
            <a:ext cx="1114425"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6,544</a:t>
            </a:r>
          </a:p>
        </p:txBody>
      </p:sp>
      <p:sp>
        <p:nvSpPr>
          <p:cNvPr id="22" name="TextBox 21"/>
          <p:cNvSpPr txBox="1"/>
          <p:nvPr/>
        </p:nvSpPr>
        <p:spPr>
          <a:xfrm>
            <a:off x="5376862" y="3171825"/>
            <a:ext cx="1438275"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Đoạn văn (Passages)</a:t>
            </a:r>
          </a:p>
        </p:txBody>
      </p:sp>
      <p:sp>
        <p:nvSpPr>
          <p:cNvPr id="23" name="TextBox 22"/>
          <p:cNvSpPr txBox="1"/>
          <p:nvPr/>
        </p:nvSpPr>
        <p:spPr>
          <a:xfrm>
            <a:off x="9739312" y="2695575"/>
            <a:ext cx="257175" cy="400050"/>
          </a:xfrm>
          <a:prstGeom prst="rect">
            <a:avLst/>
          </a:prstGeom>
          <a:noFill/>
        </p:spPr>
        <p:txBody>
          <a:bodyPr wrap="square" lIns="0" rIns="0" tIns="0" bIns="0" anchor="t">
            <a:spAutoFit/>
          </a:bodyPr>
          <a:lstStyle/>
          <a:p>
            <a:pPr algn="ctr">
              <a:lnSpc>
                <a:spcPts val="3150"/>
              </a:lnSpc>
            </a:pPr>
            <a:r>
              <a:rPr b="1" sz="3150" i="0" u="none">
                <a:solidFill>
                  <a:srgbClr val="2563EB"/>
                </a:solidFill>
                <a:latin typeface="Space Grotesk"/>
              </a:rPr>
              <a:t>4</a:t>
            </a:r>
          </a:p>
        </p:txBody>
      </p:sp>
      <p:sp>
        <p:nvSpPr>
          <p:cNvPr id="24" name="TextBox 23"/>
          <p:cNvSpPr txBox="1"/>
          <p:nvPr/>
        </p:nvSpPr>
        <p:spPr>
          <a:xfrm>
            <a:off x="9072562" y="3171825"/>
            <a:ext cx="1590675" cy="180975"/>
          </a:xfrm>
          <a:prstGeom prst="rect">
            <a:avLst/>
          </a:prstGeom>
          <a:noFill/>
        </p:spPr>
        <p:txBody>
          <a:bodyPr wrap="square" lIns="0" rIns="0" tIns="0" bIns="0" anchor="t">
            <a:spAutoFit/>
          </a:bodyPr>
          <a:lstStyle/>
          <a:p>
            <a:pPr algn="ctr"/>
            <a:r>
              <a:rPr b="0" sz="1125" i="0" u="none">
                <a:solidFill>
                  <a:srgbClr val="475569"/>
                </a:solidFill>
                <a:latin typeface="Plus Jakarta Sans SemiBold"/>
              </a:rPr>
              <a:t>Phương pháp Retriever</a:t>
            </a:r>
          </a:p>
        </p:txBody>
      </p:sp>
      <p:pic>
        <p:nvPicPr>
          <p:cNvPr id="25" name="Picture 24" descr="image.png"/>
          <p:cNvPicPr>
            <a:picLocks noChangeAspect="1"/>
          </p:cNvPicPr>
          <p:nvPr/>
        </p:nvPicPr>
        <p:blipFill>
          <a:blip r:embed="rId11"/>
          <a:stretch>
            <a:fillRect/>
          </a:stretch>
        </p:blipFill>
        <p:spPr>
          <a:xfrm>
            <a:off x="771525" y="4095750"/>
            <a:ext cx="133350" cy="1333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505200"/>
            <a:ext cx="5429250" cy="1228725"/>
          </a:xfrm>
          <a:prstGeom prst="rect">
            <a:avLst/>
          </a:prstGeom>
        </p:spPr>
      </p:pic>
      <p:pic>
        <p:nvPicPr>
          <p:cNvPr id="4" name="Picture 3" descr="image.png"/>
          <p:cNvPicPr>
            <a:picLocks noChangeAspect="1"/>
          </p:cNvPicPr>
          <p:nvPr/>
        </p:nvPicPr>
        <p:blipFill>
          <a:blip r:embed="rId3"/>
          <a:stretch>
            <a:fillRect/>
          </a:stretch>
        </p:blipFill>
        <p:spPr>
          <a:xfrm>
            <a:off x="6229350" y="3505200"/>
            <a:ext cx="5429250" cy="1228725"/>
          </a:xfrm>
          <a:prstGeom prst="rect">
            <a:avLst/>
          </a:prstGeom>
        </p:spPr>
      </p:pic>
      <p:sp>
        <p:nvSpPr>
          <p:cNvPr id="5" name="TextBox 4"/>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Tập dữ liệu UIT-ViQuAD 2.0 &amp; Corpus</a:t>
            </a:r>
          </a:p>
        </p:txBody>
      </p:sp>
      <p:pic>
        <p:nvPicPr>
          <p:cNvPr id="6" name="Picture 5" descr="image.png"/>
          <p:cNvPicPr>
            <a:picLocks noChangeAspect="1"/>
          </p:cNvPicPr>
          <p:nvPr/>
        </p:nvPicPr>
        <p:blipFill>
          <a:blip r:embed="rId4"/>
          <a:stretch>
            <a:fillRect/>
          </a:stretch>
        </p:blipFill>
        <p:spPr>
          <a:xfrm>
            <a:off x="10901362" y="519112"/>
            <a:ext cx="757237" cy="285750"/>
          </a:xfrm>
          <a:prstGeom prst="rect">
            <a:avLst/>
          </a:prstGeom>
        </p:spPr>
      </p:pic>
      <p:sp>
        <p:nvSpPr>
          <p:cNvPr id="7" name="TextBox 6"/>
          <p:cNvSpPr txBox="1"/>
          <p:nvPr/>
        </p:nvSpPr>
        <p:spPr>
          <a:xfrm>
            <a:off x="533400" y="1133475"/>
            <a:ext cx="924877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Hệ thống sử dụng tập dữ liệu chuẩn mực </a:t>
            </a:r>
            <a:r>
              <a:rPr b="1" sz="1200" i="0" u="none">
                <a:solidFill>
                  <a:srgbClr val="334155"/>
                </a:solidFill>
                <a:latin typeface="Plus Jakarta Sans"/>
              </a:rPr>
              <a:t>UIT-ViQuAD 2.0</a:t>
            </a:r>
            <a:r>
              <a:rPr b="0" sz="1200" i="0" u="none">
                <a:solidFill>
                  <a:srgbClr val="334155"/>
                </a:solidFill>
                <a:latin typeface="Plus Jakarta Sans"/>
              </a:rPr>
              <a:t> đã qua xử lý, được lưu trữ dưới dạng định dạng Parquet và CSDL SQLite.</a:t>
            </a:r>
          </a:p>
        </p:txBody>
      </p:sp>
      <p:graphicFrame>
        <p:nvGraphicFramePr>
          <p:cNvPr id="8" name="Table 7"/>
          <p:cNvGraphicFramePr>
            <a:graphicFrameLocks noGrp="1"/>
          </p:cNvGraphicFramePr>
          <p:nvPr/>
        </p:nvGraphicFramePr>
        <p:xfrm>
          <a:off x="533400" y="1590675"/>
          <a:ext cx="11125198" cy="16859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150268"/>
                <a:gridCol w="1956196"/>
                <a:gridCol w="2837259"/>
                <a:gridCol w="4181475"/>
              </a:tblGrid>
              <a:tr h="421481">
                <a:tc>
                  <a:txBody>
                    <a:bodyPr/>
                    <a:lstStyle/>
                    <a:p>
                      <a:pPr algn="l"/>
                      <a:r>
                        <a:rPr b="0" sz="1050" i="0" u="none">
                          <a:solidFill>
                            <a:srgbClr val="FFFFFF"/>
                          </a:solidFill>
                          <a:latin typeface="Plus Jakarta Sans SemiBold"/>
                        </a:rPr>
                        <a:t>Tập Dữ liệu (Split)</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Tổng số câu hỏi</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Có đáp án (Answerable)</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Không đáp án / Không công bố Gold</a:t>
                      </a:r>
                    </a:p>
                  </a:txBody>
                  <a:tcPr anchor="ctr" marL="63500" marR="63500" marT="25400" marB="25400">
                    <a:lnL>
                      <a:noFill/>
                    </a:lnL>
                    <a:lnR>
                      <a:noFill/>
                    </a:lnR>
                    <a:lnT>
                      <a:noFill/>
                    </a:lnT>
                    <a:lnB>
                      <a:noFill/>
                    </a:lnB>
                    <a:solidFill>
                      <a:srgbClr val="0F172A"/>
                    </a:solidFill>
                  </a:tcPr>
                </a:tc>
              </a:tr>
              <a:tr h="421481">
                <a:tc>
                  <a:txBody>
                    <a:bodyPr/>
                    <a:lstStyle/>
                    <a:p>
                      <a:pPr algn="l"/>
                      <a:r>
                        <a:rPr b="1" sz="1050" i="0" u="none">
                          <a:solidFill>
                            <a:srgbClr val="334155"/>
                          </a:solidFill>
                          <a:latin typeface="Plus Jakarta Sans"/>
                        </a:rPr>
                        <a:t>Train</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28,454</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19,238</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9,216</a:t>
                      </a:r>
                    </a:p>
                  </a:txBody>
                  <a:tcPr anchor="ctr" marL="63500" marR="63500" marT="25400" marB="25400">
                    <a:lnL>
                      <a:noFill/>
                    </a:lnL>
                    <a:lnR>
                      <a:noFill/>
                    </a:lnR>
                    <a:lnT>
                      <a:noFill/>
                    </a:lnT>
                    <a:lnB>
                      <a:noFill/>
                    </a:lnB>
                    <a:noFill/>
                  </a:tcPr>
                </a:tc>
              </a:tr>
              <a:tr h="421481">
                <a:tc>
                  <a:txBody>
                    <a:bodyPr/>
                    <a:lstStyle/>
                    <a:p>
                      <a:pPr algn="l"/>
                      <a:r>
                        <a:rPr b="1" sz="1050" i="0" u="none">
                          <a:solidFill>
                            <a:srgbClr val="334155"/>
                          </a:solidFill>
                          <a:latin typeface="Plus Jakarta Sans"/>
                        </a:rPr>
                        <a:t>Validation</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3,814</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2,653</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1,161</a:t>
                      </a:r>
                    </a:p>
                  </a:txBody>
                  <a:tcPr anchor="ctr" marL="63500" marR="63500" marT="25400" marB="25400">
                    <a:lnL>
                      <a:noFill/>
                    </a:lnL>
                    <a:lnR>
                      <a:noFill/>
                    </a:lnR>
                    <a:lnT>
                      <a:noFill/>
                    </a:lnT>
                    <a:lnB>
                      <a:noFill/>
                    </a:lnB>
                    <a:solidFill>
                      <a:srgbClr val="EFF6FF"/>
                    </a:solidFill>
                  </a:tcPr>
                </a:tc>
              </a:tr>
              <a:tr h="421482">
                <a:tc>
                  <a:txBody>
                    <a:bodyPr/>
                    <a:lstStyle/>
                    <a:p>
                      <a:pPr algn="l"/>
                      <a:r>
                        <a:rPr b="1" sz="1050" i="0" u="none">
                          <a:solidFill>
                            <a:srgbClr val="334155"/>
                          </a:solidFill>
                          <a:latin typeface="Plus Jakarta Sans"/>
                        </a:rPr>
                        <a:t>Test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7,301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7,301 (dùng cho Benchmark Retriever)</a:t>
                      </a:r>
                    </a:p>
                  </a:txBody>
                  <a:tcPr anchor="ctr" marL="63500" marR="63500" marT="25400" marB="25400">
                    <a:lnL>
                      <a:noFill/>
                    </a:lnL>
                    <a:lnR>
                      <a:noFill/>
                    </a:lnR>
                    <a:lnT>
                      <a:noFill/>
                    </a:lnT>
                    <a:lnB>
                      <a:noFill/>
                    </a:lnB>
                    <a:noFill/>
                  </a:tcPr>
                </a:tc>
              </a:tr>
            </a:tbl>
          </a:graphicData>
        </a:graphic>
      </p:graphicFrame>
      <p:sp>
        <p:nvSpPr>
          <p:cNvPr id="9" name="Rectangle 8"/>
          <p:cNvSpPr/>
          <p:nvPr/>
        </p:nvSpPr>
        <p:spPr>
          <a:xfrm>
            <a:off x="533400" y="2424112"/>
            <a:ext cx="21502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83668" y="2424112"/>
            <a:ext cx="19561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39865" y="2424112"/>
            <a:ext cx="283725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77125" y="2424112"/>
            <a:ext cx="41814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3400" y="2843212"/>
            <a:ext cx="21502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83668" y="2843212"/>
            <a:ext cx="19561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39865" y="2843212"/>
            <a:ext cx="283725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77125" y="2843212"/>
            <a:ext cx="41814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3400" y="3262312"/>
            <a:ext cx="215026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83668" y="3262312"/>
            <a:ext cx="19561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39865" y="3262312"/>
            <a:ext cx="283725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77125" y="3262312"/>
            <a:ext cx="41814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1525" y="3743325"/>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Đặc điểm Corpus</a:t>
            </a:r>
          </a:p>
        </p:txBody>
      </p:sp>
      <p:sp>
        <p:nvSpPr>
          <p:cNvPr id="22" name="TextBox 21"/>
          <p:cNvSpPr txBox="1"/>
          <p:nvPr/>
        </p:nvSpPr>
        <p:spPr>
          <a:xfrm>
            <a:off x="771525" y="4086225"/>
            <a:ext cx="4953000" cy="409575"/>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Lưu trữ tại </a:t>
            </a:r>
            <a:r>
              <a:rPr b="0" sz="1050" i="0" u="none">
                <a:solidFill>
                  <a:srgbClr val="334155"/>
                </a:solidFill>
                <a:latin typeface="Plus Jakarta Sans"/>
              </a:rPr>
              <a:t>docs.db</a:t>
            </a:r>
            <a:r>
              <a:rPr b="0" sz="1050" i="0" u="none">
                <a:solidFill>
                  <a:srgbClr val="334155"/>
                </a:solidFill>
                <a:latin typeface="Plus Jakarta Sans"/>
              </a:rPr>
              <a:t> (SQLite) gồm 5,317 văn bản gốc được chia nhỏ tự động thành 6,544 passages khi khởi động API.</a:t>
            </a:r>
          </a:p>
        </p:txBody>
      </p:sp>
      <p:sp>
        <p:nvSpPr>
          <p:cNvPr id="23" name="TextBox 22"/>
          <p:cNvSpPr txBox="1"/>
          <p:nvPr/>
        </p:nvSpPr>
        <p:spPr>
          <a:xfrm>
            <a:off x="6467475" y="3743325"/>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Quy tắc Phân đoạn</a:t>
            </a:r>
          </a:p>
        </p:txBody>
      </p:sp>
      <p:sp>
        <p:nvSpPr>
          <p:cNvPr id="24" name="TextBox 23"/>
          <p:cNvSpPr txBox="1"/>
          <p:nvPr/>
        </p:nvSpPr>
        <p:spPr>
          <a:xfrm>
            <a:off x="6467475" y="4086225"/>
            <a:ext cx="495300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Mỗi passage có độ dài tối đa 220 tokens, chồng lấn (overlap) 2 câu để tránh mất thông tin ở biên chunk.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323975"/>
            <a:ext cx="2019300" cy="676275"/>
          </a:xfrm>
          <a:prstGeom prst="rect">
            <a:avLst/>
          </a:prstGeom>
        </p:spPr>
      </p:pic>
      <p:pic>
        <p:nvPicPr>
          <p:cNvPr id="4" name="Picture 3" descr="image.png"/>
          <p:cNvPicPr>
            <a:picLocks noChangeAspect="1"/>
          </p:cNvPicPr>
          <p:nvPr/>
        </p:nvPicPr>
        <p:blipFill>
          <a:blip r:embed="rId4"/>
          <a:stretch>
            <a:fillRect/>
          </a:stretch>
        </p:blipFill>
        <p:spPr>
          <a:xfrm>
            <a:off x="2809875" y="1323975"/>
            <a:ext cx="2019300" cy="676275"/>
          </a:xfrm>
          <a:prstGeom prst="rect">
            <a:avLst/>
          </a:prstGeom>
        </p:spPr>
      </p:pic>
      <p:pic>
        <p:nvPicPr>
          <p:cNvPr id="5" name="Picture 4" descr="image.png"/>
          <p:cNvPicPr>
            <a:picLocks noChangeAspect="1"/>
          </p:cNvPicPr>
          <p:nvPr/>
        </p:nvPicPr>
        <p:blipFill>
          <a:blip r:embed="rId5"/>
          <a:stretch>
            <a:fillRect/>
          </a:stretch>
        </p:blipFill>
        <p:spPr>
          <a:xfrm>
            <a:off x="5086350" y="1323975"/>
            <a:ext cx="2019300" cy="676275"/>
          </a:xfrm>
          <a:prstGeom prst="rect">
            <a:avLst/>
          </a:prstGeom>
        </p:spPr>
      </p:pic>
      <p:pic>
        <p:nvPicPr>
          <p:cNvPr id="6" name="Picture 5" descr="image.png"/>
          <p:cNvPicPr>
            <a:picLocks noChangeAspect="1"/>
          </p:cNvPicPr>
          <p:nvPr/>
        </p:nvPicPr>
        <p:blipFill>
          <a:blip r:embed="rId4"/>
          <a:stretch>
            <a:fillRect/>
          </a:stretch>
        </p:blipFill>
        <p:spPr>
          <a:xfrm>
            <a:off x="7362825" y="1323975"/>
            <a:ext cx="2019300" cy="676275"/>
          </a:xfrm>
          <a:prstGeom prst="rect">
            <a:avLst/>
          </a:prstGeom>
        </p:spPr>
      </p:pic>
      <p:pic>
        <p:nvPicPr>
          <p:cNvPr id="7" name="Picture 6" descr="image.png"/>
          <p:cNvPicPr>
            <a:picLocks noChangeAspect="1"/>
          </p:cNvPicPr>
          <p:nvPr/>
        </p:nvPicPr>
        <p:blipFill>
          <a:blip r:embed="rId6"/>
          <a:stretch>
            <a:fillRect/>
          </a:stretch>
        </p:blipFill>
        <p:spPr>
          <a:xfrm>
            <a:off x="9639300" y="1323975"/>
            <a:ext cx="2019300" cy="676275"/>
          </a:xfrm>
          <a:prstGeom prst="rect">
            <a:avLst/>
          </a:prstGeom>
        </p:spPr>
      </p:pic>
      <p:pic>
        <p:nvPicPr>
          <p:cNvPr id="8" name="Picture 7" descr="image.png"/>
          <p:cNvPicPr>
            <a:picLocks noChangeAspect="1"/>
          </p:cNvPicPr>
          <p:nvPr/>
        </p:nvPicPr>
        <p:blipFill>
          <a:blip r:embed="rId7"/>
          <a:stretch>
            <a:fillRect/>
          </a:stretch>
        </p:blipFill>
        <p:spPr>
          <a:xfrm>
            <a:off x="533400" y="2343150"/>
            <a:ext cx="5429250" cy="2562225"/>
          </a:xfrm>
          <a:prstGeom prst="rect">
            <a:avLst/>
          </a:prstGeom>
        </p:spPr>
      </p:pic>
      <p:pic>
        <p:nvPicPr>
          <p:cNvPr id="9" name="Picture 8" descr="image.png"/>
          <p:cNvPicPr>
            <a:picLocks noChangeAspect="1"/>
          </p:cNvPicPr>
          <p:nvPr/>
        </p:nvPicPr>
        <p:blipFill>
          <a:blip r:embed="rId8"/>
          <a:stretch>
            <a:fillRect/>
          </a:stretch>
        </p:blipFill>
        <p:spPr>
          <a:xfrm>
            <a:off x="6229350" y="2343150"/>
            <a:ext cx="5429250" cy="2562225"/>
          </a:xfrm>
          <a:prstGeom prst="rect">
            <a:avLst/>
          </a:prstGeom>
        </p:spPr>
      </p:pic>
      <p:sp>
        <p:nvSpPr>
          <p:cNvPr id="10" name="TextBox 9"/>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Quy trình Xử lý Dữ liệu &amp; Sentence-Aware Chunking</a:t>
            </a:r>
          </a:p>
        </p:txBody>
      </p:sp>
      <p:pic>
        <p:nvPicPr>
          <p:cNvPr id="11" name="Picture 10" descr="image.png"/>
          <p:cNvPicPr>
            <a:picLocks noChangeAspect="1"/>
          </p:cNvPicPr>
          <p:nvPr/>
        </p:nvPicPr>
        <p:blipFill>
          <a:blip r:embed="rId9"/>
          <a:stretch>
            <a:fillRect/>
          </a:stretch>
        </p:blipFill>
        <p:spPr>
          <a:xfrm>
            <a:off x="10644187" y="519112"/>
            <a:ext cx="1014412" cy="285750"/>
          </a:xfrm>
          <a:prstGeom prst="rect">
            <a:avLst/>
          </a:prstGeom>
        </p:spPr>
      </p:pic>
      <p:sp>
        <p:nvSpPr>
          <p:cNvPr id="12" name="TextBox 11"/>
          <p:cNvSpPr txBox="1"/>
          <p:nvPr/>
        </p:nvSpPr>
        <p:spPr>
          <a:xfrm>
            <a:off x="657225" y="1485900"/>
            <a:ext cx="1771650" cy="171450"/>
          </a:xfrm>
          <a:prstGeom prst="rect">
            <a:avLst/>
          </a:prstGeom>
          <a:noFill/>
        </p:spPr>
        <p:txBody>
          <a:bodyPr wrap="square" lIns="0" rIns="0" tIns="0" bIns="0" anchor="t">
            <a:spAutoFit/>
          </a:bodyPr>
          <a:lstStyle/>
          <a:p>
            <a:pPr algn="ctr"/>
            <a:r>
              <a:rPr b="1" sz="1050" i="0" u="none">
                <a:solidFill>
                  <a:srgbClr val="0F172A"/>
                </a:solidFill>
                <a:latin typeface="Plus Jakarta Sans"/>
              </a:rPr>
              <a:t>1. UIT-ViQuAD 2.0</a:t>
            </a:r>
          </a:p>
        </p:txBody>
      </p:sp>
      <p:sp>
        <p:nvSpPr>
          <p:cNvPr id="13" name="TextBox 12"/>
          <p:cNvSpPr txBox="1"/>
          <p:nvPr/>
        </p:nvSpPr>
        <p:spPr>
          <a:xfrm>
            <a:off x="657225" y="1695450"/>
            <a:ext cx="1771650" cy="142875"/>
          </a:xfrm>
          <a:prstGeom prst="rect">
            <a:avLst/>
          </a:prstGeom>
          <a:noFill/>
        </p:spPr>
        <p:txBody>
          <a:bodyPr wrap="square" lIns="0" rIns="0" tIns="0" bIns="0" anchor="t">
            <a:spAutoFit/>
          </a:bodyPr>
          <a:lstStyle/>
          <a:p>
            <a:pPr algn="ctr"/>
            <a:r>
              <a:rPr b="0" sz="900" i="0" u="none">
                <a:solidFill>
                  <a:srgbClr val="64748B"/>
                </a:solidFill>
                <a:latin typeface="Plus Jakarta Sans"/>
              </a:rPr>
              <a:t>Dữ liệu thô Parquet</a:t>
            </a:r>
          </a:p>
        </p:txBody>
      </p:sp>
      <p:pic>
        <p:nvPicPr>
          <p:cNvPr id="14" name="Picture 13" descr="image.png"/>
          <p:cNvPicPr>
            <a:picLocks noChangeAspect="1"/>
          </p:cNvPicPr>
          <p:nvPr/>
        </p:nvPicPr>
        <p:blipFill>
          <a:blip r:embed="rId10"/>
          <a:stretch>
            <a:fillRect/>
          </a:stretch>
        </p:blipFill>
        <p:spPr>
          <a:xfrm>
            <a:off x="2628900" y="1590675"/>
            <a:ext cx="104775" cy="171450"/>
          </a:xfrm>
          <a:prstGeom prst="rect">
            <a:avLst/>
          </a:prstGeom>
        </p:spPr>
      </p:pic>
      <p:sp>
        <p:nvSpPr>
          <p:cNvPr id="15" name="TextBox 14"/>
          <p:cNvSpPr txBox="1"/>
          <p:nvPr/>
        </p:nvSpPr>
        <p:spPr>
          <a:xfrm>
            <a:off x="2933700" y="1485900"/>
            <a:ext cx="1771650" cy="171450"/>
          </a:xfrm>
          <a:prstGeom prst="rect">
            <a:avLst/>
          </a:prstGeom>
          <a:noFill/>
        </p:spPr>
        <p:txBody>
          <a:bodyPr wrap="square" lIns="0" rIns="0" tIns="0" bIns="0" anchor="t">
            <a:spAutoFit/>
          </a:bodyPr>
          <a:lstStyle/>
          <a:p>
            <a:pPr algn="ctr"/>
            <a:r>
              <a:rPr b="1" sz="1050" i="0" u="none">
                <a:solidFill>
                  <a:srgbClr val="0F172A"/>
                </a:solidFill>
                <a:latin typeface="Plus Jakarta Sans"/>
              </a:rPr>
              <a:t>2. Clean &amp; Normalize</a:t>
            </a:r>
          </a:p>
        </p:txBody>
      </p:sp>
      <p:sp>
        <p:nvSpPr>
          <p:cNvPr id="16" name="TextBox 15"/>
          <p:cNvSpPr txBox="1"/>
          <p:nvPr/>
        </p:nvSpPr>
        <p:spPr>
          <a:xfrm>
            <a:off x="2933700" y="1695450"/>
            <a:ext cx="1771650" cy="142875"/>
          </a:xfrm>
          <a:prstGeom prst="rect">
            <a:avLst/>
          </a:prstGeom>
          <a:noFill/>
        </p:spPr>
        <p:txBody>
          <a:bodyPr wrap="square" lIns="0" rIns="0" tIns="0" bIns="0" anchor="t">
            <a:spAutoFit/>
          </a:bodyPr>
          <a:lstStyle/>
          <a:p>
            <a:pPr algn="ctr"/>
            <a:r>
              <a:rPr b="0" sz="900" i="0" u="none">
                <a:solidFill>
                  <a:srgbClr val="64748B"/>
                </a:solidFill>
                <a:latin typeface="Plus Jakarta Sans"/>
              </a:rPr>
              <a:t>Tách đoạn / Chuẩn hóa</a:t>
            </a:r>
          </a:p>
        </p:txBody>
      </p:sp>
      <p:pic>
        <p:nvPicPr>
          <p:cNvPr id="17" name="Picture 16" descr="image.png"/>
          <p:cNvPicPr>
            <a:picLocks noChangeAspect="1"/>
          </p:cNvPicPr>
          <p:nvPr/>
        </p:nvPicPr>
        <p:blipFill>
          <a:blip r:embed="rId10"/>
          <a:stretch>
            <a:fillRect/>
          </a:stretch>
        </p:blipFill>
        <p:spPr>
          <a:xfrm>
            <a:off x="4905375" y="1590675"/>
            <a:ext cx="104775" cy="171450"/>
          </a:xfrm>
          <a:prstGeom prst="rect">
            <a:avLst/>
          </a:prstGeom>
        </p:spPr>
      </p:pic>
      <p:sp>
        <p:nvSpPr>
          <p:cNvPr id="18" name="TextBox 17"/>
          <p:cNvSpPr txBox="1"/>
          <p:nvPr/>
        </p:nvSpPr>
        <p:spPr>
          <a:xfrm>
            <a:off x="5210175" y="1485900"/>
            <a:ext cx="1771650" cy="171450"/>
          </a:xfrm>
          <a:prstGeom prst="rect">
            <a:avLst/>
          </a:prstGeom>
          <a:noFill/>
        </p:spPr>
        <p:txBody>
          <a:bodyPr wrap="square" lIns="0" rIns="0" tIns="0" bIns="0" anchor="t">
            <a:spAutoFit/>
          </a:bodyPr>
          <a:lstStyle/>
          <a:p>
            <a:pPr algn="ctr"/>
            <a:r>
              <a:rPr b="1" sz="1050" i="0" u="none">
                <a:solidFill>
                  <a:srgbClr val="0F172A"/>
                </a:solidFill>
                <a:latin typeface="Plus Jakarta Sans"/>
              </a:rPr>
              <a:t>3. Sentence Segmentation</a:t>
            </a:r>
          </a:p>
        </p:txBody>
      </p:sp>
      <p:sp>
        <p:nvSpPr>
          <p:cNvPr id="19" name="TextBox 18"/>
          <p:cNvSpPr txBox="1"/>
          <p:nvPr/>
        </p:nvSpPr>
        <p:spPr>
          <a:xfrm>
            <a:off x="5210175" y="1695450"/>
            <a:ext cx="1771650" cy="142875"/>
          </a:xfrm>
          <a:prstGeom prst="rect">
            <a:avLst/>
          </a:prstGeom>
          <a:noFill/>
        </p:spPr>
        <p:txBody>
          <a:bodyPr wrap="square" lIns="0" rIns="0" tIns="0" bIns="0" anchor="t">
            <a:spAutoFit/>
          </a:bodyPr>
          <a:lstStyle/>
          <a:p>
            <a:pPr algn="ctr"/>
            <a:r>
              <a:rPr b="0" sz="900" i="0" u="none">
                <a:solidFill>
                  <a:srgbClr val="64748B"/>
                </a:solidFill>
                <a:latin typeface="Plus Jakarta Sans"/>
              </a:rPr>
              <a:t>Phân đoạn câu với PyVi</a:t>
            </a:r>
          </a:p>
        </p:txBody>
      </p:sp>
      <p:pic>
        <p:nvPicPr>
          <p:cNvPr id="20" name="Picture 19" descr="image.png"/>
          <p:cNvPicPr>
            <a:picLocks noChangeAspect="1"/>
          </p:cNvPicPr>
          <p:nvPr/>
        </p:nvPicPr>
        <p:blipFill>
          <a:blip r:embed="rId10"/>
          <a:stretch>
            <a:fillRect/>
          </a:stretch>
        </p:blipFill>
        <p:spPr>
          <a:xfrm>
            <a:off x="7181850" y="1590675"/>
            <a:ext cx="104775" cy="171450"/>
          </a:xfrm>
          <a:prstGeom prst="rect">
            <a:avLst/>
          </a:prstGeom>
        </p:spPr>
      </p:pic>
      <p:sp>
        <p:nvSpPr>
          <p:cNvPr id="21" name="TextBox 20"/>
          <p:cNvSpPr txBox="1"/>
          <p:nvPr/>
        </p:nvSpPr>
        <p:spPr>
          <a:xfrm>
            <a:off x="7486650" y="1485900"/>
            <a:ext cx="1771650" cy="171450"/>
          </a:xfrm>
          <a:prstGeom prst="rect">
            <a:avLst/>
          </a:prstGeom>
          <a:noFill/>
        </p:spPr>
        <p:txBody>
          <a:bodyPr wrap="square" lIns="0" rIns="0" tIns="0" bIns="0" anchor="t">
            <a:spAutoFit/>
          </a:bodyPr>
          <a:lstStyle/>
          <a:p>
            <a:pPr algn="ctr"/>
            <a:r>
              <a:rPr b="1" sz="1050" i="0" u="none">
                <a:solidFill>
                  <a:srgbClr val="0F172A"/>
                </a:solidFill>
                <a:latin typeface="Plus Jakarta Sans"/>
              </a:rPr>
              <a:t>4. Boundary Chunking</a:t>
            </a:r>
          </a:p>
        </p:txBody>
      </p:sp>
      <p:sp>
        <p:nvSpPr>
          <p:cNvPr id="22" name="TextBox 21"/>
          <p:cNvSpPr txBox="1"/>
          <p:nvPr/>
        </p:nvSpPr>
        <p:spPr>
          <a:xfrm>
            <a:off x="7486650" y="1695450"/>
            <a:ext cx="1771650" cy="142875"/>
          </a:xfrm>
          <a:prstGeom prst="rect">
            <a:avLst/>
          </a:prstGeom>
          <a:noFill/>
        </p:spPr>
        <p:txBody>
          <a:bodyPr wrap="square" lIns="0" rIns="0" tIns="0" bIns="0" anchor="t">
            <a:spAutoFit/>
          </a:bodyPr>
          <a:lstStyle/>
          <a:p>
            <a:pPr algn="ctr"/>
            <a:r>
              <a:rPr b="0" sz="900" i="0" u="none">
                <a:solidFill>
                  <a:srgbClr val="64748B"/>
                </a:solidFill>
                <a:latin typeface="Plus Jakarta Sans"/>
              </a:rPr>
              <a:t>220 tokens / 2-sentence overlap</a:t>
            </a:r>
          </a:p>
        </p:txBody>
      </p:sp>
      <p:pic>
        <p:nvPicPr>
          <p:cNvPr id="23" name="Picture 22" descr="image.png"/>
          <p:cNvPicPr>
            <a:picLocks noChangeAspect="1"/>
          </p:cNvPicPr>
          <p:nvPr/>
        </p:nvPicPr>
        <p:blipFill>
          <a:blip r:embed="rId10"/>
          <a:stretch>
            <a:fillRect/>
          </a:stretch>
        </p:blipFill>
        <p:spPr>
          <a:xfrm>
            <a:off x="9458325" y="1590675"/>
            <a:ext cx="104775" cy="171450"/>
          </a:xfrm>
          <a:prstGeom prst="rect">
            <a:avLst/>
          </a:prstGeom>
        </p:spPr>
      </p:pic>
      <p:sp>
        <p:nvSpPr>
          <p:cNvPr id="24" name="TextBox 23"/>
          <p:cNvSpPr txBox="1"/>
          <p:nvPr/>
        </p:nvSpPr>
        <p:spPr>
          <a:xfrm>
            <a:off x="9763125" y="1485900"/>
            <a:ext cx="1771650" cy="171450"/>
          </a:xfrm>
          <a:prstGeom prst="rect">
            <a:avLst/>
          </a:prstGeom>
          <a:noFill/>
        </p:spPr>
        <p:txBody>
          <a:bodyPr wrap="square" lIns="0" rIns="0" tIns="0" bIns="0" anchor="t">
            <a:spAutoFit/>
          </a:bodyPr>
          <a:lstStyle/>
          <a:p>
            <a:pPr algn="ctr"/>
            <a:r>
              <a:rPr b="1" sz="1050" i="0" u="none">
                <a:solidFill>
                  <a:srgbClr val="0F172A"/>
                </a:solidFill>
                <a:latin typeface="Plus Jakarta Sans"/>
              </a:rPr>
              <a:t>5. Indexing</a:t>
            </a:r>
          </a:p>
        </p:txBody>
      </p:sp>
      <p:sp>
        <p:nvSpPr>
          <p:cNvPr id="25" name="TextBox 24"/>
          <p:cNvSpPr txBox="1"/>
          <p:nvPr/>
        </p:nvSpPr>
        <p:spPr>
          <a:xfrm>
            <a:off x="9763125" y="1695450"/>
            <a:ext cx="1771650" cy="142875"/>
          </a:xfrm>
          <a:prstGeom prst="rect">
            <a:avLst/>
          </a:prstGeom>
          <a:noFill/>
        </p:spPr>
        <p:txBody>
          <a:bodyPr wrap="square" lIns="0" rIns="0" tIns="0" bIns="0" anchor="t">
            <a:spAutoFit/>
          </a:bodyPr>
          <a:lstStyle/>
          <a:p>
            <a:pPr algn="ctr"/>
            <a:r>
              <a:rPr b="0" sz="900" i="0" u="none">
                <a:solidFill>
                  <a:srgbClr val="64748B"/>
                </a:solidFill>
                <a:latin typeface="Plus Jakarta Sans"/>
              </a:rPr>
              <a:t>6,544 Passages → Index</a:t>
            </a:r>
          </a:p>
        </p:txBody>
      </p:sp>
      <p:sp>
        <p:nvSpPr>
          <p:cNvPr id="26" name="TextBox 25"/>
          <p:cNvSpPr txBox="1"/>
          <p:nvPr/>
        </p:nvSpPr>
        <p:spPr>
          <a:xfrm>
            <a:off x="771525" y="2581275"/>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Chi tiết Thuật toán Chunking</a:t>
            </a:r>
          </a:p>
        </p:txBody>
      </p:sp>
      <p:sp>
        <p:nvSpPr>
          <p:cNvPr id="27" name="TextBox 26"/>
          <p:cNvSpPr txBox="1"/>
          <p:nvPr/>
        </p:nvSpPr>
        <p:spPr>
          <a:xfrm>
            <a:off x="6467475" y="2581275"/>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Chuẩn hóa Tiêu đề Nguồn (Source Title)</a:t>
            </a:r>
          </a:p>
        </p:txBody>
      </p:sp>
      <p:sp>
        <p:nvSpPr>
          <p:cNvPr id="28" name="TextBox 27"/>
          <p:cNvSpPr txBox="1"/>
          <p:nvPr/>
        </p:nvSpPr>
        <p:spPr>
          <a:xfrm>
            <a:off x="6467475" y="2924175"/>
            <a:ext cx="4953000" cy="2095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Hàm </a:t>
            </a:r>
            <a:r>
              <a:rPr b="0" sz="1050" i="0" u="none">
                <a:solidFill>
                  <a:srgbClr val="334155"/>
                </a:solidFill>
                <a:latin typeface="Plus Jakarta Sans"/>
              </a:rPr>
              <a:t>derive_source_title</a:t>
            </a:r>
            <a:r>
              <a:rPr b="0" sz="1050" i="0" u="none">
                <a:solidFill>
                  <a:srgbClr val="334155"/>
                </a:solidFill>
                <a:latin typeface="Plus Jakarta Sans"/>
              </a:rPr>
              <a:t> ưu tiên:</a:t>
            </a:r>
          </a:p>
        </p:txBody>
      </p:sp>
      <p:sp>
        <p:nvSpPr>
          <p:cNvPr id="29" name="TextBox 28"/>
          <p:cNvSpPr txBox="1"/>
          <p:nvPr/>
        </p:nvSpPr>
        <p:spPr>
          <a:xfrm>
            <a:off x="1038225" y="2924175"/>
            <a:ext cx="4686300" cy="466725"/>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Module </a:t>
            </a:r>
            <a:r>
              <a:rPr b="0" sz="1200" i="0" u="none">
                <a:solidFill>
                  <a:srgbClr val="334155"/>
                </a:solidFill>
                <a:latin typeface="Plus Jakarta Sans"/>
              </a:rPr>
              <a:t>backend/chunking.py</a:t>
            </a:r>
            <a:r>
              <a:rPr b="0" sz="1200" i="0" u="none">
                <a:solidFill>
                  <a:srgbClr val="334155"/>
                </a:solidFill>
                <a:latin typeface="Plus Jakarta Sans"/>
              </a:rPr>
              <a:t> tách paragraph, tách câu bằng PyVi.</a:t>
            </a:r>
          </a:p>
        </p:txBody>
      </p:sp>
      <p:sp>
        <p:nvSpPr>
          <p:cNvPr id="30" name="TextBox 29"/>
          <p:cNvSpPr txBox="1"/>
          <p:nvPr/>
        </p:nvSpPr>
        <p:spPr>
          <a:xfrm>
            <a:off x="1038225" y="3505200"/>
            <a:ext cx="468630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Câu đơn quá dài được cắt theo dấu chấm phẩy, hai chấm, phẩy hoặc cửa sổ từ.</a:t>
            </a:r>
          </a:p>
        </p:txBody>
      </p:sp>
      <p:sp>
        <p:nvSpPr>
          <p:cNvPr id="31" name="TextBox 30"/>
          <p:cNvSpPr txBox="1"/>
          <p:nvPr/>
        </p:nvSpPr>
        <p:spPr>
          <a:xfrm>
            <a:off x="1038225" y="4076700"/>
            <a:ext cx="4686300" cy="47625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Mỗi passage lưu vết </a:t>
            </a:r>
            <a:r>
              <a:rPr b="0" sz="1200" i="0" u="none">
                <a:solidFill>
                  <a:srgbClr val="334155"/>
                </a:solidFill>
                <a:latin typeface="Plus Jakarta Sans"/>
              </a:rPr>
              <a:t>document_id</a:t>
            </a:r>
            <a:r>
              <a:rPr b="0" sz="1200" i="0" u="none">
                <a:solidFill>
                  <a:srgbClr val="334155"/>
                </a:solidFill>
                <a:latin typeface="Plus Jakarta Sans"/>
              </a:rPr>
              <a:t>, </a:t>
            </a:r>
            <a:r>
              <a:rPr b="0" sz="1200" i="0" u="none">
                <a:solidFill>
                  <a:srgbClr val="334155"/>
                </a:solidFill>
                <a:latin typeface="Plus Jakarta Sans"/>
              </a:rPr>
              <a:t>passage_id</a:t>
            </a:r>
            <a:r>
              <a:rPr b="0" sz="1200" i="0" u="none">
                <a:solidFill>
                  <a:srgbClr val="334155"/>
                </a:solidFill>
                <a:latin typeface="Plus Jakarta Sans"/>
              </a:rPr>
              <a:t>, </a:t>
            </a:r>
            <a:r>
              <a:rPr b="0" sz="1200" i="0" u="none">
                <a:solidFill>
                  <a:srgbClr val="334155"/>
                </a:solidFill>
                <a:latin typeface="Plus Jakarta Sans"/>
              </a:rPr>
              <a:t>sentence_start</a:t>
            </a:r>
            <a:r>
              <a:rPr b="0" sz="1200" i="0" u="none">
                <a:solidFill>
                  <a:srgbClr val="334155"/>
                </a:solidFill>
                <a:latin typeface="Plus Jakarta Sans"/>
              </a:rPr>
              <a:t>, </a:t>
            </a:r>
            <a:r>
              <a:rPr b="0" sz="1200" i="0" u="none">
                <a:solidFill>
                  <a:srgbClr val="334155"/>
                </a:solidFill>
                <a:latin typeface="Plus Jakarta Sans"/>
              </a:rPr>
              <a:t>sentence_end</a:t>
            </a:r>
            <a:r>
              <a:rPr b="0" sz="1200" i="0" u="none">
                <a:solidFill>
                  <a:srgbClr val="334155"/>
                </a:solidFill>
                <a:latin typeface="Plus Jakarta Sans"/>
              </a:rPr>
              <a:t>.</a:t>
            </a:r>
          </a:p>
        </p:txBody>
      </p:sp>
      <p:sp>
        <p:nvSpPr>
          <p:cNvPr id="32" name="TextBox 31"/>
          <p:cNvSpPr txBox="1"/>
          <p:nvPr/>
        </p:nvSpPr>
        <p:spPr>
          <a:xfrm>
            <a:off x="6553200" y="3248025"/>
            <a:ext cx="104775" cy="228600"/>
          </a:xfrm>
          <a:prstGeom prst="rect">
            <a:avLst/>
          </a:prstGeom>
          <a:noFill/>
        </p:spPr>
        <p:txBody>
          <a:bodyPr wrap="square" lIns="0" rIns="0" tIns="0" bIns="0" anchor="t">
            <a:spAutoFit/>
          </a:bodyPr>
          <a:lstStyle/>
          <a:p>
            <a:pPr algn="l"/>
            <a:r>
              <a:rPr b="0" sz="1200" i="0" u="none">
                <a:solidFill>
                  <a:srgbClr val="334155"/>
                </a:solidFill>
                <a:latin typeface="Plus Jakarta Sans"/>
              </a:rPr>
              <a:t>1.</a:t>
            </a:r>
          </a:p>
        </p:txBody>
      </p:sp>
      <p:sp>
        <p:nvSpPr>
          <p:cNvPr id="33" name="TextBox 32"/>
          <p:cNvSpPr txBox="1"/>
          <p:nvPr/>
        </p:nvSpPr>
        <p:spPr>
          <a:xfrm>
            <a:off x="6657975" y="3248025"/>
            <a:ext cx="4762500" cy="228600"/>
          </a:xfrm>
          <a:prstGeom prst="rect">
            <a:avLst/>
          </a:prstGeom>
          <a:noFill/>
        </p:spPr>
        <p:txBody>
          <a:bodyPr wrap="square" lIns="104775" rIns="0" tIns="0" bIns="0" anchor="t">
            <a:spAutoFit/>
          </a:bodyPr>
          <a:lstStyle/>
          <a:p>
            <a:pPr algn="l">
              <a:lnSpc>
                <a:spcPts val="1800"/>
              </a:lnSpc>
            </a:pPr>
            <a:r>
              <a:rPr b="0" sz="1200" i="0" u="none">
                <a:solidFill>
                  <a:srgbClr val="334155"/>
                </a:solidFill>
                <a:latin typeface="Plus Jakarta Sans"/>
              </a:rPr>
              <a:t>Document title / Heading từ metadata</a:t>
            </a:r>
          </a:p>
        </p:txBody>
      </p:sp>
      <p:sp>
        <p:nvSpPr>
          <p:cNvPr id="34" name="TextBox 33"/>
          <p:cNvSpPr txBox="1"/>
          <p:nvPr/>
        </p:nvSpPr>
        <p:spPr>
          <a:xfrm>
            <a:off x="6515100" y="3476625"/>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2.</a:t>
            </a:r>
          </a:p>
        </p:txBody>
      </p:sp>
      <p:sp>
        <p:nvSpPr>
          <p:cNvPr id="35" name="TextBox 34"/>
          <p:cNvSpPr txBox="1"/>
          <p:nvPr/>
        </p:nvSpPr>
        <p:spPr>
          <a:xfrm>
            <a:off x="6657975" y="3476625"/>
            <a:ext cx="476250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Entity chính ở đầu passage</a:t>
            </a:r>
          </a:p>
        </p:txBody>
      </p:sp>
      <p:sp>
        <p:nvSpPr>
          <p:cNvPr id="36" name="TextBox 35"/>
          <p:cNvSpPr txBox="1"/>
          <p:nvPr/>
        </p:nvSpPr>
        <p:spPr>
          <a:xfrm>
            <a:off x="6515100" y="3705225"/>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3.</a:t>
            </a:r>
          </a:p>
        </p:txBody>
      </p:sp>
      <p:sp>
        <p:nvSpPr>
          <p:cNvPr id="37" name="TextBox 36"/>
          <p:cNvSpPr txBox="1"/>
          <p:nvPr/>
        </p:nvSpPr>
        <p:spPr>
          <a:xfrm>
            <a:off x="6657975" y="3705225"/>
            <a:ext cx="476250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First sentence truncated (không xóa ngoặc chứa năm sinh/mất)</a:t>
            </a:r>
          </a:p>
        </p:txBody>
      </p:sp>
      <p:pic>
        <p:nvPicPr>
          <p:cNvPr id="38" name="Picture 37" descr="image.png"/>
          <p:cNvPicPr>
            <a:picLocks noChangeAspect="1"/>
          </p:cNvPicPr>
          <p:nvPr/>
        </p:nvPicPr>
        <p:blipFill>
          <a:blip r:embed="rId11"/>
          <a:stretch>
            <a:fillRect/>
          </a:stretch>
        </p:blipFill>
        <p:spPr>
          <a:xfrm>
            <a:off x="771525" y="2962275"/>
            <a:ext cx="133350" cy="152400"/>
          </a:xfrm>
          <a:prstGeom prst="rect">
            <a:avLst/>
          </a:prstGeom>
        </p:spPr>
      </p:pic>
      <p:pic>
        <p:nvPicPr>
          <p:cNvPr id="39" name="Picture 38" descr="image.png"/>
          <p:cNvPicPr>
            <a:picLocks noChangeAspect="1"/>
          </p:cNvPicPr>
          <p:nvPr/>
        </p:nvPicPr>
        <p:blipFill>
          <a:blip r:embed="rId11"/>
          <a:stretch>
            <a:fillRect/>
          </a:stretch>
        </p:blipFill>
        <p:spPr>
          <a:xfrm>
            <a:off x="771525" y="3543300"/>
            <a:ext cx="133350" cy="152400"/>
          </a:xfrm>
          <a:prstGeom prst="rect">
            <a:avLst/>
          </a:prstGeom>
        </p:spPr>
      </p:pic>
      <p:pic>
        <p:nvPicPr>
          <p:cNvPr id="40" name="Picture 39" descr="image.png"/>
          <p:cNvPicPr>
            <a:picLocks noChangeAspect="1"/>
          </p:cNvPicPr>
          <p:nvPr/>
        </p:nvPicPr>
        <p:blipFill>
          <a:blip r:embed="rId11"/>
          <a:stretch>
            <a:fillRect/>
          </a:stretch>
        </p:blipFill>
        <p:spPr>
          <a:xfrm>
            <a:off x="771525" y="4114800"/>
            <a:ext cx="133350" cy="152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133725"/>
            <a:ext cx="11125200" cy="1228725"/>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Kiểm tra Tính Toàn vẹn Span (Span Integrity)</a:t>
            </a:r>
          </a:p>
        </p:txBody>
      </p:sp>
      <p:pic>
        <p:nvPicPr>
          <p:cNvPr id="5" name="Picture 4" descr="image.png"/>
          <p:cNvPicPr>
            <a:picLocks noChangeAspect="1"/>
          </p:cNvPicPr>
          <p:nvPr/>
        </p:nvPicPr>
        <p:blipFill>
          <a:blip r:embed="rId4"/>
          <a:stretch>
            <a:fillRect/>
          </a:stretch>
        </p:blipFill>
        <p:spPr>
          <a:xfrm>
            <a:off x="10872787" y="519112"/>
            <a:ext cx="785812" cy="285750"/>
          </a:xfrm>
          <a:prstGeom prst="rect">
            <a:avLst/>
          </a:prstGeom>
        </p:spPr>
      </p:pic>
      <p:sp>
        <p:nvSpPr>
          <p:cNvPr id="6" name="TextBox 5"/>
          <p:cNvSpPr txBox="1"/>
          <p:nvPr/>
        </p:nvSpPr>
        <p:spPr>
          <a:xfrm>
            <a:off x="533400" y="1133475"/>
            <a:ext cx="9371111" cy="238125"/>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Báo cáo thực hiện kiểm tra ánh xạ từ </a:t>
            </a:r>
            <a:r>
              <a:rPr b="0" sz="1200" i="0" u="none">
                <a:solidFill>
                  <a:srgbClr val="334155"/>
                </a:solidFill>
                <a:latin typeface="Plus Jakarta Sans"/>
              </a:rPr>
              <a:t>answer_start</a:t>
            </a:r>
            <a:r>
              <a:rPr b="0" sz="1200" i="0" u="none">
                <a:solidFill>
                  <a:srgbClr val="334155"/>
                </a:solidFill>
                <a:latin typeface="Plus Jakarta Sans"/>
              </a:rPr>
              <a:t> và </a:t>
            </a:r>
            <a:r>
              <a:rPr b="0" sz="1200" i="0" u="none">
                <a:solidFill>
                  <a:srgbClr val="334155"/>
                </a:solidFill>
                <a:latin typeface="Plus Jakarta Sans"/>
              </a:rPr>
              <a:t>answer_text</a:t>
            </a:r>
            <a:r>
              <a:rPr b="0" sz="1200" i="0" u="none">
                <a:solidFill>
                  <a:srgbClr val="334155"/>
                </a:solidFill>
                <a:latin typeface="Plus Jakarta Sans"/>
              </a:rPr>
              <a:t> sang offset từ vựng thực tế để phát hiện lỗi ranh giới Tokenizer.</a:t>
            </a:r>
          </a:p>
        </p:txBody>
      </p:sp>
      <p:graphicFrame>
        <p:nvGraphicFramePr>
          <p:cNvPr id="7" name="Table 6"/>
          <p:cNvGraphicFramePr>
            <a:graphicFrameLocks noGrp="1"/>
          </p:cNvGraphicFramePr>
          <p:nvPr/>
        </p:nvGraphicFramePr>
        <p:xfrm>
          <a:off x="533400" y="1600200"/>
          <a:ext cx="11125198" cy="13049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164556"/>
                <a:gridCol w="2323653"/>
                <a:gridCol w="1718816"/>
                <a:gridCol w="2021234"/>
                <a:gridCol w="2896939"/>
              </a:tblGrid>
              <a:tr h="434975">
                <a:tc>
                  <a:txBody>
                    <a:bodyPr/>
                    <a:lstStyle/>
                    <a:p>
                      <a:pPr algn="l"/>
                      <a:r>
                        <a:rPr b="0" sz="1050" i="0" u="none">
                          <a:solidFill>
                            <a:srgbClr val="FFFFFF"/>
                          </a:solidFill>
                          <a:latin typeface="Plus Jakarta Sans SemiBold"/>
                        </a:rPr>
                        <a:t>Tập dữ liệu</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Số mẫu có đáp án</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Span hợp lệ</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Span lỗi offset</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Độ chính xác ánh xạ (%)</a:t>
                      </a:r>
                    </a:p>
                  </a:txBody>
                  <a:tcPr anchor="ctr" marL="63500" marR="63500" marT="25400" marB="25400">
                    <a:lnL>
                      <a:noFill/>
                    </a:lnL>
                    <a:lnR>
                      <a:noFill/>
                    </a:lnR>
                    <a:lnT>
                      <a:noFill/>
                    </a:lnT>
                    <a:lnB>
                      <a:noFill/>
                    </a:lnB>
                    <a:solidFill>
                      <a:srgbClr val="0F172A"/>
                    </a:solidFill>
                  </a:tcPr>
                </a:tc>
              </a:tr>
              <a:tr h="434975">
                <a:tc>
                  <a:txBody>
                    <a:bodyPr/>
                    <a:lstStyle/>
                    <a:p>
                      <a:pPr algn="l"/>
                      <a:r>
                        <a:rPr b="1" sz="1050" i="0" u="none">
                          <a:solidFill>
                            <a:srgbClr val="334155"/>
                          </a:solidFill>
                          <a:latin typeface="Plus Jakarta Sans"/>
                        </a:rPr>
                        <a:t>Train Split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19,238</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18,913</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325</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98.31%</a:t>
                      </a:r>
                    </a:p>
                  </a:txBody>
                  <a:tcPr anchor="ctr" marL="63500" marR="63500" marT="25400" marB="25400">
                    <a:lnL>
                      <a:noFill/>
                    </a:lnL>
                    <a:lnR>
                      <a:noFill/>
                    </a:lnR>
                    <a:lnT>
                      <a:noFill/>
                    </a:lnT>
                    <a:lnB>
                      <a:noFill/>
                    </a:lnB>
                    <a:noFill/>
                  </a:tcPr>
                </a:tc>
              </a:tr>
              <a:tr h="434975">
                <a:tc>
                  <a:txBody>
                    <a:bodyPr/>
                    <a:lstStyle/>
                    <a:p>
                      <a:pPr algn="l"/>
                      <a:r>
                        <a:rPr b="1" sz="1050" i="0" u="none">
                          <a:solidFill>
                            <a:srgbClr val="334155"/>
                          </a:solidFill>
                          <a:latin typeface="Plus Jakarta Sans"/>
                        </a:rPr>
                        <a:t>Validation Split</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2,653</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2,614</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39</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98.53%</a:t>
                      </a:r>
                    </a:p>
                  </a:txBody>
                  <a:tcPr anchor="ctr" marL="63500" marR="63500" marT="25400" marB="25400">
                    <a:lnL>
                      <a:noFill/>
                    </a:lnL>
                    <a:lnR>
                      <a:noFill/>
                    </a:lnR>
                    <a:lnT>
                      <a:noFill/>
                    </a:lnT>
                    <a:lnB>
                      <a:noFill/>
                    </a:lnB>
                    <a:solidFill>
                      <a:srgbClr val="EFF6FF"/>
                    </a:solidFill>
                  </a:tcPr>
                </a:tc>
              </a:tr>
            </a:tbl>
          </a:graphicData>
        </a:graphic>
      </p:graphicFrame>
      <p:sp>
        <p:nvSpPr>
          <p:cNvPr id="8" name="TextBox 7"/>
          <p:cNvSpPr txBox="1"/>
          <p:nvPr/>
        </p:nvSpPr>
        <p:spPr>
          <a:xfrm>
            <a:off x="771525" y="3371850"/>
            <a:ext cx="11181397" cy="247650"/>
          </a:xfrm>
          <a:prstGeom prst="rect">
            <a:avLst/>
          </a:prstGeom>
          <a:noFill/>
        </p:spPr>
        <p:txBody>
          <a:bodyPr wrap="square" lIns="190500" rIns="0" tIns="0" bIns="0" anchor="t">
            <a:spAutoFit/>
          </a:bodyPr>
          <a:lstStyle/>
          <a:p>
            <a:pPr algn="l"/>
            <a:r>
              <a:rPr b="1" sz="1500" i="0" u="none">
                <a:solidFill>
                  <a:srgbClr val="1E293B"/>
                </a:solidFill>
                <a:latin typeface="Space Grotesk"/>
              </a:rPr>
              <a:t>Phân tích Nguyên nhân Lỗi (Error Diagnosis)</a:t>
            </a:r>
          </a:p>
        </p:txBody>
      </p:sp>
      <p:sp>
        <p:nvSpPr>
          <p:cNvPr id="9" name="TextBox 8"/>
          <p:cNvSpPr txBox="1"/>
          <p:nvPr/>
        </p:nvSpPr>
        <p:spPr>
          <a:xfrm>
            <a:off x="771525" y="3714750"/>
            <a:ext cx="10648950" cy="409575"/>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Phần lớn các lỗi còn lại (1.47% - 1.69%) được dán nhãn </a:t>
            </a:r>
            <a:r>
              <a:rPr b="0" sz="1050" i="0" u="none">
                <a:solidFill>
                  <a:srgbClr val="334155"/>
                </a:solidFill>
                <a:latin typeface="Plus Jakarta Sans"/>
              </a:rPr>
              <a:t>TOKENIZER_BOUNDARY</a:t>
            </a:r>
            <a:r>
              <a:rPr b="0" sz="1050" i="0" u="none">
                <a:solidFill>
                  <a:srgbClr val="334155"/>
                </a:solidFill>
                <a:latin typeface="Plus Jakarta Sans"/>
              </a:rPr>
              <a:t> do xung đột giữa quy tắc tách từ tiếng Việt của PyVi và WordPiece/BPE Tokenizer. Đây là điểm nghẽn hạ tầng ảnh hưởng trực tiếp tới </a:t>
            </a:r>
            <a:r>
              <a:rPr b="1" sz="1050" i="0" u="none">
                <a:solidFill>
                  <a:srgbClr val="334155"/>
                </a:solidFill>
                <a:latin typeface="Plus Jakarta Sans"/>
              </a:rPr>
              <a:t>Answerable Exact Match (EM)</a:t>
            </a:r>
            <a:r>
              <a:rPr b="0" sz="1050" i="0" u="none">
                <a:solidFill>
                  <a:srgbClr val="334155"/>
                </a:solidFill>
                <a:latin typeface="Plus Jakarta Sans"/>
              </a:rPr>
              <a:t>.</a:t>
            </a:r>
          </a:p>
        </p:txBody>
      </p:sp>
      <p:sp>
        <p:nvSpPr>
          <p:cNvPr id="10" name="Rectangle 9"/>
          <p:cNvSpPr/>
          <p:nvPr/>
        </p:nvSpPr>
        <p:spPr>
          <a:xfrm>
            <a:off x="533400" y="2452687"/>
            <a:ext cx="216455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97956" y="2452687"/>
            <a:ext cx="23236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1609" y="2452687"/>
            <a:ext cx="17188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40425" y="2452687"/>
            <a:ext cx="20212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61660" y="2452687"/>
            <a:ext cx="28969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3400" y="2890837"/>
            <a:ext cx="216455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97956" y="2890837"/>
            <a:ext cx="232365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1609" y="2890837"/>
            <a:ext cx="17188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740425" y="2890837"/>
            <a:ext cx="20212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61660" y="2890837"/>
            <a:ext cx="28969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771525" y="3400425"/>
            <a:ext cx="190500" cy="190500"/>
          </a:xfrm>
          <a:prstGeom prst="rect">
            <a:avLst/>
          </a:prstGeom>
        </p:spPr>
      </p:pic>
      <p:pic>
        <p:nvPicPr>
          <p:cNvPr id="21" name="Picture 20" descr="image.png"/>
          <p:cNvPicPr>
            <a:picLocks noChangeAspect="1"/>
          </p:cNvPicPr>
          <p:nvPr/>
        </p:nvPicPr>
        <p:blipFill>
          <a:blip r:embed="rId6"/>
          <a:stretch>
            <a:fillRect/>
          </a:stretch>
        </p:blipFill>
        <p:spPr>
          <a:xfrm>
            <a:off x="8914060" y="2143125"/>
            <a:ext cx="561975" cy="209550"/>
          </a:xfrm>
          <a:prstGeom prst="rect">
            <a:avLst/>
          </a:prstGeom>
        </p:spPr>
      </p:pic>
      <p:pic>
        <p:nvPicPr>
          <p:cNvPr id="22" name="Picture 21" descr="image.png"/>
          <p:cNvPicPr>
            <a:picLocks noChangeAspect="1"/>
          </p:cNvPicPr>
          <p:nvPr/>
        </p:nvPicPr>
        <p:blipFill>
          <a:blip r:embed="rId7"/>
          <a:stretch>
            <a:fillRect/>
          </a:stretch>
        </p:blipFill>
        <p:spPr>
          <a:xfrm>
            <a:off x="8914060" y="2581275"/>
            <a:ext cx="581025" cy="2095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019175"/>
            <a:ext cx="5105400" cy="1328737"/>
          </a:xfrm>
          <a:prstGeom prst="rect">
            <a:avLst/>
          </a:prstGeom>
        </p:spPr>
      </p:pic>
      <p:pic>
        <p:nvPicPr>
          <p:cNvPr id="4" name="Picture 3" descr="image.png"/>
          <p:cNvPicPr>
            <a:picLocks noChangeAspect="1"/>
          </p:cNvPicPr>
          <p:nvPr/>
        </p:nvPicPr>
        <p:blipFill>
          <a:blip r:embed="rId4"/>
          <a:stretch>
            <a:fillRect/>
          </a:stretch>
        </p:blipFill>
        <p:spPr>
          <a:xfrm>
            <a:off x="533400" y="2500312"/>
            <a:ext cx="5105400" cy="1228725"/>
          </a:xfrm>
          <a:prstGeom prst="rect">
            <a:avLst/>
          </a:prstGeom>
        </p:spPr>
      </p:pic>
      <p:sp>
        <p:nvSpPr>
          <p:cNvPr id="5" name="TextBox 4"/>
          <p:cNvSpPr txBox="1"/>
          <p:nvPr/>
        </p:nvSpPr>
        <p:spPr>
          <a:xfrm>
            <a:off x="533400" y="457200"/>
            <a:ext cx="51054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Kiến trúc Runtime Tổng thể</a:t>
            </a:r>
          </a:p>
        </p:txBody>
      </p:sp>
      <p:sp>
        <p:nvSpPr>
          <p:cNvPr id="6" name="TextBox 5"/>
          <p:cNvSpPr txBox="1"/>
          <p:nvPr/>
        </p:nvSpPr>
        <p:spPr>
          <a:xfrm>
            <a:off x="533400" y="3843337"/>
            <a:ext cx="5105400" cy="171450"/>
          </a:xfrm>
          <a:prstGeom prst="rect">
            <a:avLst/>
          </a:prstGeom>
          <a:noFill/>
        </p:spPr>
        <p:txBody>
          <a:bodyPr wrap="square" lIns="0" rIns="0" tIns="0" bIns="0" anchor="t">
            <a:spAutoFit/>
          </a:bodyPr>
          <a:lstStyle/>
          <a:p>
            <a:pPr algn="l">
              <a:lnSpc>
                <a:spcPts val="1350"/>
              </a:lnSpc>
            </a:pPr>
            <a:r>
              <a:rPr b="0" sz="900" i="0" u="none">
                <a:solidFill>
                  <a:srgbClr val="64748B"/>
                </a:solidFill>
                <a:latin typeface="Plus Jakarta Sans"/>
              </a:rPr>
              <a:t>* Lớp hậu xử lý tách biệt giúp lỗi Socratic/Feedback không làm nghẽn API QA chính.</a:t>
            </a:r>
          </a:p>
        </p:txBody>
      </p:sp>
      <p:pic>
        <p:nvPicPr>
          <p:cNvPr id="7" name="Picture 6" descr="image.png"/>
          <p:cNvPicPr>
            <a:picLocks noChangeAspect="1"/>
          </p:cNvPicPr>
          <p:nvPr/>
        </p:nvPicPr>
        <p:blipFill>
          <a:blip r:embed="rId5"/>
          <a:stretch>
            <a:fillRect/>
          </a:stretch>
        </p:blipFill>
        <p:spPr>
          <a:xfrm>
            <a:off x="6096000" y="0"/>
            <a:ext cx="6096000" cy="6858000"/>
          </a:xfrm>
          <a:prstGeom prst="rect">
            <a:avLst/>
          </a:prstGeom>
        </p:spPr>
      </p:pic>
      <p:sp>
        <p:nvSpPr>
          <p:cNvPr id="8" name="TextBox 7"/>
          <p:cNvSpPr txBox="1"/>
          <p:nvPr/>
        </p:nvSpPr>
        <p:spPr>
          <a:xfrm>
            <a:off x="771525" y="1257300"/>
            <a:ext cx="4860607" cy="200025"/>
          </a:xfrm>
          <a:prstGeom prst="rect">
            <a:avLst/>
          </a:prstGeom>
          <a:noFill/>
        </p:spPr>
        <p:txBody>
          <a:bodyPr wrap="square" lIns="0" rIns="0" tIns="0" bIns="0" anchor="t">
            <a:spAutoFit/>
          </a:bodyPr>
          <a:lstStyle/>
          <a:p>
            <a:pPr algn="l"/>
            <a:r>
              <a:rPr b="1" sz="1200" i="0" u="none">
                <a:solidFill>
                  <a:srgbClr val="1E293B"/>
                </a:solidFill>
                <a:latin typeface="Space Grotesk"/>
              </a:rPr>
              <a:t>Luồng Xử lý Trực tuyến (Online Flow)</a:t>
            </a:r>
          </a:p>
        </p:txBody>
      </p:sp>
      <p:sp>
        <p:nvSpPr>
          <p:cNvPr id="9" name="TextBox 8"/>
          <p:cNvSpPr txBox="1"/>
          <p:nvPr/>
        </p:nvSpPr>
        <p:spPr>
          <a:xfrm>
            <a:off x="771525" y="1552575"/>
            <a:ext cx="4629150" cy="557212"/>
          </a:xfrm>
          <a:prstGeom prst="rect">
            <a:avLst/>
          </a:prstGeom>
          <a:noFill/>
        </p:spPr>
        <p:txBody>
          <a:bodyPr wrap="square" lIns="0" rIns="0" tIns="0" bIns="0" anchor="t">
            <a:spAutoFit/>
          </a:bodyPr>
          <a:lstStyle/>
          <a:p>
            <a:pPr algn="l">
              <a:lnSpc>
                <a:spcPts val="1462"/>
              </a:lnSpc>
            </a:pPr>
            <a:r>
              <a:rPr b="1" sz="975" i="0" u="none">
                <a:solidFill>
                  <a:srgbClr val="334155"/>
                </a:solidFill>
                <a:latin typeface="Plus Jakarta Sans"/>
              </a:rPr>
              <a:t>React Chat UI</a:t>
            </a:r>
            <a:r>
              <a:rPr b="0" sz="975" i="0" u="none">
                <a:solidFill>
                  <a:srgbClr val="334155"/>
                </a:solidFill>
                <a:latin typeface="Plus Jakarta Sans"/>
              </a:rPr>
              <a:t> → </a:t>
            </a:r>
            <a:r>
              <a:rPr b="1" sz="975" i="0" u="none">
                <a:solidFill>
                  <a:srgbClr val="334155"/>
                </a:solidFill>
                <a:latin typeface="Plus Jakarta Sans"/>
              </a:rPr>
              <a:t>HTTP API Gateway</a:t>
            </a:r>
            <a:r>
              <a:rPr b="0" sz="975" i="0" u="none">
                <a:solidFill>
                  <a:srgbClr val="334155"/>
                </a:solidFill>
                <a:latin typeface="Plus Jakarta Sans"/>
              </a:rPr>
              <a:t> (Port 8000) → </a:t>
            </a:r>
            <a:r>
              <a:rPr b="1" sz="975" i="0" u="none">
                <a:solidFill>
                  <a:srgbClr val="334155"/>
                </a:solidFill>
                <a:latin typeface="Plus Jakarta Sans"/>
              </a:rPr>
              <a:t>Retriever Pool</a:t>
            </a:r>
            <a:r>
              <a:rPr b="0" sz="975" i="0" u="none">
                <a:solidFill>
                  <a:srgbClr val="334155"/>
                </a:solidFill>
                <a:latin typeface="Plus Jakarta Sans"/>
              </a:rPr>
              <a:t> (BM25/Dense/Hybrid) → </a:t>
            </a:r>
            <a:r>
              <a:rPr b="1" sz="975" i="0" u="none">
                <a:solidFill>
                  <a:srgbClr val="334155"/>
                </a:solidFill>
                <a:latin typeface="Plus Jakarta Sans"/>
              </a:rPr>
              <a:t>Reader Layer</a:t>
            </a:r>
            <a:r>
              <a:rPr b="0" sz="975" i="0" u="none">
                <a:solidFill>
                  <a:srgbClr val="334155"/>
                </a:solidFill>
                <a:latin typeface="Plus Jakarta Sans"/>
              </a:rPr>
              <a:t> (XLM-R Extractive / LFM2.5 Generative) → </a:t>
            </a:r>
            <a:r>
              <a:rPr b="1" sz="975" i="0" u="none">
                <a:solidFill>
                  <a:srgbClr val="334155"/>
                </a:solidFill>
                <a:latin typeface="Plus Jakarta Sans"/>
              </a:rPr>
              <a:t>Semantic Gate Cascade</a:t>
            </a:r>
            <a:r>
              <a:rPr b="0" sz="975" i="0" u="none">
                <a:solidFill>
                  <a:srgbClr val="334155"/>
                </a:solidFill>
                <a:latin typeface="Plus Jakarta Sans"/>
              </a:rPr>
              <a:t> → </a:t>
            </a:r>
            <a:r>
              <a:rPr b="1" sz="975" i="0" u="none">
                <a:solidFill>
                  <a:srgbClr val="334155"/>
                </a:solidFill>
                <a:latin typeface="Plus Jakarta Sans"/>
              </a:rPr>
              <a:t>Final Answer + Source</a:t>
            </a:r>
            <a:r>
              <a:rPr b="0" sz="975" i="0" u="none">
                <a:solidFill>
                  <a:srgbClr val="334155"/>
                </a:solidFill>
                <a:latin typeface="Plus Jakarta Sans"/>
              </a:rPr>
              <a:t>.</a:t>
            </a:r>
          </a:p>
        </p:txBody>
      </p:sp>
      <p:sp>
        <p:nvSpPr>
          <p:cNvPr id="10" name="TextBox 9"/>
          <p:cNvSpPr txBox="1"/>
          <p:nvPr/>
        </p:nvSpPr>
        <p:spPr>
          <a:xfrm>
            <a:off x="771525" y="2738437"/>
            <a:ext cx="4860607" cy="200025"/>
          </a:xfrm>
          <a:prstGeom prst="rect">
            <a:avLst/>
          </a:prstGeom>
          <a:noFill/>
        </p:spPr>
        <p:txBody>
          <a:bodyPr wrap="square" lIns="0" rIns="0" tIns="0" bIns="0" anchor="t">
            <a:spAutoFit/>
          </a:bodyPr>
          <a:lstStyle/>
          <a:p>
            <a:pPr algn="l"/>
            <a:r>
              <a:rPr b="1" sz="1200" i="0" u="none">
                <a:solidFill>
                  <a:srgbClr val="1E293B"/>
                </a:solidFill>
                <a:latin typeface="Space Grotesk"/>
              </a:rPr>
              <a:t>Hai Lớp Hậu xử lý Độc lập</a:t>
            </a:r>
          </a:p>
        </p:txBody>
      </p:sp>
      <p:sp>
        <p:nvSpPr>
          <p:cNvPr id="11" name="TextBox 10"/>
          <p:cNvSpPr txBox="1"/>
          <p:nvPr/>
        </p:nvSpPr>
        <p:spPr>
          <a:xfrm>
            <a:off x="857250" y="3033712"/>
            <a:ext cx="85725" cy="228600"/>
          </a:xfrm>
          <a:prstGeom prst="rect">
            <a:avLst/>
          </a:prstGeom>
          <a:noFill/>
        </p:spPr>
        <p:txBody>
          <a:bodyPr wrap="square" lIns="0" rIns="0" tIns="0" bIns="0" anchor="t">
            <a:spAutoFit/>
          </a:bodyPr>
          <a:lstStyle/>
          <a:p>
            <a:pPr algn="l"/>
            <a:r>
              <a:rPr b="0" sz="1200" i="0" u="none">
                <a:solidFill>
                  <a:srgbClr val="334155"/>
                </a:solidFill>
                <a:latin typeface="Plus Jakarta Sans"/>
              </a:rPr>
              <a:t>•</a:t>
            </a:r>
          </a:p>
        </p:txBody>
      </p:sp>
      <p:sp>
        <p:nvSpPr>
          <p:cNvPr id="12" name="TextBox 11"/>
          <p:cNvSpPr txBox="1"/>
          <p:nvPr/>
        </p:nvSpPr>
        <p:spPr>
          <a:xfrm>
            <a:off x="942975" y="3033712"/>
            <a:ext cx="4457700" cy="228600"/>
          </a:xfrm>
          <a:prstGeom prst="rect">
            <a:avLst/>
          </a:prstGeom>
          <a:noFill/>
        </p:spPr>
        <p:txBody>
          <a:bodyPr wrap="square" lIns="85725" rIns="0" tIns="0" bIns="0" anchor="t">
            <a:spAutoFit/>
          </a:bodyPr>
          <a:lstStyle/>
          <a:p>
            <a:pPr algn="l">
              <a:lnSpc>
                <a:spcPts val="1800"/>
              </a:lnSpc>
            </a:pPr>
            <a:r>
              <a:rPr b="1" sz="1200" i="0" u="none">
                <a:solidFill>
                  <a:srgbClr val="334155"/>
                </a:solidFill>
                <a:latin typeface="Plus Jakarta Sans"/>
              </a:rPr>
              <a:t>Socratic Follow-ups:</a:t>
            </a:r>
            <a:r>
              <a:rPr b="0" sz="1200" i="0" u="none">
                <a:solidFill>
                  <a:srgbClr val="334155"/>
                </a:solidFill>
                <a:latin typeface="Plus Jakarta Sans"/>
              </a:rPr>
              <a:t> Gợi mở câu hỏi 1-hop grounded.</a:t>
            </a:r>
          </a:p>
        </p:txBody>
      </p:sp>
      <p:sp>
        <p:nvSpPr>
          <p:cNvPr id="13" name="TextBox 12"/>
          <p:cNvSpPr txBox="1"/>
          <p:nvPr/>
        </p:nvSpPr>
        <p:spPr>
          <a:xfrm>
            <a:off x="857250" y="3262312"/>
            <a:ext cx="85725" cy="228600"/>
          </a:xfrm>
          <a:prstGeom prst="rect">
            <a:avLst/>
          </a:prstGeom>
          <a:noFill/>
        </p:spPr>
        <p:txBody>
          <a:bodyPr wrap="square" lIns="0" rIns="0" tIns="0" bIns="0" anchor="t">
            <a:spAutoFit/>
          </a:bodyPr>
          <a:lstStyle/>
          <a:p>
            <a:pPr algn="l"/>
            <a:r>
              <a:rPr b="0" sz="1200" i="0" u="none">
                <a:solidFill>
                  <a:srgbClr val="334155"/>
                </a:solidFill>
                <a:latin typeface="Plus Jakarta Sans"/>
              </a:rPr>
              <a:t>•</a:t>
            </a:r>
          </a:p>
        </p:txBody>
      </p:sp>
      <p:sp>
        <p:nvSpPr>
          <p:cNvPr id="14" name="TextBox 13"/>
          <p:cNvSpPr txBox="1"/>
          <p:nvPr/>
        </p:nvSpPr>
        <p:spPr>
          <a:xfrm>
            <a:off x="942975" y="3262312"/>
            <a:ext cx="4457700" cy="228600"/>
          </a:xfrm>
          <a:prstGeom prst="rect">
            <a:avLst/>
          </a:prstGeom>
          <a:noFill/>
        </p:spPr>
        <p:txBody>
          <a:bodyPr wrap="square" lIns="85725" rIns="0" tIns="0" bIns="0" anchor="t">
            <a:spAutoFit/>
          </a:bodyPr>
          <a:lstStyle/>
          <a:p>
            <a:pPr algn="l">
              <a:lnSpc>
                <a:spcPts val="1800"/>
              </a:lnSpc>
            </a:pPr>
            <a:r>
              <a:rPr b="1" sz="1200" i="0" u="none">
                <a:solidFill>
                  <a:srgbClr val="334155"/>
                </a:solidFill>
                <a:latin typeface="Plus Jakarta Sans"/>
              </a:rPr>
              <a:t>Human Feedback Review Queue:</a:t>
            </a:r>
            <a:r>
              <a:rPr b="0" sz="1200" i="0" u="none">
                <a:solidFill>
                  <a:srgbClr val="334155"/>
                </a:solidFill>
                <a:latin typeface="Plus Jakarta Sans"/>
              </a:rPr>
              <a:t> Lưu trữ tại SQLite WAL.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4467225"/>
            <a:ext cx="11125200" cy="661987"/>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Bốn Phương pháp Retriever được Hỗ trợ</a:t>
            </a:r>
          </a:p>
        </p:txBody>
      </p:sp>
      <p:pic>
        <p:nvPicPr>
          <p:cNvPr id="5" name="Picture 4" descr="image.png"/>
          <p:cNvPicPr>
            <a:picLocks noChangeAspect="1"/>
          </p:cNvPicPr>
          <p:nvPr/>
        </p:nvPicPr>
        <p:blipFill>
          <a:blip r:embed="rId4"/>
          <a:stretch>
            <a:fillRect/>
          </a:stretch>
        </p:blipFill>
        <p:spPr>
          <a:xfrm>
            <a:off x="10558462" y="519112"/>
            <a:ext cx="1100137" cy="285750"/>
          </a:xfrm>
          <a:prstGeom prst="rect">
            <a:avLst/>
          </a:prstGeom>
        </p:spPr>
      </p:pic>
      <p:graphicFrame>
        <p:nvGraphicFramePr>
          <p:cNvPr id="6" name="Table 5"/>
          <p:cNvGraphicFramePr>
            <a:graphicFrameLocks noGrp="1"/>
          </p:cNvGraphicFramePr>
          <p:nvPr/>
        </p:nvGraphicFramePr>
        <p:xfrm>
          <a:off x="533400" y="1209675"/>
          <a:ext cx="11125198" cy="3105150"/>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107281"/>
                <a:gridCol w="3912393"/>
                <a:gridCol w="2837854"/>
                <a:gridCol w="3267670"/>
              </a:tblGrid>
              <a:tr h="621030">
                <a:tc>
                  <a:txBody>
                    <a:bodyPr/>
                    <a:lstStyle/>
                    <a:p>
                      <a:pPr algn="l"/>
                      <a:r>
                        <a:rPr b="0" sz="1050" i="0" u="none">
                          <a:solidFill>
                            <a:srgbClr val="FFFFFF"/>
                          </a:solidFill>
                          <a:latin typeface="Plus Jakarta Sans SemiBold"/>
                        </a:rPr>
                        <a:t>Phương pháp</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Nguyên lý Hoạt động</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Ưu điểm Nổi bật</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Hạn chế / Chi phí</a:t>
                      </a:r>
                    </a:p>
                  </a:txBody>
                  <a:tcPr anchor="ctr" marL="63500" marR="63500" marT="25400" marB="25400">
                    <a:lnL>
                      <a:noFill/>
                    </a:lnL>
                    <a:lnR>
                      <a:noFill/>
                    </a:lnR>
                    <a:lnT>
                      <a:noFill/>
                    </a:lnT>
                    <a:lnB>
                      <a:noFill/>
                    </a:lnB>
                    <a:solidFill>
                      <a:srgbClr val="0F172A"/>
                    </a:solidFill>
                  </a:tcPr>
                </a:tc>
              </a:tr>
              <a:tr h="621030">
                <a:tc>
                  <a:txBody>
                    <a:bodyPr/>
                    <a:lstStyle/>
                    <a:p>
                      <a:pPr algn="l"/>
                      <a:r>
                        <a:rPr b="1" sz="1050" i="0" u="none">
                          <a:solidFill>
                            <a:srgbClr val="334155"/>
                          </a:solidFill>
                          <a:latin typeface="Plus Jakarta Sans"/>
                        </a:rPr>
                        <a:t>TF-IDF</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Vector thưa dựa trên TF &amp; IDF (unigram + bigram, DrQA style)</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Cực kỳ nhẹ, đơn giản, dễ giải thích</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Không hiểu ngữ nghĩa, yếu với từ đồng nghĩa</a:t>
                      </a:r>
                    </a:p>
                  </a:txBody>
                  <a:tcPr anchor="ctr" marL="63500" marR="63500" marT="25400" marB="25400">
                    <a:lnL>
                      <a:noFill/>
                    </a:lnL>
                    <a:lnR>
                      <a:noFill/>
                    </a:lnR>
                    <a:lnT>
                      <a:noFill/>
                    </a:lnT>
                    <a:lnB>
                      <a:noFill/>
                    </a:lnB>
                    <a:noFill/>
                  </a:tcPr>
                </a:tc>
              </a:tr>
              <a:tr h="621030">
                <a:tc>
                  <a:txBody>
                    <a:bodyPr/>
                    <a:lstStyle/>
                    <a:p>
                      <a:pPr algn="l"/>
                      <a:r>
                        <a:rPr b="1" sz="1050" i="0" u="none">
                          <a:solidFill>
                            <a:srgbClr val="334155"/>
                          </a:solidFill>
                          <a:latin typeface="Plus Jakarta Sans"/>
                        </a:rPr>
                        <a:t>BM25</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BM25 Okapi ($k_1=1.5, b=0.75$) + Title match + Lead boost</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Truy hồi từ khóa chính xác, độ tin cậy cao</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Bỏ sót các câu hỏi paraphrase ngữ nghĩa</a:t>
                      </a:r>
                    </a:p>
                  </a:txBody>
                  <a:tcPr anchor="ctr" marL="63500" marR="63500" marT="25400" marB="25400">
                    <a:lnL>
                      <a:noFill/>
                    </a:lnL>
                    <a:lnR>
                      <a:noFill/>
                    </a:lnR>
                    <a:lnT>
                      <a:noFill/>
                    </a:lnT>
                    <a:lnB>
                      <a:noFill/>
                    </a:lnB>
                    <a:solidFill>
                      <a:srgbClr val="F8FAFC"/>
                    </a:solidFill>
                  </a:tcPr>
                </a:tc>
              </a:tr>
              <a:tr h="621030">
                <a:tc>
                  <a:txBody>
                    <a:bodyPr/>
                    <a:lstStyle/>
                    <a:p>
                      <a:pPr algn="l"/>
                      <a:r>
                        <a:rPr b="1" sz="1050" i="0" u="none">
                          <a:solidFill>
                            <a:srgbClr val="334155"/>
                          </a:solidFill>
                          <a:latin typeface="Plus Jakarta Sans"/>
                        </a:rPr>
                        <a:t>Dense</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vietnamese-sbert</a:t>
                      </a:r>
                      <a:r>
                        <a:rPr b="0" sz="1050" i="0" u="none">
                          <a:solidFill>
                            <a:srgbClr val="334155"/>
                          </a:solidFill>
                          <a:latin typeface="Plus Jakarta Sans"/>
                        </a:rPr>
                        <a:t> + Cosine similarity (FAISS offline)</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Bắt được ngữ nghĩa sâu, khớp paraphrase tốt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Tốn VRAM/RAM, nhạy cảm với dữ liệu out-of-domain</a:t>
                      </a:r>
                    </a:p>
                  </a:txBody>
                  <a:tcPr anchor="ctr" marL="63500" marR="63500" marT="25400" marB="25400">
                    <a:lnL>
                      <a:noFill/>
                    </a:lnL>
                    <a:lnR>
                      <a:noFill/>
                    </a:lnR>
                    <a:lnT>
                      <a:noFill/>
                    </a:lnT>
                    <a:lnB>
                      <a:noFill/>
                    </a:lnB>
                    <a:noFill/>
                  </a:tcPr>
                </a:tc>
              </a:tr>
              <a:tr h="621030">
                <a:tc>
                  <a:txBody>
                    <a:bodyPr/>
                    <a:lstStyle/>
                    <a:p>
                      <a:pPr algn="l"/>
                      <a:r>
                        <a:rPr b="1" sz="1050" i="0" u="none">
                          <a:solidFill>
                            <a:srgbClr val="334155"/>
                          </a:solidFill>
                          <a:latin typeface="Plus Jakarta Sans"/>
                        </a:rPr>
                        <a:t>Hybrid</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Hợp nhất BM25 + Dense bằng Reciprocal Rank Fusion ($K=60$)</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Kết hợp cả độ chính xác từ khóa và ngữ nghĩa</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Chi phí tính toán cao hơn, QPS giảm còn 44.8</a:t>
                      </a:r>
                    </a:p>
                  </a:txBody>
                  <a:tcPr anchor="ctr" marL="63500" marR="63500" marT="25400" marB="25400">
                    <a:lnL>
                      <a:noFill/>
                    </a:lnL>
                    <a:lnR>
                      <a:noFill/>
                    </a:lnR>
                    <a:lnT>
                      <a:noFill/>
                    </a:lnT>
                    <a:lnB>
                      <a:noFill/>
                    </a:lnB>
                    <a:solidFill>
                      <a:srgbClr val="EFF6FF"/>
                    </a:solidFill>
                  </a:tcPr>
                </a:tc>
              </a:tr>
            </a:tbl>
          </a:graphicData>
        </a:graphic>
      </p:graphicFrame>
      <p:sp>
        <p:nvSpPr>
          <p:cNvPr id="7" name="TextBox 6"/>
          <p:cNvSpPr txBox="1"/>
          <p:nvPr/>
        </p:nvSpPr>
        <p:spPr>
          <a:xfrm>
            <a:off x="771525" y="4705350"/>
            <a:ext cx="10648950" cy="185737"/>
          </a:xfrm>
          <a:prstGeom prst="rect">
            <a:avLst/>
          </a:prstGeom>
          <a:noFill/>
        </p:spPr>
        <p:txBody>
          <a:bodyPr wrap="square" lIns="0" rIns="0" tIns="0" bIns="0" anchor="t">
            <a:spAutoFit/>
          </a:bodyPr>
          <a:lstStyle/>
          <a:p>
            <a:pPr algn="l">
              <a:lnSpc>
                <a:spcPts val="1462"/>
              </a:lnSpc>
            </a:pPr>
            <a:r>
              <a:rPr b="1" sz="975" i="0" u="none">
                <a:solidFill>
                  <a:srgbClr val="334155"/>
                </a:solidFill>
                <a:latin typeface="Plus Jakarta Sans"/>
              </a:rPr>
              <a:t>Công thức RRF:</a:t>
            </a:r>
            <a:r>
              <a:rPr b="0" sz="975" i="0" u="none">
                <a:solidFill>
                  <a:srgbClr val="334155"/>
                </a:solidFill>
                <a:latin typeface="Plus Jakarta Sans"/>
              </a:rPr>
              <a:t> $RRF(d) = \frac{1}{60 + r_{BM25}(d)} + \frac{1}{60 + r_{Dense}(d)}$. Điểm số sau đó được Min-Max Normalize trong Top-K Candidate Pool.</a:t>
            </a:r>
          </a:p>
        </p:txBody>
      </p:sp>
      <p:sp>
        <p:nvSpPr>
          <p:cNvPr id="8" name="Rectangle 7"/>
          <p:cNvSpPr/>
          <p:nvPr/>
        </p:nvSpPr>
        <p:spPr>
          <a:xfrm>
            <a:off x="533400" y="2443162"/>
            <a:ext cx="11072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40681" y="2443162"/>
            <a:ext cx="39123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53075" y="2443162"/>
            <a:ext cx="28378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90929" y="2443162"/>
            <a:ext cx="32676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3400" y="3062287"/>
            <a:ext cx="11072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40681" y="3062287"/>
            <a:ext cx="39123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53075" y="3062287"/>
            <a:ext cx="28378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90929" y="3062287"/>
            <a:ext cx="32676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3400" y="3681412"/>
            <a:ext cx="11072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40681" y="3681412"/>
            <a:ext cx="39123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53075" y="3681412"/>
            <a:ext cx="28378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90929" y="3681412"/>
            <a:ext cx="32676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4300537"/>
            <a:ext cx="11072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0681" y="4300537"/>
            <a:ext cx="391239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53075" y="4300537"/>
            <a:ext cx="28378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90929" y="4300537"/>
            <a:ext cx="32676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505200"/>
            <a:ext cx="5429250" cy="1190625"/>
          </a:xfrm>
          <a:prstGeom prst="rect">
            <a:avLst/>
          </a:prstGeom>
        </p:spPr>
      </p:pic>
      <p:pic>
        <p:nvPicPr>
          <p:cNvPr id="4" name="Picture 3" descr="image.png"/>
          <p:cNvPicPr>
            <a:picLocks noChangeAspect="1"/>
          </p:cNvPicPr>
          <p:nvPr/>
        </p:nvPicPr>
        <p:blipFill>
          <a:blip r:embed="rId4"/>
          <a:stretch>
            <a:fillRect/>
          </a:stretch>
        </p:blipFill>
        <p:spPr>
          <a:xfrm>
            <a:off x="6229350" y="3505200"/>
            <a:ext cx="5429250" cy="1190625"/>
          </a:xfrm>
          <a:prstGeom prst="rect">
            <a:avLst/>
          </a:prstGeom>
        </p:spPr>
      </p:pic>
      <p:sp>
        <p:nvSpPr>
          <p:cNvPr id="5" name="TextBox 4"/>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Kết quả Benchmark Retriever trên 7,301 Câu hỏi Test</a:t>
            </a:r>
          </a:p>
        </p:txBody>
      </p:sp>
      <p:pic>
        <p:nvPicPr>
          <p:cNvPr id="6" name="Picture 5" descr="image.png"/>
          <p:cNvPicPr>
            <a:picLocks noChangeAspect="1"/>
          </p:cNvPicPr>
          <p:nvPr/>
        </p:nvPicPr>
        <p:blipFill>
          <a:blip r:embed="rId5"/>
          <a:stretch>
            <a:fillRect/>
          </a:stretch>
        </p:blipFill>
        <p:spPr>
          <a:xfrm>
            <a:off x="10848975" y="519112"/>
            <a:ext cx="809625" cy="285750"/>
          </a:xfrm>
          <a:prstGeom prst="rect">
            <a:avLst/>
          </a:prstGeom>
        </p:spPr>
      </p:pic>
      <p:graphicFrame>
        <p:nvGraphicFramePr>
          <p:cNvPr id="7" name="Table 6"/>
          <p:cNvGraphicFramePr>
            <a:graphicFrameLocks noGrp="1"/>
          </p:cNvGraphicFramePr>
          <p:nvPr/>
        </p:nvGraphicFramePr>
        <p:xfrm>
          <a:off x="533400" y="1209675"/>
          <a:ext cx="11125198" cy="21050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336750"/>
                <a:gridCol w="1015900"/>
                <a:gridCol w="1473100"/>
                <a:gridCol w="1524000"/>
                <a:gridCol w="1524000"/>
                <a:gridCol w="1600200"/>
                <a:gridCol w="1651248"/>
              </a:tblGrid>
              <a:tr h="421005">
                <a:tc>
                  <a:txBody>
                    <a:bodyPr/>
                    <a:lstStyle/>
                    <a:p>
                      <a:pPr algn="l"/>
                      <a:r>
                        <a:rPr b="0" sz="1050" i="0" u="none">
                          <a:solidFill>
                            <a:srgbClr val="FFFFFF"/>
                          </a:solidFill>
                          <a:latin typeface="Plus Jakarta Sans SemiBold"/>
                        </a:rPr>
                        <a:t>Phương pháp</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MRR</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Recall@1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Recall@3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Recall@5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Recall@10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QPS (Query/s)</a:t>
                      </a:r>
                    </a:p>
                  </a:txBody>
                  <a:tcPr anchor="ctr" marL="63500" marR="63500" marT="25400" marB="25400">
                    <a:lnL>
                      <a:noFill/>
                    </a:lnL>
                    <a:lnR>
                      <a:noFill/>
                    </a:lnR>
                    <a:lnT>
                      <a:noFill/>
                    </a:lnT>
                    <a:lnB>
                      <a:noFill/>
                    </a:lnB>
                    <a:solidFill>
                      <a:srgbClr val="0F172A"/>
                    </a:solidFill>
                  </a:tcPr>
                </a:tc>
              </a:tr>
              <a:tr h="421005">
                <a:tc>
                  <a:txBody>
                    <a:bodyPr/>
                    <a:lstStyle/>
                    <a:p>
                      <a:pPr algn="l"/>
                      <a:r>
                        <a:rPr b="1" sz="1050" i="0" u="none">
                          <a:solidFill>
                            <a:srgbClr val="334155"/>
                          </a:solidFill>
                          <a:latin typeface="Plus Jakarta Sans"/>
                        </a:rPr>
                        <a:t>TF-IDF</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0.6512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55.82%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71.21%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76.34%</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81.42%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51.3</a:t>
                      </a:r>
                    </a:p>
                  </a:txBody>
                  <a:tcPr anchor="ctr" marL="63500" marR="63500" marT="25400" marB="25400">
                    <a:lnL>
                      <a:noFill/>
                    </a:lnL>
                    <a:lnR>
                      <a:noFill/>
                    </a:lnR>
                    <a:lnT>
                      <a:noFill/>
                    </a:lnT>
                    <a:lnB>
                      <a:noFill/>
                    </a:lnB>
                    <a:noFill/>
                  </a:tcPr>
                </a:tc>
              </a:tr>
              <a:tr h="421005">
                <a:tc>
                  <a:txBody>
                    <a:bodyPr/>
                    <a:lstStyle/>
                    <a:p>
                      <a:pPr algn="l"/>
                      <a:r>
                        <a:rPr b="1" sz="1050" i="0" u="none">
                          <a:solidFill>
                            <a:srgbClr val="334155"/>
                          </a:solidFill>
                          <a:latin typeface="Plus Jakarta Sans"/>
                        </a:rPr>
                        <a:t>BM25</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0.6856</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59.46%</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74.44%</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79.70%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85.07%</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56.8</a:t>
                      </a:r>
                    </a:p>
                  </a:txBody>
                  <a:tcPr anchor="ctr" marL="63500" marR="63500" marT="25400" marB="25400">
                    <a:lnL>
                      <a:noFill/>
                    </a:lnL>
                    <a:lnR>
                      <a:noFill/>
                    </a:lnR>
                    <a:lnT>
                      <a:noFill/>
                    </a:lnT>
                    <a:lnB>
                      <a:noFill/>
                    </a:lnB>
                    <a:solidFill>
                      <a:srgbClr val="F8FAFC"/>
                    </a:solidFill>
                  </a:tcPr>
                </a:tc>
              </a:tr>
              <a:tr h="421005">
                <a:tc>
                  <a:txBody>
                    <a:bodyPr/>
                    <a:lstStyle/>
                    <a:p>
                      <a:pPr algn="l"/>
                      <a:r>
                        <a:rPr b="1" sz="1050" i="0" u="none">
                          <a:solidFill>
                            <a:srgbClr val="334155"/>
                          </a:solidFill>
                          <a:latin typeface="Plus Jakarta Sans"/>
                        </a:rPr>
                        <a:t>Dense (SBERT)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0.7321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66.54%</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80.12%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85.41%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89.23%</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213.5*</a:t>
                      </a:r>
                    </a:p>
                  </a:txBody>
                  <a:tcPr anchor="ctr" marL="63500" marR="63500" marT="25400" marB="25400">
                    <a:lnL>
                      <a:noFill/>
                    </a:lnL>
                    <a:lnR>
                      <a:noFill/>
                    </a:lnR>
                    <a:lnT>
                      <a:noFill/>
                    </a:lnT>
                    <a:lnB>
                      <a:noFill/>
                    </a:lnB>
                    <a:noFill/>
                  </a:tcPr>
                </a:tc>
              </a:tr>
              <a:tr h="421005">
                <a:tc>
                  <a:txBody>
                    <a:bodyPr/>
                    <a:lstStyle/>
                    <a:p>
                      <a:pPr algn="l"/>
                      <a:r>
                        <a:rPr b="1" sz="1050" i="0" u="none">
                          <a:solidFill>
                            <a:srgbClr val="334155"/>
                          </a:solidFill>
                          <a:latin typeface="Plus Jakarta Sans"/>
                        </a:rPr>
                        <a:t>Hybrid (BM25+Dense)</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0.7682</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69.81%</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83.45%</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88.12%</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91.56%</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44.8</a:t>
                      </a:r>
                    </a:p>
                  </a:txBody>
                  <a:tcPr anchor="ctr" marL="63500" marR="63500" marT="25400" marB="25400">
                    <a:lnL>
                      <a:noFill/>
                    </a:lnL>
                    <a:lnR>
                      <a:noFill/>
                    </a:lnR>
                    <a:lnT>
                      <a:noFill/>
                    </a:lnT>
                    <a:lnB>
                      <a:noFill/>
                    </a:lnB>
                    <a:solidFill>
                      <a:srgbClr val="EFF6FF"/>
                    </a:solidFill>
                  </a:tcPr>
                </a:tc>
              </a:tr>
            </a:tbl>
          </a:graphicData>
        </a:graphic>
      </p:graphicFrame>
      <p:sp>
        <p:nvSpPr>
          <p:cNvPr id="8" name="Rectangle 7"/>
          <p:cNvSpPr/>
          <p:nvPr/>
        </p:nvSpPr>
        <p:spPr>
          <a:xfrm>
            <a:off x="533400" y="2043112"/>
            <a:ext cx="2336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70150" y="2043112"/>
            <a:ext cx="1015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86051" y="2043112"/>
            <a:ext cx="147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59151" y="20431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83151" y="20431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07151" y="2043112"/>
            <a:ext cx="160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07351" y="2043112"/>
            <a:ext cx="165124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3400" y="2462212"/>
            <a:ext cx="2336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70150" y="2462212"/>
            <a:ext cx="1015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86051" y="2462212"/>
            <a:ext cx="147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59151" y="24622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83151" y="24622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07151" y="2462212"/>
            <a:ext cx="160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007351" y="2462212"/>
            <a:ext cx="165124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3400" y="2881312"/>
            <a:ext cx="2336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70150" y="2881312"/>
            <a:ext cx="1015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86051" y="2881312"/>
            <a:ext cx="147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9151" y="28813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83151" y="28813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07151" y="2881312"/>
            <a:ext cx="160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007351" y="2881312"/>
            <a:ext cx="165124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3400" y="3300412"/>
            <a:ext cx="2336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870150" y="3300412"/>
            <a:ext cx="10159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86051" y="3300412"/>
            <a:ext cx="14731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59151" y="33004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83151" y="3300412"/>
            <a:ext cx="1524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07151" y="3300412"/>
            <a:ext cx="1600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07351" y="3300412"/>
            <a:ext cx="165124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525" y="3743325"/>
            <a:ext cx="5200650" cy="247650"/>
          </a:xfrm>
          <a:prstGeom prst="rect">
            <a:avLst/>
          </a:prstGeom>
          <a:noFill/>
        </p:spPr>
        <p:txBody>
          <a:bodyPr wrap="square" lIns="219075" rIns="0" tIns="0" bIns="0" anchor="t">
            <a:spAutoFit/>
          </a:bodyPr>
          <a:lstStyle/>
          <a:p>
            <a:pPr algn="l"/>
            <a:r>
              <a:rPr b="1" sz="1500" i="0" u="none">
                <a:solidFill>
                  <a:srgbClr val="1E293B"/>
                </a:solidFill>
                <a:latin typeface="Space Grotesk"/>
              </a:rPr>
              <a:t>Kết luận Quality</a:t>
            </a:r>
          </a:p>
        </p:txBody>
      </p:sp>
      <p:sp>
        <p:nvSpPr>
          <p:cNvPr id="37" name="TextBox 36"/>
          <p:cNvSpPr txBox="1"/>
          <p:nvPr/>
        </p:nvSpPr>
        <p:spPr>
          <a:xfrm>
            <a:off x="771525" y="4086225"/>
            <a:ext cx="4953000" cy="371475"/>
          </a:xfrm>
          <a:prstGeom prst="rect">
            <a:avLst/>
          </a:prstGeom>
          <a:noFill/>
        </p:spPr>
        <p:txBody>
          <a:bodyPr wrap="square" lIns="0" rIns="0" tIns="0" bIns="0" anchor="t">
            <a:spAutoFit/>
          </a:bodyPr>
          <a:lstStyle/>
          <a:p>
            <a:pPr algn="l">
              <a:lnSpc>
                <a:spcPts val="1462"/>
              </a:lnSpc>
            </a:pPr>
            <a:r>
              <a:rPr b="1" sz="975" i="0" u="none">
                <a:solidFill>
                  <a:srgbClr val="334155"/>
                </a:solidFill>
                <a:latin typeface="Plus Jakarta Sans"/>
              </a:rPr>
              <a:t>Hybrid vượt trội tuyệt đối</a:t>
            </a:r>
            <a:r>
              <a:rPr b="0" sz="975" i="0" u="none">
                <a:solidFill>
                  <a:srgbClr val="334155"/>
                </a:solidFill>
                <a:latin typeface="Plus Jakarta Sans"/>
              </a:rPr>
              <a:t>: Tăng +6.49% Recall@1 và +6.49% Recall@10 so với BM25. Đạt tỷ lệ tìm thấy tài liệu chứa đáp án trong Top 10 tới 91.56%.</a:t>
            </a:r>
          </a:p>
        </p:txBody>
      </p:sp>
      <p:sp>
        <p:nvSpPr>
          <p:cNvPr id="38" name="TextBox 37"/>
          <p:cNvSpPr txBox="1"/>
          <p:nvPr/>
        </p:nvSpPr>
        <p:spPr>
          <a:xfrm>
            <a:off x="6467475" y="3743325"/>
            <a:ext cx="5200650" cy="247650"/>
          </a:xfrm>
          <a:prstGeom prst="rect">
            <a:avLst/>
          </a:prstGeom>
          <a:noFill/>
        </p:spPr>
        <p:txBody>
          <a:bodyPr wrap="square" lIns="190500" rIns="0" tIns="0" bIns="0" anchor="t">
            <a:spAutoFit/>
          </a:bodyPr>
          <a:lstStyle/>
          <a:p>
            <a:pPr algn="l"/>
            <a:r>
              <a:rPr b="1" sz="1500" i="0" u="none">
                <a:solidFill>
                  <a:srgbClr val="1E293B"/>
                </a:solidFill>
                <a:latin typeface="Space Grotesk"/>
              </a:rPr>
              <a:t>QPS &amp; Runtime Note</a:t>
            </a:r>
          </a:p>
        </p:txBody>
      </p:sp>
      <p:sp>
        <p:nvSpPr>
          <p:cNvPr id="39" name="TextBox 38"/>
          <p:cNvSpPr txBox="1"/>
          <p:nvPr/>
        </p:nvSpPr>
        <p:spPr>
          <a:xfrm>
            <a:off x="6467475" y="4086225"/>
            <a:ext cx="495300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*QPS của Dense cao (213.5) do đo trên FAISS index đã precompute offline. Số liệu này chưa bao gồm thời gian nạp mô hình Embedding trên CPU ở Runtime.</a:t>
            </a:r>
          </a:p>
        </p:txBody>
      </p:sp>
      <p:pic>
        <p:nvPicPr>
          <p:cNvPr id="40" name="Picture 39" descr="image.png"/>
          <p:cNvPicPr>
            <a:picLocks noChangeAspect="1"/>
          </p:cNvPicPr>
          <p:nvPr/>
        </p:nvPicPr>
        <p:blipFill>
          <a:blip r:embed="rId6"/>
          <a:stretch>
            <a:fillRect/>
          </a:stretch>
        </p:blipFill>
        <p:spPr>
          <a:xfrm>
            <a:off x="771525" y="3771900"/>
            <a:ext cx="219075" cy="190500"/>
          </a:xfrm>
          <a:prstGeom prst="rect">
            <a:avLst/>
          </a:prstGeom>
        </p:spPr>
      </p:pic>
      <p:pic>
        <p:nvPicPr>
          <p:cNvPr id="41" name="Picture 40" descr="image.png"/>
          <p:cNvPicPr>
            <a:picLocks noChangeAspect="1"/>
          </p:cNvPicPr>
          <p:nvPr/>
        </p:nvPicPr>
        <p:blipFill>
          <a:blip r:embed="rId7"/>
          <a:stretch>
            <a:fillRect/>
          </a:stretch>
        </p:blipFill>
        <p:spPr>
          <a:xfrm>
            <a:off x="6467475" y="3771900"/>
            <a:ext cx="190500" cy="190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581400"/>
            <a:ext cx="11125200" cy="1219200"/>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Ma trận Quyết định Lựa chọn Retriever</a:t>
            </a:r>
          </a:p>
        </p:txBody>
      </p:sp>
      <p:pic>
        <p:nvPicPr>
          <p:cNvPr id="5" name="Picture 4" descr="image.png"/>
          <p:cNvPicPr>
            <a:picLocks noChangeAspect="1"/>
          </p:cNvPicPr>
          <p:nvPr/>
        </p:nvPicPr>
        <p:blipFill>
          <a:blip r:embed="rId4"/>
          <a:stretch>
            <a:fillRect/>
          </a:stretch>
        </p:blipFill>
        <p:spPr>
          <a:xfrm>
            <a:off x="10820400" y="519112"/>
            <a:ext cx="838200" cy="285750"/>
          </a:xfrm>
          <a:prstGeom prst="rect">
            <a:avLst/>
          </a:prstGeom>
        </p:spPr>
      </p:pic>
      <p:graphicFrame>
        <p:nvGraphicFramePr>
          <p:cNvPr id="6" name="Table 5"/>
          <p:cNvGraphicFramePr>
            <a:graphicFrameLocks noGrp="1"/>
          </p:cNvGraphicFramePr>
          <p:nvPr/>
        </p:nvGraphicFramePr>
        <p:xfrm>
          <a:off x="533400" y="1209675"/>
          <a:ext cx="11125198" cy="21812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165175"/>
                <a:gridCol w="2600325"/>
                <a:gridCol w="2146399"/>
                <a:gridCol w="3139975"/>
                <a:gridCol w="2073324"/>
              </a:tblGrid>
              <a:tr h="436245">
                <a:tc>
                  <a:txBody>
                    <a:bodyPr/>
                    <a:lstStyle/>
                    <a:p>
                      <a:pPr algn="l"/>
                      <a:r>
                        <a:rPr b="0" sz="1050" i="0" u="none">
                          <a:solidFill>
                            <a:srgbClr val="FFFFFF"/>
                          </a:solidFill>
                          <a:latin typeface="Plus Jakarta Sans SemiBold"/>
                        </a:rPr>
                        <a:t>Retriever</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Chất lượng (MRR/R@10)</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Tốc độ / Chi phí</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Thế mạnh chính</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Hạn chế / Quyết định</a:t>
                      </a:r>
                    </a:p>
                  </a:txBody>
                  <a:tcPr anchor="ctr" marL="63500" marR="63500" marT="25400" marB="25400">
                    <a:lnL>
                      <a:noFill/>
                    </a:lnL>
                    <a:lnR>
                      <a:noFill/>
                    </a:lnR>
                    <a:lnT>
                      <a:noFill/>
                    </a:lnT>
                    <a:lnB>
                      <a:noFill/>
                    </a:lnB>
                    <a:solidFill>
                      <a:srgbClr val="0F172A"/>
                    </a:solidFill>
                  </a:tcPr>
                </a:tc>
              </a:tr>
              <a:tr h="436245">
                <a:tc>
                  <a:txBody>
                    <a:bodyPr/>
                    <a:lstStyle/>
                    <a:p>
                      <a:pPr algn="l"/>
                      <a:r>
                        <a:rPr b="1" sz="1050" i="0" u="none">
                          <a:solidFill>
                            <a:srgbClr val="334155"/>
                          </a:solidFill>
                          <a:latin typeface="Plus Jakarta Sans"/>
                        </a:rPr>
                        <a:t>TF-IDF</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Thấp (0.6512 / 81.4%)</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Rất nhanh / Nhẹ</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Đơn giản, không phụ thuộc GPU</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Không chọn</a:t>
                      </a:r>
                    </a:p>
                  </a:txBody>
                  <a:tcPr anchor="ctr" marL="63500" marR="63500" marT="25400" marB="25400">
                    <a:lnL>
                      <a:noFill/>
                    </a:lnL>
                    <a:lnR>
                      <a:noFill/>
                    </a:lnR>
                    <a:lnT>
                      <a:noFill/>
                    </a:lnT>
                    <a:lnB>
                      <a:noFill/>
                    </a:lnB>
                    <a:noFill/>
                  </a:tcPr>
                </a:tc>
              </a:tr>
              <a:tr h="436245">
                <a:tc>
                  <a:txBody>
                    <a:bodyPr/>
                    <a:lstStyle/>
                    <a:p>
                      <a:pPr algn="l"/>
                      <a:r>
                        <a:rPr b="1" sz="1050" i="0" u="none">
                          <a:solidFill>
                            <a:srgbClr val="334155"/>
                          </a:solidFill>
                          <a:latin typeface="Plus Jakarta Sans"/>
                        </a:rPr>
                        <a:t>BM25</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Khá (0.6856 / 85.1%)</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Nhanh (56.8 QPS)</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Từ khóa chính xác, khởi động tức thì</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Mặc định Runtime UI</a:t>
                      </a:r>
                    </a:p>
                  </a:txBody>
                  <a:tcPr anchor="ctr" marL="63500" marR="63500" marT="25400" marB="25400">
                    <a:lnL>
                      <a:noFill/>
                    </a:lnL>
                    <a:lnR>
                      <a:noFill/>
                    </a:lnR>
                    <a:lnT>
                      <a:noFill/>
                    </a:lnT>
                    <a:lnB>
                      <a:noFill/>
                    </a:lnB>
                    <a:solidFill>
                      <a:srgbClr val="F8FAFC"/>
                    </a:solidFill>
                  </a:tcPr>
                </a:tc>
              </a:tr>
              <a:tr h="436245">
                <a:tc>
                  <a:txBody>
                    <a:bodyPr/>
                    <a:lstStyle/>
                    <a:p>
                      <a:pPr algn="l"/>
                      <a:r>
                        <a:rPr b="1" sz="1050" i="0" u="none">
                          <a:solidFill>
                            <a:srgbClr val="334155"/>
                          </a:solidFill>
                          <a:latin typeface="Plus Jakarta Sans"/>
                        </a:rPr>
                        <a:t>Dense</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Tốt (0.7321 / 89.2%)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Tốn Memory CPU</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Hiểu ngữ nghĩa, chống sai biệt từ</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Tùy chọn nâng cao</a:t>
                      </a:r>
                    </a:p>
                  </a:txBody>
                  <a:tcPr anchor="ctr" marL="63500" marR="63500" marT="25400" marB="25400">
                    <a:lnL>
                      <a:noFill/>
                    </a:lnL>
                    <a:lnR>
                      <a:noFill/>
                    </a:lnR>
                    <a:lnT>
                      <a:noFill/>
                    </a:lnT>
                    <a:lnB>
                      <a:noFill/>
                    </a:lnB>
                    <a:noFill/>
                  </a:tcPr>
                </a:tc>
              </a:tr>
              <a:tr h="436245">
                <a:tc>
                  <a:txBody>
                    <a:bodyPr/>
                    <a:lstStyle/>
                    <a:p>
                      <a:pPr algn="l"/>
                      <a:r>
                        <a:rPr b="1" sz="1050" i="0" u="none">
                          <a:solidFill>
                            <a:srgbClr val="334155"/>
                          </a:solidFill>
                          <a:latin typeface="Plus Jakarta Sans"/>
                        </a:rPr>
                        <a:t>Hybrid</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Cao nhất (0.7682 / 91.6%)</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Chậm hơn (44.8 QPS)</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Toàn diện nhất về chất lượng</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Mặc định Benchmark</a:t>
                      </a:r>
                    </a:p>
                  </a:txBody>
                  <a:tcPr anchor="ctr" marL="63500" marR="63500" marT="25400" marB="25400">
                    <a:lnL>
                      <a:noFill/>
                    </a:lnL>
                    <a:lnR>
                      <a:noFill/>
                    </a:lnR>
                    <a:lnT>
                      <a:noFill/>
                    </a:lnT>
                    <a:lnB>
                      <a:noFill/>
                    </a:lnB>
                    <a:solidFill>
                      <a:srgbClr val="EFF6FF"/>
                    </a:solidFill>
                  </a:tcPr>
                </a:tc>
              </a:tr>
            </a:tbl>
          </a:graphicData>
        </a:graphic>
      </p:graphicFrame>
      <p:sp>
        <p:nvSpPr>
          <p:cNvPr id="7" name="TextBox 6"/>
          <p:cNvSpPr txBox="1"/>
          <p:nvPr/>
        </p:nvSpPr>
        <p:spPr>
          <a:xfrm>
            <a:off x="771525" y="3819525"/>
            <a:ext cx="11181397" cy="247650"/>
          </a:xfrm>
          <a:prstGeom prst="rect">
            <a:avLst/>
          </a:prstGeom>
          <a:noFill/>
        </p:spPr>
        <p:txBody>
          <a:bodyPr wrap="square" lIns="0" rIns="0" tIns="0" bIns="0" anchor="t">
            <a:spAutoFit/>
          </a:bodyPr>
          <a:lstStyle/>
          <a:p>
            <a:pPr algn="l"/>
            <a:r>
              <a:rPr b="1" sz="1500" i="0" u="none">
                <a:solidFill>
                  <a:srgbClr val="1E293B"/>
                </a:solidFill>
                <a:latin typeface="Space Grotesk"/>
              </a:rPr>
              <a:t>Tại sao BM25 vẫn là Mặc định ở Runtime UI mặc dù Hybrid tốt nhất?</a:t>
            </a:r>
          </a:p>
        </p:txBody>
      </p:sp>
      <p:sp>
        <p:nvSpPr>
          <p:cNvPr id="8" name="TextBox 7"/>
          <p:cNvSpPr txBox="1"/>
          <p:nvPr/>
        </p:nvSpPr>
        <p:spPr>
          <a:xfrm>
            <a:off x="771525" y="4162425"/>
            <a:ext cx="1064895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Đây là </a:t>
            </a:r>
            <a:r>
              <a:rPr b="1" sz="1050" i="0" u="none">
                <a:solidFill>
                  <a:srgbClr val="334155"/>
                </a:solidFill>
                <a:latin typeface="Plus Jakarta Sans"/>
              </a:rPr>
              <a:t>Quyết định Vận hành (Operational Choice)</a:t>
            </a:r>
            <a:r>
              <a:rPr b="0" sz="1050" i="0" u="none">
                <a:solidFill>
                  <a:srgbClr val="334155"/>
                </a:solidFill>
                <a:latin typeface="Plus Jakarta Sans"/>
              </a:rPr>
              <a:t>: Mô hình Dense làm tăng footprint bộ nhớ và thời gian nạp ban đầu trên CPU host. BM25 mang lại đường fallback cực kỳ ổn định, khởi động nhẹ nhàng và dễ chẩn đoán lỗi.</a:t>
            </a:r>
          </a:p>
        </p:txBody>
      </p:sp>
      <p:sp>
        <p:nvSpPr>
          <p:cNvPr id="9" name="Rectangle 8"/>
          <p:cNvSpPr/>
          <p:nvPr/>
        </p:nvSpPr>
        <p:spPr>
          <a:xfrm>
            <a:off x="533400" y="2062162"/>
            <a:ext cx="11651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98575" y="2062162"/>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8900" y="2062162"/>
            <a:ext cx="2146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45299" y="2062162"/>
            <a:ext cx="31399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85275" y="2062162"/>
            <a:ext cx="207332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3400" y="2500312"/>
            <a:ext cx="11651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98575" y="2500312"/>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8900" y="2500312"/>
            <a:ext cx="2146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5299" y="2500312"/>
            <a:ext cx="31399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85275" y="2500312"/>
            <a:ext cx="207332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2938462"/>
            <a:ext cx="11651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98575" y="2938462"/>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8900" y="2938462"/>
            <a:ext cx="2146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5299" y="2938462"/>
            <a:ext cx="31399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85275" y="2938462"/>
            <a:ext cx="207332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3400" y="3376612"/>
            <a:ext cx="11651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98575" y="3376612"/>
            <a:ext cx="26003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8900" y="3376612"/>
            <a:ext cx="214639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45299" y="3376612"/>
            <a:ext cx="31399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85275" y="3376612"/>
            <a:ext cx="207332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9737675" y="1752600"/>
            <a:ext cx="809625" cy="209550"/>
          </a:xfrm>
          <a:prstGeom prst="rect">
            <a:avLst/>
          </a:prstGeom>
        </p:spPr>
      </p:pic>
      <p:pic>
        <p:nvPicPr>
          <p:cNvPr id="30" name="Picture 29" descr="image.png"/>
          <p:cNvPicPr>
            <a:picLocks noChangeAspect="1"/>
          </p:cNvPicPr>
          <p:nvPr/>
        </p:nvPicPr>
        <p:blipFill>
          <a:blip r:embed="rId6"/>
          <a:stretch>
            <a:fillRect/>
          </a:stretch>
        </p:blipFill>
        <p:spPr>
          <a:xfrm>
            <a:off x="9737675" y="2190750"/>
            <a:ext cx="1247775" cy="209550"/>
          </a:xfrm>
          <a:prstGeom prst="rect">
            <a:avLst/>
          </a:prstGeom>
        </p:spPr>
      </p:pic>
      <p:pic>
        <p:nvPicPr>
          <p:cNvPr id="31" name="Picture 30" descr="image.png"/>
          <p:cNvPicPr>
            <a:picLocks noChangeAspect="1"/>
          </p:cNvPicPr>
          <p:nvPr/>
        </p:nvPicPr>
        <p:blipFill>
          <a:blip r:embed="rId7"/>
          <a:stretch>
            <a:fillRect/>
          </a:stretch>
        </p:blipFill>
        <p:spPr>
          <a:xfrm>
            <a:off x="9737675" y="2628900"/>
            <a:ext cx="1162050" cy="209550"/>
          </a:xfrm>
          <a:prstGeom prst="rect">
            <a:avLst/>
          </a:prstGeom>
        </p:spPr>
      </p:pic>
      <p:pic>
        <p:nvPicPr>
          <p:cNvPr id="32" name="Picture 31" descr="image.png"/>
          <p:cNvPicPr>
            <a:picLocks noChangeAspect="1"/>
          </p:cNvPicPr>
          <p:nvPr/>
        </p:nvPicPr>
        <p:blipFill>
          <a:blip r:embed="rId8"/>
          <a:stretch>
            <a:fillRect/>
          </a:stretch>
        </p:blipFill>
        <p:spPr>
          <a:xfrm>
            <a:off x="9737675" y="3067050"/>
            <a:ext cx="1276350" cy="2095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543300"/>
            <a:ext cx="11125200" cy="1219200"/>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Các Chế độ Reader &amp; Local LLM trong Runtime</a:t>
            </a:r>
          </a:p>
        </p:txBody>
      </p:sp>
      <p:pic>
        <p:nvPicPr>
          <p:cNvPr id="5" name="Picture 4" descr="image.png"/>
          <p:cNvPicPr>
            <a:picLocks noChangeAspect="1"/>
          </p:cNvPicPr>
          <p:nvPr/>
        </p:nvPicPr>
        <p:blipFill>
          <a:blip r:embed="rId4"/>
          <a:stretch>
            <a:fillRect/>
          </a:stretch>
        </p:blipFill>
        <p:spPr>
          <a:xfrm>
            <a:off x="10901362" y="519112"/>
            <a:ext cx="757237" cy="285750"/>
          </a:xfrm>
          <a:prstGeom prst="rect">
            <a:avLst/>
          </a:prstGeom>
        </p:spPr>
      </p:pic>
      <p:graphicFrame>
        <p:nvGraphicFramePr>
          <p:cNvPr id="6" name="Table 5"/>
          <p:cNvGraphicFramePr>
            <a:graphicFrameLocks noGrp="1"/>
          </p:cNvGraphicFramePr>
          <p:nvPr/>
        </p:nvGraphicFramePr>
        <p:xfrm>
          <a:off x="533400" y="1209675"/>
          <a:ext cx="11125198" cy="21431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215181"/>
                <a:gridCol w="1896070"/>
                <a:gridCol w="1455985"/>
                <a:gridCol w="6557962"/>
              </a:tblGrid>
              <a:tr h="428625">
                <a:tc>
                  <a:txBody>
                    <a:bodyPr/>
                    <a:lstStyle/>
                    <a:p>
                      <a:pPr algn="l"/>
                      <a:r>
                        <a:rPr b="0" sz="1050" i="0" u="none">
                          <a:solidFill>
                            <a:srgbClr val="FFFFFF"/>
                          </a:solidFill>
                          <a:latin typeface="Plus Jakarta Sans SemiBold"/>
                        </a:rPr>
                        <a:t>Runtime Key</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Mô hình Thực thi</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Chủng loại QA</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Cơ chế Xử lý &amp; Ngữ cảnh</a:t>
                      </a:r>
                    </a:p>
                  </a:txBody>
                  <a:tcPr anchor="ctr" marL="63500" marR="63500" marT="25400" marB="25400">
                    <a:lnL>
                      <a:noFill/>
                    </a:lnL>
                    <a:lnR>
                      <a:noFill/>
                    </a:lnR>
                    <a:lnT>
                      <a:noFill/>
                    </a:lnT>
                    <a:lnB>
                      <a:noFill/>
                    </a:lnB>
                    <a:solidFill>
                      <a:srgbClr val="0F172A"/>
                    </a:solidFill>
                  </a:tcPr>
                </a:tc>
              </a:tr>
              <a:tr h="428625">
                <a:tc>
                  <a:txBody>
                    <a:bodyPr/>
                    <a:lstStyle/>
                    <a:p>
                      <a:pPr algn="l"/>
                      <a:r>
                        <a:rPr b="0" sz="1050" i="0" u="none">
                          <a:solidFill>
                            <a:srgbClr val="334155"/>
                          </a:solidFill>
                          <a:latin typeface="Plus Jakarta Sans SemiBold"/>
                        </a:rPr>
                        <a:t>xlmr</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XLM-RoBERTa Large</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Extractive QA</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Trích xuất Exact Span từ các Passage ứng viên. Checkpoint chính thống của hệ thống.</a:t>
                      </a:r>
                    </a:p>
                  </a:txBody>
                  <a:tcPr anchor="ctr" marL="63500" marR="63500" marT="25400" marB="25400">
                    <a:lnL>
                      <a:noFill/>
                    </a:lnL>
                    <a:lnR>
                      <a:noFill/>
                    </a:lnR>
                    <a:lnT>
                      <a:noFill/>
                    </a:lnT>
                    <a:lnB>
                      <a:noFill/>
                    </a:lnB>
                    <a:solidFill>
                      <a:srgbClr val="EFF6FF"/>
                    </a:solidFill>
                  </a:tcPr>
                </a:tc>
              </a:tr>
              <a:tr h="428625">
                <a:tc>
                  <a:txBody>
                    <a:bodyPr/>
                    <a:lstStyle/>
                    <a:p>
                      <a:pPr algn="l"/>
                      <a:r>
                        <a:rPr b="0" sz="1050" i="0" u="none">
                          <a:solidFill>
                            <a:srgbClr val="334155"/>
                          </a:solidFill>
                          <a:latin typeface="Plus Jakarta Sans"/>
                        </a:rPr>
                        <a:t>phobert</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PhoBERT / XLM-R Alias</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Extractive QA</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Khóa tương thích ngược (Compatibility Alias). Trong runtime hiện tại đang trỏ về XLM-R.</a:t>
                      </a:r>
                    </a:p>
                  </a:txBody>
                  <a:tcPr anchor="ctr" marL="63500" marR="63500" marT="25400" marB="25400">
                    <a:lnL>
                      <a:noFill/>
                    </a:lnL>
                    <a:lnR>
                      <a:noFill/>
                    </a:lnR>
                    <a:lnT>
                      <a:noFill/>
                    </a:lnT>
                    <a:lnB>
                      <a:noFill/>
                    </a:lnB>
                    <a:solidFill>
                      <a:srgbClr val="F8FAFC"/>
                    </a:solidFill>
                  </a:tcPr>
                </a:tc>
              </a:tr>
              <a:tr h="428625">
                <a:tc>
                  <a:txBody>
                    <a:bodyPr/>
                    <a:lstStyle/>
                    <a:p>
                      <a:pPr algn="l"/>
                      <a:r>
                        <a:rPr b="0" sz="1050" i="0" u="none">
                          <a:solidFill>
                            <a:srgbClr val="334155"/>
                          </a:solidFill>
                          <a:latin typeface="Plus Jakarta Sans"/>
                        </a:rPr>
                        <a:t>llm</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LiquidAI LFM2.5-2.6B</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Generative RAG</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Mô hình sinh cục bộ 4-bit NF4. Sinh câu trả lời tự nhiên từ Top-5 Passages đã truy hồi.</a:t>
                      </a:r>
                    </a:p>
                  </a:txBody>
                  <a:tcPr anchor="ctr" marL="63500" marR="63500" marT="25400" marB="25400">
                    <a:lnL>
                      <a:noFill/>
                    </a:lnL>
                    <a:lnR>
                      <a:noFill/>
                    </a:lnR>
                    <a:lnT>
                      <a:noFill/>
                    </a:lnT>
                    <a:lnB>
                      <a:noFill/>
                    </a:lnB>
                    <a:noFill/>
                  </a:tcPr>
                </a:tc>
              </a:tr>
              <a:tr h="428625">
                <a:tc>
                  <a:txBody>
                    <a:bodyPr/>
                    <a:lstStyle/>
                    <a:p>
                      <a:pPr algn="l"/>
                      <a:r>
                        <a:rPr b="0" sz="1050" i="0" u="none">
                          <a:solidFill>
                            <a:srgbClr val="334155"/>
                          </a:solidFill>
                          <a:latin typeface="Plus Jakarta Sans"/>
                        </a:rPr>
                        <a:t>llm_chat</a:t>
                      </a:r>
                    </a:p>
                  </a:txBody>
                  <a:tcPr anchor="ctr" marL="63500" marR="63500" marT="25400" marB="25400">
                    <a:lnL>
                      <a:noFill/>
                    </a:lnL>
                    <a:lnR>
                      <a:noFill/>
                    </a:lnR>
                    <a:lnT>
                      <a:noFill/>
                    </a:lnT>
                    <a:lnB>
                      <a:noFill/>
                    </a:lnB>
                    <a:solidFill>
                      <a:srgbClr val="F8FAFC"/>
                    </a:solidFill>
                  </a:tcPr>
                </a:tc>
                <a:tc>
                  <a:txBody>
                    <a:bodyPr/>
                    <a:lstStyle/>
                    <a:p>
                      <a:pPr algn="l"/>
                      <a:r>
                        <a:rPr b="1" sz="1050" i="0" u="none">
                          <a:solidFill>
                            <a:srgbClr val="334155"/>
                          </a:solidFill>
                          <a:latin typeface="Plus Jakarta Sans"/>
                        </a:rPr>
                        <a:t>LiquidAI LFM2.5-2.6B</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Direct Chat</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Trò chuyện đàm thoại trực tiếp dựa trên tri thức nội tại của LLM (Không gắn ngữ cảnh passage).</a:t>
                      </a:r>
                    </a:p>
                  </a:txBody>
                  <a:tcPr anchor="ctr" marL="63500" marR="63500" marT="25400" marB="25400">
                    <a:lnL>
                      <a:noFill/>
                    </a:lnL>
                    <a:lnR>
                      <a:noFill/>
                    </a:lnR>
                    <a:lnT>
                      <a:noFill/>
                    </a:lnT>
                    <a:lnB>
                      <a:noFill/>
                    </a:lnB>
                    <a:solidFill>
                      <a:srgbClr val="F8FAFC"/>
                    </a:solidFill>
                  </a:tcPr>
                </a:tc>
              </a:tr>
            </a:tbl>
          </a:graphicData>
        </a:graphic>
      </p:graphicFrame>
      <p:sp>
        <p:nvSpPr>
          <p:cNvPr id="7" name="TextBox 6"/>
          <p:cNvSpPr txBox="1"/>
          <p:nvPr/>
        </p:nvSpPr>
        <p:spPr>
          <a:xfrm>
            <a:off x="771525" y="3781425"/>
            <a:ext cx="11181397" cy="247650"/>
          </a:xfrm>
          <a:prstGeom prst="rect">
            <a:avLst/>
          </a:prstGeom>
          <a:noFill/>
        </p:spPr>
        <p:txBody>
          <a:bodyPr wrap="square" lIns="190500" rIns="0" tIns="0" bIns="0" anchor="t">
            <a:spAutoFit/>
          </a:bodyPr>
          <a:lstStyle/>
          <a:p>
            <a:pPr algn="l"/>
            <a:r>
              <a:rPr b="1" sz="1500" i="0" u="none">
                <a:solidFill>
                  <a:srgbClr val="1E293B"/>
                </a:solidFill>
                <a:latin typeface="Space Grotesk"/>
              </a:rPr>
              <a:t>Tách biệt Kiến trúc</a:t>
            </a:r>
          </a:p>
        </p:txBody>
      </p:sp>
      <p:sp>
        <p:nvSpPr>
          <p:cNvPr id="8" name="TextBox 7"/>
          <p:cNvSpPr txBox="1"/>
          <p:nvPr/>
        </p:nvSpPr>
        <p:spPr>
          <a:xfrm>
            <a:off x="771525" y="4124325"/>
            <a:ext cx="1064895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Hệ thống hỗ trợ song song hai triết lý: </a:t>
            </a:r>
            <a:r>
              <a:rPr b="1" sz="1050" i="0" u="none">
                <a:solidFill>
                  <a:srgbClr val="334155"/>
                </a:solidFill>
                <a:latin typeface="Plus Jakarta Sans"/>
              </a:rPr>
              <a:t>Trích xuất chính xác (Extractive)</a:t>
            </a:r>
            <a:r>
              <a:rPr b="0" sz="1050" i="0" u="none">
                <a:solidFill>
                  <a:srgbClr val="334155"/>
                </a:solidFill>
                <a:latin typeface="Plus Jakarta Sans"/>
              </a:rPr>
              <a:t> để đảm bảo khả năng truy vết nguồn gốc 100%, và </a:t>
            </a:r>
            <a:r>
              <a:rPr b="1" sz="1050" i="0" u="none">
                <a:solidFill>
                  <a:srgbClr val="334155"/>
                </a:solidFill>
                <a:latin typeface="Plus Jakarta Sans"/>
              </a:rPr>
              <a:t>Tạo sinh (Generative RAG)</a:t>
            </a:r>
            <a:r>
              <a:rPr b="0" sz="1050" i="0" u="none">
                <a:solidFill>
                  <a:srgbClr val="334155"/>
                </a:solidFill>
                <a:latin typeface="Plus Jakarta Sans"/>
              </a:rPr>
              <a:t> phục vụ các câu hỏi tổng hợp văn phong tự nhiên.</a:t>
            </a:r>
          </a:p>
        </p:txBody>
      </p:sp>
      <p:sp>
        <p:nvSpPr>
          <p:cNvPr id="9" name="Rectangle 8"/>
          <p:cNvSpPr/>
          <p:nvPr/>
        </p:nvSpPr>
        <p:spPr>
          <a:xfrm>
            <a:off x="533400" y="2052637"/>
            <a:ext cx="12151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48581" y="2052637"/>
            <a:ext cx="18960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44651" y="2052637"/>
            <a:ext cx="14559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00637" y="2052637"/>
            <a:ext cx="65579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3400" y="2481262"/>
            <a:ext cx="12151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48581" y="2481262"/>
            <a:ext cx="18960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44651" y="2481262"/>
            <a:ext cx="14559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0637" y="2481262"/>
            <a:ext cx="65579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3400" y="2909887"/>
            <a:ext cx="12151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48581" y="2909887"/>
            <a:ext cx="18960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44651" y="2909887"/>
            <a:ext cx="14559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00637" y="2909887"/>
            <a:ext cx="65579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3400" y="3338512"/>
            <a:ext cx="121518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748581" y="3338512"/>
            <a:ext cx="189607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44651" y="3338512"/>
            <a:ext cx="14559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00637" y="3338512"/>
            <a:ext cx="655796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71525" y="3810000"/>
            <a:ext cx="190500" cy="190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So sánh Mô hình: PhoBERT vs XLM-R vs LFM2.5</a:t>
            </a:r>
          </a:p>
        </p:txBody>
      </p:sp>
      <p:pic>
        <p:nvPicPr>
          <p:cNvPr id="4" name="Picture 3" descr="image.png"/>
          <p:cNvPicPr>
            <a:picLocks noChangeAspect="1"/>
          </p:cNvPicPr>
          <p:nvPr/>
        </p:nvPicPr>
        <p:blipFill>
          <a:blip r:embed="rId3"/>
          <a:stretch>
            <a:fillRect/>
          </a:stretch>
        </p:blipFill>
        <p:spPr>
          <a:xfrm>
            <a:off x="10872787" y="519112"/>
            <a:ext cx="785812" cy="285750"/>
          </a:xfrm>
          <a:prstGeom prst="rect">
            <a:avLst/>
          </a:prstGeom>
        </p:spPr>
      </p:pic>
      <p:graphicFrame>
        <p:nvGraphicFramePr>
          <p:cNvPr id="5" name="Table 4"/>
          <p:cNvGraphicFramePr>
            <a:graphicFrameLocks noGrp="1"/>
          </p:cNvGraphicFramePr>
          <p:nvPr/>
        </p:nvGraphicFramePr>
        <p:xfrm>
          <a:off x="533400" y="1209675"/>
          <a:ext cx="11125198" cy="33623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882205"/>
                <a:gridCol w="2370385"/>
                <a:gridCol w="2680245"/>
                <a:gridCol w="3192363"/>
              </a:tblGrid>
              <a:tr h="420290">
                <a:tc>
                  <a:txBody>
                    <a:bodyPr/>
                    <a:lstStyle/>
                    <a:p>
                      <a:pPr algn="l"/>
                      <a:r>
                        <a:rPr b="0" sz="1050" i="0" u="none">
                          <a:solidFill>
                            <a:srgbClr val="FFFFFF"/>
                          </a:solidFill>
                          <a:latin typeface="Plus Jakarta Sans SemiBold"/>
                        </a:rPr>
                        <a:t>Thông số / Metric</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PhoBERT Base</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XLM-RoBERTa Large</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LiquidAI LFM2.5-2.6B</a:t>
                      </a:r>
                    </a:p>
                  </a:txBody>
                  <a:tcPr anchor="ctr" marL="63500" marR="63500" marT="25400" marB="25400">
                    <a:lnL>
                      <a:noFill/>
                    </a:lnL>
                    <a:lnR>
                      <a:noFill/>
                    </a:lnR>
                    <a:lnT>
                      <a:noFill/>
                    </a:lnT>
                    <a:lnB>
                      <a:noFill/>
                    </a:lnB>
                    <a:solidFill>
                      <a:srgbClr val="0F172A"/>
                    </a:solidFill>
                  </a:tcPr>
                </a:tc>
              </a:tr>
              <a:tr h="420290">
                <a:tc>
                  <a:txBody>
                    <a:bodyPr/>
                    <a:lstStyle/>
                    <a:p>
                      <a:pPr algn="l"/>
                      <a:r>
                        <a:rPr b="1" sz="1050" i="0" u="none">
                          <a:solidFill>
                            <a:srgbClr val="334155"/>
                          </a:solidFill>
                          <a:latin typeface="Plus Jakarta Sans"/>
                        </a:rPr>
                        <a:t>Tham số &amp; Kích thước</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134M (~0.50 GB)</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559M (~2.08 GB)</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2.6B (~2.5–3.0 GB VRAM)</a:t>
                      </a:r>
                    </a:p>
                  </a:txBody>
                  <a:tcPr anchor="ctr" marL="63500" marR="63500" marT="25400" marB="25400">
                    <a:lnL>
                      <a:noFill/>
                    </a:lnL>
                    <a:lnR>
                      <a:noFill/>
                    </a:lnR>
                    <a:lnT>
                      <a:noFill/>
                    </a:lnT>
                    <a:lnB>
                      <a:noFill/>
                    </a:lnB>
                    <a:noFill/>
                  </a:tcPr>
                </a:tc>
              </a:tr>
              <a:tr h="420290">
                <a:tc>
                  <a:txBody>
                    <a:bodyPr/>
                    <a:lstStyle/>
                    <a:p>
                      <a:pPr algn="l"/>
                      <a:r>
                        <a:rPr b="1" sz="1050" i="0" u="none">
                          <a:solidFill>
                            <a:srgbClr val="334155"/>
                          </a:solidFill>
                          <a:latin typeface="Plus Jakarta Sans"/>
                        </a:rPr>
                        <a:t>Loại hình QA</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Extractive Span</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Extractive Span</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Generative RAG / Chat</a:t>
                      </a:r>
                    </a:p>
                  </a:txBody>
                  <a:tcPr anchor="ctr" marL="63500" marR="63500" marT="25400" marB="25400">
                    <a:lnL>
                      <a:noFill/>
                    </a:lnL>
                    <a:lnR>
                      <a:noFill/>
                    </a:lnR>
                    <a:lnT>
                      <a:noFill/>
                    </a:lnT>
                    <a:lnB>
                      <a:noFill/>
                    </a:lnB>
                    <a:solidFill>
                      <a:srgbClr val="F8FAFC"/>
                    </a:solidFill>
                  </a:tcPr>
                </a:tc>
              </a:tr>
              <a:tr h="420290">
                <a:tc>
                  <a:txBody>
                    <a:bodyPr/>
                    <a:lstStyle/>
                    <a:p>
                      <a:pPr algn="l"/>
                      <a:r>
                        <a:rPr b="1" sz="1050" i="0" u="none">
                          <a:solidFill>
                            <a:srgbClr val="334155"/>
                          </a:solidFill>
                          <a:latin typeface="Plus Jakarta Sans"/>
                        </a:rPr>
                        <a:t>Smoke-10 Protocol</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EM: 30.0 / F1: 30.0</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EM: 60.0 / F1: 76.35</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N/A (Chưa đo SQuAD metric)</a:t>
                      </a:r>
                    </a:p>
                  </a:txBody>
                  <a:tcPr anchor="ctr" marL="63500" marR="63500" marT="25400" marB="25400">
                    <a:lnL>
                      <a:noFill/>
                    </a:lnL>
                    <a:lnR>
                      <a:noFill/>
                    </a:lnR>
                    <a:lnT>
                      <a:noFill/>
                    </a:lnT>
                    <a:lnB>
                      <a:noFill/>
                    </a:lnB>
                    <a:noFill/>
                  </a:tcPr>
                </a:tc>
              </a:tr>
              <a:tr h="420290">
                <a:tc>
                  <a:txBody>
                    <a:bodyPr/>
                    <a:lstStyle/>
                    <a:p>
                      <a:pPr algn="l"/>
                      <a:r>
                        <a:rPr b="1" sz="1050" i="0" u="none">
                          <a:solidFill>
                            <a:srgbClr val="334155"/>
                          </a:solidFill>
                          <a:latin typeface="Plus Jakarta Sans"/>
                        </a:rPr>
                        <a:t>Full Validation (3,814)</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EM: 13.87 / F1: 36.25</a:t>
                      </a:r>
                    </a:p>
                  </a:txBody>
                  <a:tcPr anchor="ctr" marL="63500" marR="63500" marT="25400" marB="25400">
                    <a:lnL>
                      <a:noFill/>
                    </a:lnL>
                    <a:lnR>
                      <a:noFill/>
                    </a:lnR>
                    <a:lnT>
                      <a:noFill/>
                    </a:lnT>
                    <a:lnB>
                      <a:noFill/>
                    </a:lnB>
                    <a:solidFill>
                      <a:srgbClr val="F8FAFC"/>
                    </a:solidFill>
                  </a:tcPr>
                </a:tc>
                <a:tc>
                  <a:txBody>
                    <a:bodyPr/>
                    <a:lstStyle/>
                    <a:p>
                      <a:pPr algn="l"/>
                      <a:r>
                        <a:rPr b="0" sz="1050" i="1" u="none">
                          <a:solidFill>
                            <a:srgbClr val="334155"/>
                          </a:solidFill>
                          <a:latin typeface="Plus Jakarta Sans"/>
                        </a:rPr>
                        <a:t>Chưa có artifact full val</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N/A (Output dạng văn bản tự do)</a:t>
                      </a:r>
                    </a:p>
                  </a:txBody>
                  <a:tcPr anchor="ctr" marL="63500" marR="63500" marT="25400" marB="25400">
                    <a:lnL>
                      <a:noFill/>
                    </a:lnL>
                    <a:lnR>
                      <a:noFill/>
                    </a:lnR>
                    <a:lnT>
                      <a:noFill/>
                    </a:lnT>
                    <a:lnB>
                      <a:noFill/>
                    </a:lnB>
                    <a:solidFill>
                      <a:srgbClr val="F8FAFC"/>
                    </a:solidFill>
                  </a:tcPr>
                </a:tc>
              </a:tr>
              <a:tr h="420290">
                <a:tc>
                  <a:txBody>
                    <a:bodyPr/>
                    <a:lstStyle/>
                    <a:p>
                      <a:pPr algn="l"/>
                      <a:r>
                        <a:rPr b="1" sz="1050" i="0" u="none">
                          <a:solidFill>
                            <a:srgbClr val="334155"/>
                          </a:solidFill>
                          <a:latin typeface="Plus Jakarta Sans"/>
                        </a:rPr>
                        <a:t>Answerable F1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32.96%</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70.44% (Smoke-10)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N/A</a:t>
                      </a:r>
                    </a:p>
                  </a:txBody>
                  <a:tcPr anchor="ctr" marL="63500" marR="63500" marT="25400" marB="25400">
                    <a:lnL>
                      <a:noFill/>
                    </a:lnL>
                    <a:lnR>
                      <a:noFill/>
                    </a:lnR>
                    <a:lnT>
                      <a:noFill/>
                    </a:lnT>
                    <a:lnB>
                      <a:noFill/>
                    </a:lnB>
                    <a:noFill/>
                  </a:tcPr>
                </a:tc>
              </a:tr>
              <a:tr h="420290">
                <a:tc>
                  <a:txBody>
                    <a:bodyPr/>
                    <a:lstStyle/>
                    <a:p>
                      <a:pPr algn="l"/>
                      <a:r>
                        <a:rPr b="1" sz="1050" i="0" u="none">
                          <a:solidFill>
                            <a:srgbClr val="334155"/>
                          </a:solidFill>
                          <a:latin typeface="Plus Jakarta Sans"/>
                        </a:rPr>
                        <a:t>Unanswerable Acc.</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42.38%</a:t>
                      </a:r>
                    </a:p>
                  </a:txBody>
                  <a:tcPr anchor="ctr" marL="63500" marR="63500" marT="25400" marB="25400">
                    <a:lnL>
                      <a:noFill/>
                    </a:lnL>
                    <a:lnR>
                      <a:noFill/>
                    </a:lnR>
                    <a:lnT>
                      <a:noFill/>
                    </a:lnT>
                    <a:lnB>
                      <a:noFill/>
                    </a:lnB>
                    <a:solidFill>
                      <a:srgbClr val="F8FAFC"/>
                    </a:solidFill>
                  </a:tcPr>
                </a:tc>
                <a:tc>
                  <a:txBody>
                    <a:bodyPr/>
                    <a:lstStyle/>
                    <a:p>
                      <a:pPr algn="l"/>
                      <a:r>
                        <a:rPr b="1" sz="1050" i="0" u="none">
                          <a:solidFill>
                            <a:srgbClr val="334155"/>
                          </a:solidFill>
                          <a:latin typeface="Plus Jakarta Sans"/>
                        </a:rPr>
                        <a:t>100.0% (Smoke-10)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N/A</a:t>
                      </a:r>
                    </a:p>
                  </a:txBody>
                  <a:tcPr anchor="ctr" marL="63500" marR="63500" marT="25400" marB="25400">
                    <a:lnL>
                      <a:noFill/>
                    </a:lnL>
                    <a:lnR>
                      <a:noFill/>
                    </a:lnR>
                    <a:lnT>
                      <a:noFill/>
                    </a:lnT>
                    <a:lnB>
                      <a:noFill/>
                    </a:lnB>
                    <a:solidFill>
                      <a:srgbClr val="F8FAFC"/>
                    </a:solidFill>
                  </a:tcPr>
                </a:tc>
              </a:tr>
              <a:tr h="420295">
                <a:tc>
                  <a:txBody>
                    <a:bodyPr/>
                    <a:lstStyle/>
                    <a:p>
                      <a:pPr algn="l"/>
                      <a:r>
                        <a:rPr b="1" sz="1050" i="0" u="none">
                          <a:solidFill>
                            <a:srgbClr val="334155"/>
                          </a:solidFill>
                          <a:latin typeface="Plus Jakarta Sans"/>
                        </a:rPr>
                        <a:t>Truy vết Nguồn (Grounding)</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Rất mạnh (Exact Span)</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Mạnh nhất (Exact Offset)</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Trung bình (Generative Text)</a:t>
                      </a:r>
                    </a:p>
                  </a:txBody>
                  <a:tcPr anchor="ctr" marL="63500" marR="63500" marT="25400" marB="25400">
                    <a:lnL>
                      <a:noFill/>
                    </a:lnL>
                    <a:lnR>
                      <a:noFill/>
                    </a:lnR>
                    <a:lnT>
                      <a:noFill/>
                    </a:lnT>
                    <a:lnB>
                      <a:noFill/>
                    </a:lnB>
                    <a:noFill/>
                  </a:tcPr>
                </a:tc>
              </a:tr>
            </a:tbl>
          </a:graphicData>
        </a:graphic>
      </p:graphicFrame>
      <p:sp>
        <p:nvSpPr>
          <p:cNvPr id="6" name="TextBox 5"/>
          <p:cNvSpPr txBox="1"/>
          <p:nvPr/>
        </p:nvSpPr>
        <p:spPr>
          <a:xfrm>
            <a:off x="533400" y="4667250"/>
            <a:ext cx="8753475" cy="171450"/>
          </a:xfrm>
          <a:prstGeom prst="rect">
            <a:avLst/>
          </a:prstGeom>
          <a:noFill/>
        </p:spPr>
        <p:txBody>
          <a:bodyPr wrap="square" lIns="0" rIns="0" tIns="0" bIns="0" anchor="t">
            <a:spAutoFit/>
          </a:bodyPr>
          <a:lstStyle/>
          <a:p>
            <a:pPr algn="l">
              <a:lnSpc>
                <a:spcPts val="1350"/>
              </a:lnSpc>
            </a:pPr>
            <a:r>
              <a:rPr b="0" sz="900" i="0" u="none">
                <a:solidFill>
                  <a:srgbClr val="64748B"/>
                </a:solidFill>
                <a:latin typeface="Plus Jakarta Sans"/>
              </a:rPr>
              <a:t>*Chú thích: Các metric chỉ so sánh trực tiếp khi cùng protocol và dataset. Smoke-10 dùng để kiểm tra nhanh giữa PhoBERT và XLM-R dưới cùng điều kiện thử nghiệm.</a:t>
            </a:r>
          </a:p>
        </p:txBody>
      </p:sp>
      <p:sp>
        <p:nvSpPr>
          <p:cNvPr id="7" name="Rectangle 6"/>
          <p:cNvSpPr/>
          <p:nvPr/>
        </p:nvSpPr>
        <p:spPr>
          <a:xfrm>
            <a:off x="533400" y="20431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15605" y="20431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85991" y="20431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66236" y="20431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4622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5605" y="24622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5991" y="24622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66236" y="24622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3400" y="28813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5605" y="28813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85991" y="28813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66236" y="28813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33004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15605" y="33004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85991" y="33004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66236" y="33004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37195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15605" y="37195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785991" y="37195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66236" y="37195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3400" y="41386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15605" y="41386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85991" y="41386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66236" y="41386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3400" y="4557712"/>
            <a:ext cx="288220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15605" y="4557712"/>
            <a:ext cx="237038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785991" y="4557712"/>
            <a:ext cx="268024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66236" y="4557712"/>
            <a:ext cx="319236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857625"/>
            <a:ext cx="11125200" cy="885825"/>
          </a:xfrm>
          <a:prstGeom prst="rect">
            <a:avLst/>
          </a:prstGeom>
        </p:spPr>
      </p:pic>
      <p:pic>
        <p:nvPicPr>
          <p:cNvPr id="4" name="Picture 3" descr="image.png"/>
          <p:cNvPicPr>
            <a:picLocks noChangeAspect="1"/>
          </p:cNvPicPr>
          <p:nvPr/>
        </p:nvPicPr>
        <p:blipFill>
          <a:blip r:embed="rId4"/>
          <a:stretch>
            <a:fillRect/>
          </a:stretch>
        </p:blipFill>
        <p:spPr>
          <a:xfrm>
            <a:off x="533400" y="1133475"/>
            <a:ext cx="5429250" cy="2533650"/>
          </a:xfrm>
          <a:prstGeom prst="rect">
            <a:avLst/>
          </a:prstGeom>
        </p:spPr>
      </p:pic>
      <p:pic>
        <p:nvPicPr>
          <p:cNvPr id="5" name="Picture 4" descr="image.png"/>
          <p:cNvPicPr>
            <a:picLocks noChangeAspect="1"/>
          </p:cNvPicPr>
          <p:nvPr/>
        </p:nvPicPr>
        <p:blipFill>
          <a:blip r:embed="rId5"/>
          <a:stretch>
            <a:fillRect/>
          </a:stretch>
        </p:blipFill>
        <p:spPr>
          <a:xfrm>
            <a:off x="6229350" y="1133475"/>
            <a:ext cx="5429250" cy="2533650"/>
          </a:xfrm>
          <a:prstGeom prst="rect">
            <a:avLst/>
          </a:prstGeom>
        </p:spPr>
      </p:pic>
      <p:sp>
        <p:nvSpPr>
          <p:cNvPr id="6" name="TextBox 5"/>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Tại sao chọn XLM-R làm Reader Chính?</a:t>
            </a:r>
          </a:p>
        </p:txBody>
      </p:sp>
      <p:pic>
        <p:nvPicPr>
          <p:cNvPr id="7" name="Picture 6" descr="image.png"/>
          <p:cNvPicPr>
            <a:picLocks noChangeAspect="1"/>
          </p:cNvPicPr>
          <p:nvPr/>
        </p:nvPicPr>
        <p:blipFill>
          <a:blip r:embed="rId6"/>
          <a:stretch>
            <a:fillRect/>
          </a:stretch>
        </p:blipFill>
        <p:spPr>
          <a:xfrm>
            <a:off x="10820400" y="519112"/>
            <a:ext cx="838200" cy="285750"/>
          </a:xfrm>
          <a:prstGeom prst="rect">
            <a:avLst/>
          </a:prstGeom>
        </p:spPr>
      </p:pic>
      <p:sp>
        <p:nvSpPr>
          <p:cNvPr id="8" name="TextBox 7"/>
          <p:cNvSpPr txBox="1"/>
          <p:nvPr/>
        </p:nvSpPr>
        <p:spPr>
          <a:xfrm>
            <a:off x="771525" y="4095750"/>
            <a:ext cx="10648950" cy="409575"/>
          </a:xfrm>
          <a:prstGeom prst="rect">
            <a:avLst/>
          </a:prstGeom>
          <a:noFill/>
        </p:spPr>
        <p:txBody>
          <a:bodyPr wrap="square" lIns="0" rIns="0" tIns="0" bIns="0" anchor="t">
            <a:spAutoFit/>
          </a:bodyPr>
          <a:lstStyle/>
          <a:p>
            <a:pPr algn="l">
              <a:lnSpc>
                <a:spcPts val="1575"/>
              </a:lnSpc>
            </a:pPr>
            <a:r>
              <a:rPr b="1" sz="1050" i="0" u="none">
                <a:solidFill>
                  <a:srgbClr val="334155"/>
                </a:solidFill>
                <a:latin typeface="Plus Jakarta Sans"/>
              </a:rPr>
              <a:t>Phân công Vai trò:</a:t>
            </a:r>
            <a:r>
              <a:rPr b="0" sz="1050" i="0" u="none">
                <a:solidFill>
                  <a:srgbClr val="334155"/>
                </a:solidFill>
                <a:latin typeface="Plus Jakarta Sans"/>
              </a:rPr>
              <a:t> </a:t>
            </a:r>
            <a:r>
              <a:rPr b="0" sz="1050" i="0" u="none">
                <a:solidFill>
                  <a:srgbClr val="334155"/>
                </a:solidFill>
                <a:latin typeface="Plus Jakarta Sans"/>
              </a:rPr>
              <a:t>XLM-R</a:t>
            </a:r>
            <a:r>
              <a:rPr b="0" sz="1050" i="0" u="none">
                <a:solidFill>
                  <a:srgbClr val="334155"/>
                </a:solidFill>
                <a:latin typeface="Plus Jakarta Sans"/>
              </a:rPr>
              <a:t> = Extractive Primary Reader chính cho bài toán QA tra cứu minh chứng chuẩn xác. </a:t>
            </a:r>
            <a:r>
              <a:rPr b="0" sz="1050" i="0" u="none">
                <a:solidFill>
                  <a:srgbClr val="334155"/>
                </a:solidFill>
                <a:latin typeface="Plus Jakarta Sans"/>
              </a:rPr>
              <a:t>LFM2.5</a:t>
            </a:r>
            <a:r>
              <a:rPr b="0" sz="1050" i="0" u="none">
                <a:solidFill>
                  <a:srgbClr val="334155"/>
                </a:solidFill>
                <a:latin typeface="Plus Jakarta Sans"/>
              </a:rPr>
              <a:t> = Generative Extension mở rộng cho bài toán tổng hợp đa đoạn văn.</a:t>
            </a:r>
          </a:p>
        </p:txBody>
      </p:sp>
      <p:sp>
        <p:nvSpPr>
          <p:cNvPr id="9" name="TextBox 8"/>
          <p:cNvSpPr txBox="1"/>
          <p:nvPr/>
        </p:nvSpPr>
        <p:spPr>
          <a:xfrm>
            <a:off x="771525" y="1371600"/>
            <a:ext cx="5200650" cy="247650"/>
          </a:xfrm>
          <a:prstGeom prst="rect">
            <a:avLst/>
          </a:prstGeom>
          <a:noFill/>
        </p:spPr>
        <p:txBody>
          <a:bodyPr wrap="square" lIns="190500" rIns="0" tIns="0" bIns="0" anchor="t">
            <a:spAutoFit/>
          </a:bodyPr>
          <a:lstStyle/>
          <a:p>
            <a:pPr algn="l"/>
            <a:r>
              <a:rPr b="1" sz="1500" i="0" u="none">
                <a:solidFill>
                  <a:srgbClr val="1E293B"/>
                </a:solidFill>
                <a:latin typeface="Space Grotesk"/>
              </a:rPr>
              <a:t>Lý do XLM-R được chọn làm Reader Chính</a:t>
            </a:r>
          </a:p>
        </p:txBody>
      </p:sp>
      <p:sp>
        <p:nvSpPr>
          <p:cNvPr id="10" name="TextBox 9"/>
          <p:cNvSpPr txBox="1"/>
          <p:nvPr/>
        </p:nvSpPr>
        <p:spPr>
          <a:xfrm>
            <a:off x="6467475" y="1371600"/>
            <a:ext cx="5200650" cy="247650"/>
          </a:xfrm>
          <a:prstGeom prst="rect">
            <a:avLst/>
          </a:prstGeom>
          <a:noFill/>
        </p:spPr>
        <p:txBody>
          <a:bodyPr wrap="square" lIns="190500" rIns="0" tIns="0" bIns="0" anchor="t">
            <a:spAutoFit/>
          </a:bodyPr>
          <a:lstStyle/>
          <a:p>
            <a:pPr algn="l"/>
            <a:r>
              <a:rPr b="1" sz="1500" i="0" u="none">
                <a:solidFill>
                  <a:srgbClr val="1E293B"/>
                </a:solidFill>
                <a:latin typeface="Space Grotesk"/>
              </a:rPr>
              <a:t>Lý do LFM2.5 KHÔNG thay thế Reader Extractive</a:t>
            </a:r>
          </a:p>
        </p:txBody>
      </p:sp>
      <p:pic>
        <p:nvPicPr>
          <p:cNvPr id="11" name="Picture 10" descr="image.png"/>
          <p:cNvPicPr>
            <a:picLocks noChangeAspect="1"/>
          </p:cNvPicPr>
          <p:nvPr/>
        </p:nvPicPr>
        <p:blipFill>
          <a:blip r:embed="rId7"/>
          <a:stretch>
            <a:fillRect/>
          </a:stretch>
        </p:blipFill>
        <p:spPr>
          <a:xfrm>
            <a:off x="771525" y="1400175"/>
            <a:ext cx="190500" cy="190500"/>
          </a:xfrm>
          <a:prstGeom prst="rect">
            <a:avLst/>
          </a:prstGeom>
        </p:spPr>
      </p:pic>
      <p:sp>
        <p:nvSpPr>
          <p:cNvPr id="12" name="TextBox 11"/>
          <p:cNvSpPr txBox="1"/>
          <p:nvPr/>
        </p:nvSpPr>
        <p:spPr>
          <a:xfrm>
            <a:off x="1038225" y="1714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Độ chính xác Span cao:</a:t>
            </a:r>
            <a:r>
              <a:rPr b="0" sz="1200" i="0" u="none">
                <a:solidFill>
                  <a:srgbClr val="334155"/>
                </a:solidFill>
                <a:latin typeface="Plus Jakarta Sans"/>
              </a:rPr>
              <a:t> Đạt F1 76.35% trên bài kiểm tra Smoke protocol so với 30.0% của PhoBERT.</a:t>
            </a:r>
          </a:p>
        </p:txBody>
      </p:sp>
      <p:sp>
        <p:nvSpPr>
          <p:cNvPr id="13" name="TextBox 12"/>
          <p:cNvSpPr txBox="1"/>
          <p:nvPr/>
        </p:nvSpPr>
        <p:spPr>
          <a:xfrm>
            <a:off x="1038225" y="22860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Khả năng gắn bằng chứng:</a:t>
            </a:r>
            <a:r>
              <a:rPr b="0" sz="1200" i="0" u="none">
                <a:solidFill>
                  <a:srgbClr val="334155"/>
                </a:solidFill>
                <a:latin typeface="Plus Jakarta Sans"/>
              </a:rPr>
              <a:t> Bảo toàn 100% Exact Span và Offset vị trí từ trong Passage nguồn.</a:t>
            </a:r>
          </a:p>
        </p:txBody>
      </p:sp>
      <p:sp>
        <p:nvSpPr>
          <p:cNvPr id="14" name="TextBox 13"/>
          <p:cNvSpPr txBox="1"/>
          <p:nvPr/>
        </p:nvSpPr>
        <p:spPr>
          <a:xfrm>
            <a:off x="1038225" y="2857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Tương thích Semantic Gates:</a:t>
            </a:r>
            <a:r>
              <a:rPr b="0" sz="1200" i="0" u="none">
                <a:solidFill>
                  <a:srgbClr val="334155"/>
                </a:solidFill>
                <a:latin typeface="Plus Jakarta Sans"/>
              </a:rPr>
              <a:t> Cung cấp logit tường minh để tính margin từ chối câu hỏi unanswerable.</a:t>
            </a:r>
          </a:p>
        </p:txBody>
      </p:sp>
      <p:pic>
        <p:nvPicPr>
          <p:cNvPr id="15" name="Picture 14" descr="image.png"/>
          <p:cNvPicPr>
            <a:picLocks noChangeAspect="1"/>
          </p:cNvPicPr>
          <p:nvPr/>
        </p:nvPicPr>
        <p:blipFill>
          <a:blip r:embed="rId8"/>
          <a:stretch>
            <a:fillRect/>
          </a:stretch>
        </p:blipFill>
        <p:spPr>
          <a:xfrm>
            <a:off x="6467475" y="1400175"/>
            <a:ext cx="190500" cy="190500"/>
          </a:xfrm>
          <a:prstGeom prst="rect">
            <a:avLst/>
          </a:prstGeom>
        </p:spPr>
      </p:pic>
      <p:sp>
        <p:nvSpPr>
          <p:cNvPr id="16" name="TextBox 15"/>
          <p:cNvSpPr txBox="1"/>
          <p:nvPr/>
        </p:nvSpPr>
        <p:spPr>
          <a:xfrm>
            <a:off x="6734175" y="1714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Không xuất Exact Span:</a:t>
            </a:r>
            <a:r>
              <a:rPr b="0" sz="1200" i="0" u="none">
                <a:solidFill>
                  <a:srgbClr val="334155"/>
                </a:solidFill>
                <a:latin typeface="Plus Jakarta Sans"/>
              </a:rPr>
              <a:t> Văn bản do LLM sinh ra có thể diễn đạt lại, làm mất tính truy vết offset gốc.</a:t>
            </a:r>
          </a:p>
        </p:txBody>
      </p:sp>
      <p:sp>
        <p:nvSpPr>
          <p:cNvPr id="17" name="TextBox 16"/>
          <p:cNvSpPr txBox="1"/>
          <p:nvPr/>
        </p:nvSpPr>
        <p:spPr>
          <a:xfrm>
            <a:off x="6734175" y="22860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Khó kiểm soát Semantic Gate:</a:t>
            </a:r>
            <a:r>
              <a:rPr b="0" sz="1200" i="0" u="none">
                <a:solidFill>
                  <a:srgbClr val="334155"/>
                </a:solidFill>
                <a:latin typeface="Plus Jakarta Sans"/>
              </a:rPr>
              <a:t> LLM thế hệ mới dễ bị hallucination khi gặp câu hỏi unanswerable.</a:t>
            </a:r>
          </a:p>
        </p:txBody>
      </p:sp>
      <p:sp>
        <p:nvSpPr>
          <p:cNvPr id="18" name="TextBox 17"/>
          <p:cNvSpPr txBox="1"/>
          <p:nvPr/>
        </p:nvSpPr>
        <p:spPr>
          <a:xfrm>
            <a:off x="6734175" y="2857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Độ trễ cao hơn:</a:t>
            </a:r>
            <a:r>
              <a:rPr b="0" sz="1200" i="0" u="none">
                <a:solidFill>
                  <a:srgbClr val="334155"/>
                </a:solidFill>
                <a:latin typeface="Plus Jakarta Sans"/>
              </a:rPr>
              <a:t> Cần VRAM GPU dedicated và thời gian sinh token dài hơn.</a:t>
            </a:r>
          </a:p>
        </p:txBody>
      </p:sp>
      <p:pic>
        <p:nvPicPr>
          <p:cNvPr id="19" name="Picture 18" descr="image.png"/>
          <p:cNvPicPr>
            <a:picLocks noChangeAspect="1"/>
          </p:cNvPicPr>
          <p:nvPr/>
        </p:nvPicPr>
        <p:blipFill>
          <a:blip r:embed="rId9"/>
          <a:stretch>
            <a:fillRect/>
          </a:stretch>
        </p:blipFill>
        <p:spPr>
          <a:xfrm>
            <a:off x="771525" y="1752600"/>
            <a:ext cx="133350" cy="152400"/>
          </a:xfrm>
          <a:prstGeom prst="rect">
            <a:avLst/>
          </a:prstGeom>
        </p:spPr>
      </p:pic>
      <p:pic>
        <p:nvPicPr>
          <p:cNvPr id="20" name="Picture 19" descr="image.png"/>
          <p:cNvPicPr>
            <a:picLocks noChangeAspect="1"/>
          </p:cNvPicPr>
          <p:nvPr/>
        </p:nvPicPr>
        <p:blipFill>
          <a:blip r:embed="rId9"/>
          <a:stretch>
            <a:fillRect/>
          </a:stretch>
        </p:blipFill>
        <p:spPr>
          <a:xfrm>
            <a:off x="771525" y="2324100"/>
            <a:ext cx="133350" cy="152400"/>
          </a:xfrm>
          <a:prstGeom prst="rect">
            <a:avLst/>
          </a:prstGeom>
        </p:spPr>
      </p:pic>
      <p:pic>
        <p:nvPicPr>
          <p:cNvPr id="21" name="Picture 20" descr="image.png"/>
          <p:cNvPicPr>
            <a:picLocks noChangeAspect="1"/>
          </p:cNvPicPr>
          <p:nvPr/>
        </p:nvPicPr>
        <p:blipFill>
          <a:blip r:embed="rId9"/>
          <a:stretch>
            <a:fillRect/>
          </a:stretch>
        </p:blipFill>
        <p:spPr>
          <a:xfrm>
            <a:off x="771525" y="2895600"/>
            <a:ext cx="133350" cy="152400"/>
          </a:xfrm>
          <a:prstGeom prst="rect">
            <a:avLst/>
          </a:prstGeom>
        </p:spPr>
      </p:pic>
      <p:pic>
        <p:nvPicPr>
          <p:cNvPr id="22" name="Picture 21" descr="image.png"/>
          <p:cNvPicPr>
            <a:picLocks noChangeAspect="1"/>
          </p:cNvPicPr>
          <p:nvPr/>
        </p:nvPicPr>
        <p:blipFill>
          <a:blip r:embed="rId10"/>
          <a:stretch>
            <a:fillRect/>
          </a:stretch>
        </p:blipFill>
        <p:spPr>
          <a:xfrm>
            <a:off x="6467475" y="1752600"/>
            <a:ext cx="114300" cy="152400"/>
          </a:xfrm>
          <a:prstGeom prst="rect">
            <a:avLst/>
          </a:prstGeom>
        </p:spPr>
      </p:pic>
      <p:pic>
        <p:nvPicPr>
          <p:cNvPr id="23" name="Picture 22" descr="image.png"/>
          <p:cNvPicPr>
            <a:picLocks noChangeAspect="1"/>
          </p:cNvPicPr>
          <p:nvPr/>
        </p:nvPicPr>
        <p:blipFill>
          <a:blip r:embed="rId10"/>
          <a:stretch>
            <a:fillRect/>
          </a:stretch>
        </p:blipFill>
        <p:spPr>
          <a:xfrm>
            <a:off x="6467475" y="2324100"/>
            <a:ext cx="114300" cy="152400"/>
          </a:xfrm>
          <a:prstGeom prst="rect">
            <a:avLst/>
          </a:prstGeom>
        </p:spPr>
      </p:pic>
      <p:pic>
        <p:nvPicPr>
          <p:cNvPr id="24" name="Picture 23" descr="image.png"/>
          <p:cNvPicPr>
            <a:picLocks noChangeAspect="1"/>
          </p:cNvPicPr>
          <p:nvPr/>
        </p:nvPicPr>
        <p:blipFill>
          <a:blip r:embed="rId10"/>
          <a:stretch>
            <a:fillRect/>
          </a:stretch>
        </p:blipFill>
        <p:spPr>
          <a:xfrm>
            <a:off x="6467475" y="2895600"/>
            <a:ext cx="114300" cy="1524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5448300" cy="4191000"/>
          </a:xfrm>
          <a:prstGeom prst="rect">
            <a:avLst/>
          </a:prstGeom>
        </p:spPr>
      </p:pic>
      <p:pic>
        <p:nvPicPr>
          <p:cNvPr id="4" name="Picture 3" descr="image.png"/>
          <p:cNvPicPr>
            <a:picLocks noChangeAspect="1"/>
          </p:cNvPicPr>
          <p:nvPr/>
        </p:nvPicPr>
        <p:blipFill>
          <a:blip r:embed="rId4"/>
          <a:stretch>
            <a:fillRect/>
          </a:stretch>
        </p:blipFill>
        <p:spPr>
          <a:xfrm>
            <a:off x="6210300" y="1133475"/>
            <a:ext cx="5448300" cy="4191000"/>
          </a:xfrm>
          <a:prstGeom prst="rect">
            <a:avLst/>
          </a:prstGeom>
        </p:spPr>
      </p:pic>
      <p:pic>
        <p:nvPicPr>
          <p:cNvPr id="5" name="Picture 4" descr="image.png"/>
          <p:cNvPicPr>
            <a:picLocks noChangeAspect="1"/>
          </p:cNvPicPr>
          <p:nvPr/>
        </p:nvPicPr>
        <p:blipFill>
          <a:blip r:embed="rId5"/>
          <a:stretch>
            <a:fillRect/>
          </a:stretch>
        </p:blipFill>
        <p:spPr>
          <a:xfrm>
            <a:off x="771525" y="1762125"/>
            <a:ext cx="4972050" cy="523875"/>
          </a:xfrm>
          <a:prstGeom prst="rect">
            <a:avLst/>
          </a:prstGeom>
        </p:spPr>
      </p:pic>
      <p:pic>
        <p:nvPicPr>
          <p:cNvPr id="6" name="Picture 5" descr="image.png"/>
          <p:cNvPicPr>
            <a:picLocks noChangeAspect="1"/>
          </p:cNvPicPr>
          <p:nvPr/>
        </p:nvPicPr>
        <p:blipFill>
          <a:blip r:embed="rId6"/>
          <a:stretch>
            <a:fillRect/>
          </a:stretch>
        </p:blipFill>
        <p:spPr>
          <a:xfrm>
            <a:off x="771525" y="2657475"/>
            <a:ext cx="4972050" cy="523875"/>
          </a:xfrm>
          <a:prstGeom prst="rect">
            <a:avLst/>
          </a:prstGeom>
        </p:spPr>
      </p:pic>
      <p:pic>
        <p:nvPicPr>
          <p:cNvPr id="7" name="Picture 6" descr="image.png"/>
          <p:cNvPicPr>
            <a:picLocks noChangeAspect="1"/>
          </p:cNvPicPr>
          <p:nvPr/>
        </p:nvPicPr>
        <p:blipFill>
          <a:blip r:embed="rId7"/>
          <a:stretch>
            <a:fillRect/>
          </a:stretch>
        </p:blipFill>
        <p:spPr>
          <a:xfrm>
            <a:off x="771525" y="3552825"/>
            <a:ext cx="4972050" cy="523875"/>
          </a:xfrm>
          <a:prstGeom prst="rect">
            <a:avLst/>
          </a:prstGeom>
        </p:spPr>
      </p:pic>
      <p:pic>
        <p:nvPicPr>
          <p:cNvPr id="8" name="Picture 7" descr="image.png"/>
          <p:cNvPicPr>
            <a:picLocks noChangeAspect="1"/>
          </p:cNvPicPr>
          <p:nvPr/>
        </p:nvPicPr>
        <p:blipFill>
          <a:blip r:embed="rId8"/>
          <a:stretch>
            <a:fillRect/>
          </a:stretch>
        </p:blipFill>
        <p:spPr>
          <a:xfrm>
            <a:off x="771525" y="4448175"/>
            <a:ext cx="4972050" cy="523875"/>
          </a:xfrm>
          <a:prstGeom prst="rect">
            <a:avLst/>
          </a:prstGeom>
        </p:spPr>
      </p:pic>
      <p:pic>
        <p:nvPicPr>
          <p:cNvPr id="9" name="Picture 8" descr="image.png"/>
          <p:cNvPicPr>
            <a:picLocks noChangeAspect="1"/>
          </p:cNvPicPr>
          <p:nvPr/>
        </p:nvPicPr>
        <p:blipFill>
          <a:blip r:embed="rId9"/>
          <a:stretch>
            <a:fillRect/>
          </a:stretch>
        </p:blipFill>
        <p:spPr>
          <a:xfrm>
            <a:off x="6448425" y="1762125"/>
            <a:ext cx="4972050" cy="523875"/>
          </a:xfrm>
          <a:prstGeom prst="rect">
            <a:avLst/>
          </a:prstGeom>
        </p:spPr>
      </p:pic>
      <p:pic>
        <p:nvPicPr>
          <p:cNvPr id="10" name="Picture 9" descr="image.png"/>
          <p:cNvPicPr>
            <a:picLocks noChangeAspect="1"/>
          </p:cNvPicPr>
          <p:nvPr/>
        </p:nvPicPr>
        <p:blipFill>
          <a:blip r:embed="rId10"/>
          <a:stretch>
            <a:fillRect/>
          </a:stretch>
        </p:blipFill>
        <p:spPr>
          <a:xfrm>
            <a:off x="6448425" y="2657475"/>
            <a:ext cx="4972050" cy="523875"/>
          </a:xfrm>
          <a:prstGeom prst="rect">
            <a:avLst/>
          </a:prstGeom>
        </p:spPr>
      </p:pic>
      <p:pic>
        <p:nvPicPr>
          <p:cNvPr id="11" name="Picture 10" descr="image.png"/>
          <p:cNvPicPr>
            <a:picLocks noChangeAspect="1"/>
          </p:cNvPicPr>
          <p:nvPr/>
        </p:nvPicPr>
        <p:blipFill>
          <a:blip r:embed="rId11"/>
          <a:stretch>
            <a:fillRect/>
          </a:stretch>
        </p:blipFill>
        <p:spPr>
          <a:xfrm>
            <a:off x="6448425" y="3552825"/>
            <a:ext cx="4972050" cy="523875"/>
          </a:xfrm>
          <a:prstGeom prst="rect">
            <a:avLst/>
          </a:prstGeom>
        </p:spPr>
      </p:pic>
      <p:pic>
        <p:nvPicPr>
          <p:cNvPr id="12" name="Picture 11" descr="image.png"/>
          <p:cNvPicPr>
            <a:picLocks noChangeAspect="1"/>
          </p:cNvPicPr>
          <p:nvPr/>
        </p:nvPicPr>
        <p:blipFill>
          <a:blip r:embed="rId12"/>
          <a:stretch>
            <a:fillRect/>
          </a:stretch>
        </p:blipFill>
        <p:spPr>
          <a:xfrm>
            <a:off x="6448425" y="4448175"/>
            <a:ext cx="4972050" cy="523875"/>
          </a:xfrm>
          <a:prstGeom prst="rect">
            <a:avLst/>
          </a:prstGeom>
        </p:spPr>
      </p:pic>
      <p:sp>
        <p:nvSpPr>
          <p:cNvPr id="13" name="TextBox 12"/>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So sánh Luồng Extractive vs Generative QA</a:t>
            </a:r>
          </a:p>
        </p:txBody>
      </p:sp>
      <p:pic>
        <p:nvPicPr>
          <p:cNvPr id="14" name="Picture 13" descr="image.png"/>
          <p:cNvPicPr>
            <a:picLocks noChangeAspect="1"/>
          </p:cNvPicPr>
          <p:nvPr/>
        </p:nvPicPr>
        <p:blipFill>
          <a:blip r:embed="rId13"/>
          <a:stretch>
            <a:fillRect/>
          </a:stretch>
        </p:blipFill>
        <p:spPr>
          <a:xfrm>
            <a:off x="9958387" y="519112"/>
            <a:ext cx="1700212" cy="285750"/>
          </a:xfrm>
          <a:prstGeom prst="rect">
            <a:avLst/>
          </a:prstGeom>
        </p:spPr>
      </p:pic>
      <p:sp>
        <p:nvSpPr>
          <p:cNvPr id="15" name="TextBox 14"/>
          <p:cNvSpPr txBox="1"/>
          <p:nvPr/>
        </p:nvSpPr>
        <p:spPr>
          <a:xfrm>
            <a:off x="771525" y="1400175"/>
            <a:ext cx="5220652" cy="247650"/>
          </a:xfrm>
          <a:prstGeom prst="rect">
            <a:avLst/>
          </a:prstGeom>
          <a:noFill/>
        </p:spPr>
        <p:txBody>
          <a:bodyPr wrap="square" lIns="190500" rIns="0" tIns="0" bIns="0" anchor="t">
            <a:spAutoFit/>
          </a:bodyPr>
          <a:lstStyle/>
          <a:p>
            <a:pPr algn="l"/>
            <a:r>
              <a:rPr b="1" sz="1500" i="0" u="none">
                <a:solidFill>
                  <a:srgbClr val="1E293B"/>
                </a:solidFill>
                <a:latin typeface="Space Grotesk"/>
              </a:rPr>
              <a:t>Nhánh Trích xuất (Extractive XLM-R)</a:t>
            </a:r>
          </a:p>
        </p:txBody>
      </p:sp>
      <p:sp>
        <p:nvSpPr>
          <p:cNvPr id="16" name="TextBox 15"/>
          <p:cNvSpPr txBox="1"/>
          <p:nvPr/>
        </p:nvSpPr>
        <p:spPr>
          <a:xfrm>
            <a:off x="6448425" y="1400175"/>
            <a:ext cx="5220652" cy="247650"/>
          </a:xfrm>
          <a:prstGeom prst="rect">
            <a:avLst/>
          </a:prstGeom>
          <a:noFill/>
        </p:spPr>
        <p:txBody>
          <a:bodyPr wrap="square" lIns="219075" rIns="0" tIns="0" bIns="0" anchor="t">
            <a:spAutoFit/>
          </a:bodyPr>
          <a:lstStyle/>
          <a:p>
            <a:pPr algn="l"/>
            <a:r>
              <a:rPr b="1" sz="1500" i="0" u="none">
                <a:solidFill>
                  <a:srgbClr val="1E293B"/>
                </a:solidFill>
                <a:latin typeface="Space Grotesk"/>
              </a:rPr>
              <a:t>Nhánh Sinh (Generative LFM2.5 RAG)</a:t>
            </a:r>
          </a:p>
        </p:txBody>
      </p:sp>
      <p:pic>
        <p:nvPicPr>
          <p:cNvPr id="17" name="Picture 16" descr="image.png"/>
          <p:cNvPicPr>
            <a:picLocks noChangeAspect="1"/>
          </p:cNvPicPr>
          <p:nvPr/>
        </p:nvPicPr>
        <p:blipFill>
          <a:blip r:embed="rId14"/>
          <a:stretch>
            <a:fillRect/>
          </a:stretch>
        </p:blipFill>
        <p:spPr>
          <a:xfrm>
            <a:off x="771525" y="1428750"/>
            <a:ext cx="190500" cy="190500"/>
          </a:xfrm>
          <a:prstGeom prst="rect">
            <a:avLst/>
          </a:prstGeom>
        </p:spPr>
      </p:pic>
      <p:pic>
        <p:nvPicPr>
          <p:cNvPr id="18" name="Picture 17" descr="image.png"/>
          <p:cNvPicPr>
            <a:picLocks noChangeAspect="1"/>
          </p:cNvPicPr>
          <p:nvPr/>
        </p:nvPicPr>
        <p:blipFill>
          <a:blip r:embed="rId15"/>
          <a:stretch>
            <a:fillRect/>
          </a:stretch>
        </p:blipFill>
        <p:spPr>
          <a:xfrm>
            <a:off x="6448425" y="1428750"/>
            <a:ext cx="219075" cy="190500"/>
          </a:xfrm>
          <a:prstGeom prst="rect">
            <a:avLst/>
          </a:prstGeom>
        </p:spPr>
      </p:pic>
      <p:pic>
        <p:nvPicPr>
          <p:cNvPr id="19" name="Picture 18" descr="image.png"/>
          <p:cNvPicPr>
            <a:picLocks noChangeAspect="1"/>
          </p:cNvPicPr>
          <p:nvPr/>
        </p:nvPicPr>
        <p:blipFill>
          <a:blip r:embed="rId16"/>
          <a:stretch>
            <a:fillRect/>
          </a:stretch>
        </p:blipFill>
        <p:spPr>
          <a:xfrm>
            <a:off x="3171825" y="2400300"/>
            <a:ext cx="171450" cy="171450"/>
          </a:xfrm>
          <a:prstGeom prst="rect">
            <a:avLst/>
          </a:prstGeom>
        </p:spPr>
      </p:pic>
      <p:pic>
        <p:nvPicPr>
          <p:cNvPr id="20" name="Picture 19" descr="image.png"/>
          <p:cNvPicPr>
            <a:picLocks noChangeAspect="1"/>
          </p:cNvPicPr>
          <p:nvPr/>
        </p:nvPicPr>
        <p:blipFill>
          <a:blip r:embed="rId16"/>
          <a:stretch>
            <a:fillRect/>
          </a:stretch>
        </p:blipFill>
        <p:spPr>
          <a:xfrm>
            <a:off x="3171825" y="3295650"/>
            <a:ext cx="171450" cy="171450"/>
          </a:xfrm>
          <a:prstGeom prst="rect">
            <a:avLst/>
          </a:prstGeom>
        </p:spPr>
      </p:pic>
      <p:pic>
        <p:nvPicPr>
          <p:cNvPr id="21" name="Picture 20" descr="image.png"/>
          <p:cNvPicPr>
            <a:picLocks noChangeAspect="1"/>
          </p:cNvPicPr>
          <p:nvPr/>
        </p:nvPicPr>
        <p:blipFill>
          <a:blip r:embed="rId16"/>
          <a:stretch>
            <a:fillRect/>
          </a:stretch>
        </p:blipFill>
        <p:spPr>
          <a:xfrm>
            <a:off x="3171825" y="4191000"/>
            <a:ext cx="171450" cy="171450"/>
          </a:xfrm>
          <a:prstGeom prst="rect">
            <a:avLst/>
          </a:prstGeom>
        </p:spPr>
      </p:pic>
      <p:pic>
        <p:nvPicPr>
          <p:cNvPr id="22" name="Picture 21" descr="image.png"/>
          <p:cNvPicPr>
            <a:picLocks noChangeAspect="1"/>
          </p:cNvPicPr>
          <p:nvPr/>
        </p:nvPicPr>
        <p:blipFill>
          <a:blip r:embed="rId16"/>
          <a:stretch>
            <a:fillRect/>
          </a:stretch>
        </p:blipFill>
        <p:spPr>
          <a:xfrm>
            <a:off x="8848725" y="2400300"/>
            <a:ext cx="171450" cy="171450"/>
          </a:xfrm>
          <a:prstGeom prst="rect">
            <a:avLst/>
          </a:prstGeom>
        </p:spPr>
      </p:pic>
      <p:pic>
        <p:nvPicPr>
          <p:cNvPr id="23" name="Picture 22" descr="image.png"/>
          <p:cNvPicPr>
            <a:picLocks noChangeAspect="1"/>
          </p:cNvPicPr>
          <p:nvPr/>
        </p:nvPicPr>
        <p:blipFill>
          <a:blip r:embed="rId16"/>
          <a:stretch>
            <a:fillRect/>
          </a:stretch>
        </p:blipFill>
        <p:spPr>
          <a:xfrm>
            <a:off x="8848725" y="3295650"/>
            <a:ext cx="171450" cy="171450"/>
          </a:xfrm>
          <a:prstGeom prst="rect">
            <a:avLst/>
          </a:prstGeom>
        </p:spPr>
      </p:pic>
      <p:pic>
        <p:nvPicPr>
          <p:cNvPr id="24" name="Picture 23" descr="image.png"/>
          <p:cNvPicPr>
            <a:picLocks noChangeAspect="1"/>
          </p:cNvPicPr>
          <p:nvPr/>
        </p:nvPicPr>
        <p:blipFill>
          <a:blip r:embed="rId16"/>
          <a:stretch>
            <a:fillRect/>
          </a:stretch>
        </p:blipFill>
        <p:spPr>
          <a:xfrm>
            <a:off x="8848725" y="4191000"/>
            <a:ext cx="171450" cy="1714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248025"/>
            <a:ext cx="11125200" cy="847725"/>
          </a:xfrm>
          <a:prstGeom prst="rect">
            <a:avLst/>
          </a:prstGeom>
        </p:spPr>
      </p:pic>
      <p:pic>
        <p:nvPicPr>
          <p:cNvPr id="4" name="Picture 3" descr="image.png"/>
          <p:cNvPicPr>
            <a:picLocks noChangeAspect="1"/>
          </p:cNvPicPr>
          <p:nvPr/>
        </p:nvPicPr>
        <p:blipFill>
          <a:blip r:embed="rId4"/>
          <a:stretch>
            <a:fillRect/>
          </a:stretch>
        </p:blipFill>
        <p:spPr>
          <a:xfrm>
            <a:off x="533400" y="1476375"/>
            <a:ext cx="2695575" cy="733425"/>
          </a:xfrm>
          <a:prstGeom prst="rect">
            <a:avLst/>
          </a:prstGeom>
        </p:spPr>
      </p:pic>
      <p:pic>
        <p:nvPicPr>
          <p:cNvPr id="5" name="Picture 4" descr="image.png"/>
          <p:cNvPicPr>
            <a:picLocks noChangeAspect="1"/>
          </p:cNvPicPr>
          <p:nvPr/>
        </p:nvPicPr>
        <p:blipFill>
          <a:blip r:embed="rId5"/>
          <a:stretch>
            <a:fillRect/>
          </a:stretch>
        </p:blipFill>
        <p:spPr>
          <a:xfrm>
            <a:off x="3343275" y="1476375"/>
            <a:ext cx="2695575" cy="733425"/>
          </a:xfrm>
          <a:prstGeom prst="rect">
            <a:avLst/>
          </a:prstGeom>
        </p:spPr>
      </p:pic>
      <p:pic>
        <p:nvPicPr>
          <p:cNvPr id="6" name="Picture 5" descr="image.png"/>
          <p:cNvPicPr>
            <a:picLocks noChangeAspect="1"/>
          </p:cNvPicPr>
          <p:nvPr/>
        </p:nvPicPr>
        <p:blipFill>
          <a:blip r:embed="rId5"/>
          <a:stretch>
            <a:fillRect/>
          </a:stretch>
        </p:blipFill>
        <p:spPr>
          <a:xfrm>
            <a:off x="6153150" y="1476375"/>
            <a:ext cx="2695575" cy="733425"/>
          </a:xfrm>
          <a:prstGeom prst="rect">
            <a:avLst/>
          </a:prstGeom>
        </p:spPr>
      </p:pic>
      <p:pic>
        <p:nvPicPr>
          <p:cNvPr id="7" name="Picture 6" descr="image.png"/>
          <p:cNvPicPr>
            <a:picLocks noChangeAspect="1"/>
          </p:cNvPicPr>
          <p:nvPr/>
        </p:nvPicPr>
        <p:blipFill>
          <a:blip r:embed="rId6"/>
          <a:stretch>
            <a:fillRect/>
          </a:stretch>
        </p:blipFill>
        <p:spPr>
          <a:xfrm>
            <a:off x="8963025" y="1476375"/>
            <a:ext cx="2695575" cy="733425"/>
          </a:xfrm>
          <a:prstGeom prst="rect">
            <a:avLst/>
          </a:prstGeom>
        </p:spPr>
      </p:pic>
      <p:pic>
        <p:nvPicPr>
          <p:cNvPr id="8" name="Picture 7" descr="image.png"/>
          <p:cNvPicPr>
            <a:picLocks noChangeAspect="1"/>
          </p:cNvPicPr>
          <p:nvPr/>
        </p:nvPicPr>
        <p:blipFill>
          <a:blip r:embed="rId7"/>
          <a:stretch>
            <a:fillRect/>
          </a:stretch>
        </p:blipFill>
        <p:spPr>
          <a:xfrm>
            <a:off x="533400" y="2324100"/>
            <a:ext cx="2695575" cy="733425"/>
          </a:xfrm>
          <a:prstGeom prst="rect">
            <a:avLst/>
          </a:prstGeom>
        </p:spPr>
      </p:pic>
      <p:pic>
        <p:nvPicPr>
          <p:cNvPr id="9" name="Picture 8" descr="image.png"/>
          <p:cNvPicPr>
            <a:picLocks noChangeAspect="1"/>
          </p:cNvPicPr>
          <p:nvPr/>
        </p:nvPicPr>
        <p:blipFill>
          <a:blip r:embed="rId5"/>
          <a:stretch>
            <a:fillRect/>
          </a:stretch>
        </p:blipFill>
        <p:spPr>
          <a:xfrm>
            <a:off x="3343275" y="2324100"/>
            <a:ext cx="2695575" cy="733425"/>
          </a:xfrm>
          <a:prstGeom prst="rect">
            <a:avLst/>
          </a:prstGeom>
        </p:spPr>
      </p:pic>
      <p:pic>
        <p:nvPicPr>
          <p:cNvPr id="10" name="Picture 9" descr="image.png"/>
          <p:cNvPicPr>
            <a:picLocks noChangeAspect="1"/>
          </p:cNvPicPr>
          <p:nvPr/>
        </p:nvPicPr>
        <p:blipFill>
          <a:blip r:embed="rId5"/>
          <a:stretch>
            <a:fillRect/>
          </a:stretch>
        </p:blipFill>
        <p:spPr>
          <a:xfrm>
            <a:off x="6153150" y="2324100"/>
            <a:ext cx="2695575" cy="733425"/>
          </a:xfrm>
          <a:prstGeom prst="rect">
            <a:avLst/>
          </a:prstGeom>
        </p:spPr>
      </p:pic>
      <p:pic>
        <p:nvPicPr>
          <p:cNvPr id="11" name="Picture 10" descr="image.png"/>
          <p:cNvPicPr>
            <a:picLocks noChangeAspect="1"/>
          </p:cNvPicPr>
          <p:nvPr/>
        </p:nvPicPr>
        <p:blipFill>
          <a:blip r:embed="rId8"/>
          <a:stretch>
            <a:fillRect/>
          </a:stretch>
        </p:blipFill>
        <p:spPr>
          <a:xfrm>
            <a:off x="8963025" y="2324100"/>
            <a:ext cx="2695575" cy="733425"/>
          </a:xfrm>
          <a:prstGeom prst="rect">
            <a:avLst/>
          </a:prstGeom>
        </p:spPr>
      </p:pic>
      <p:sp>
        <p:nvSpPr>
          <p:cNvPr id="12" name="TextBox 11"/>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Chuỗi Semantic Gates &amp; Kiểm soát Ngữ nghĩa</a:t>
            </a:r>
          </a:p>
        </p:txBody>
      </p:sp>
      <p:pic>
        <p:nvPicPr>
          <p:cNvPr id="13" name="Picture 12" descr="image.png"/>
          <p:cNvPicPr>
            <a:picLocks noChangeAspect="1"/>
          </p:cNvPicPr>
          <p:nvPr/>
        </p:nvPicPr>
        <p:blipFill>
          <a:blip r:embed="rId9"/>
          <a:stretch>
            <a:fillRect/>
          </a:stretch>
        </p:blipFill>
        <p:spPr>
          <a:xfrm>
            <a:off x="10387012" y="519112"/>
            <a:ext cx="1271587" cy="285750"/>
          </a:xfrm>
          <a:prstGeom prst="rect">
            <a:avLst/>
          </a:prstGeom>
        </p:spPr>
      </p:pic>
      <p:sp>
        <p:nvSpPr>
          <p:cNvPr id="14" name="TextBox 13"/>
          <p:cNvSpPr txBox="1"/>
          <p:nvPr/>
        </p:nvSpPr>
        <p:spPr>
          <a:xfrm>
            <a:off x="533400" y="1133475"/>
            <a:ext cx="11106150"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Để ngăn ngừa việc đưa ra câu trả lời vô nghĩa hoặc sai lệch ngữ nghĩa, mọi ứng viên (Candidate Span) bắt buộc phải trải qua </a:t>
            </a:r>
            <a:r>
              <a:rPr b="1" sz="1200" i="0" u="none">
                <a:solidFill>
                  <a:srgbClr val="334155"/>
                </a:solidFill>
                <a:latin typeface="Plus Jakarta Sans"/>
              </a:rPr>
              <a:t>8 bước kiểm duyệt nghiêm ngặt</a:t>
            </a:r>
            <a:r>
              <a:rPr b="0" sz="1200" i="0" u="none">
                <a:solidFill>
                  <a:srgbClr val="334155"/>
                </a:solidFill>
                <a:latin typeface="Plus Jakarta Sans"/>
              </a:rPr>
              <a:t>:</a:t>
            </a:r>
          </a:p>
        </p:txBody>
      </p:sp>
      <p:sp>
        <p:nvSpPr>
          <p:cNvPr id="15" name="TextBox 14"/>
          <p:cNvSpPr txBox="1"/>
          <p:nvPr/>
        </p:nvSpPr>
        <p:spPr>
          <a:xfrm>
            <a:off x="771525" y="3486150"/>
            <a:ext cx="10648950" cy="371475"/>
          </a:xfrm>
          <a:prstGeom prst="rect">
            <a:avLst/>
          </a:prstGeom>
          <a:noFill/>
        </p:spPr>
        <p:txBody>
          <a:bodyPr wrap="square" lIns="0" rIns="0" tIns="0" bIns="0" anchor="t">
            <a:spAutoFit/>
          </a:bodyPr>
          <a:lstStyle/>
          <a:p>
            <a:pPr algn="l">
              <a:lnSpc>
                <a:spcPts val="1462"/>
              </a:lnSpc>
            </a:pPr>
            <a:r>
              <a:rPr b="1" sz="975" i="0" u="none">
                <a:solidFill>
                  <a:srgbClr val="334155"/>
                </a:solidFill>
                <a:latin typeface="Plus Jakarta Sans"/>
              </a:rPr>
              <a:t>Ngưỡng Thắt chặt đặc biệt:</a:t>
            </a:r>
            <a:r>
              <a:rPr b="0" sz="975" i="0" u="none">
                <a:solidFill>
                  <a:srgbClr val="334155"/>
                </a:solidFill>
                <a:latin typeface="Plus Jakarta Sans"/>
              </a:rPr>
              <a:t> Với các dạng câu hỏi nhạy cảm như </a:t>
            </a:r>
            <a:r>
              <a:rPr b="0" sz="975" i="0" u="none">
                <a:solidFill>
                  <a:srgbClr val="334155"/>
                </a:solidFill>
                <a:latin typeface="Plus Jakarta Sans"/>
              </a:rPr>
              <a:t>BIRTH_TIME</a:t>
            </a:r>
            <a:r>
              <a:rPr b="0" sz="975" i="0" u="none">
                <a:solidFill>
                  <a:srgbClr val="334155"/>
                </a:solidFill>
                <a:latin typeface="Plus Jakarta Sans"/>
              </a:rPr>
              <a:t> và </a:t>
            </a:r>
            <a:r>
              <a:rPr b="0" sz="975" i="0" u="none">
                <a:solidFill>
                  <a:srgbClr val="334155"/>
                </a:solidFill>
                <a:latin typeface="Plus Jakarta Sans"/>
              </a:rPr>
              <a:t>DEATH_TIME</a:t>
            </a:r>
            <a:r>
              <a:rPr b="0" sz="975" i="0" u="none">
                <a:solidFill>
                  <a:srgbClr val="334155"/>
                </a:solidFill>
                <a:latin typeface="Plus Jakarta Sans"/>
              </a:rPr>
              <a:t>, hệ thống nâng ngưỡng </a:t>
            </a:r>
            <a:r>
              <a:rPr b="1" sz="975" i="0" u="none">
                <a:solidFill>
                  <a:srgbClr val="334155"/>
                </a:solidFill>
                <a:latin typeface="Plus Jakarta Sans"/>
              </a:rPr>
              <a:t>Relation Score tối thiểu lên 0.90</a:t>
            </a:r>
            <a:r>
              <a:rPr b="0" sz="975" i="0" u="none">
                <a:solidFill>
                  <a:srgbClr val="334155"/>
                </a:solidFill>
                <a:latin typeface="Plus Jakarta Sans"/>
              </a:rPr>
              <a:t> để loại bỏ các mốc thời gian nhiễu khác trong văn bản.</a:t>
            </a:r>
          </a:p>
        </p:txBody>
      </p:sp>
      <p:sp>
        <p:nvSpPr>
          <p:cNvPr id="16" name="TextBox 15"/>
          <p:cNvSpPr txBox="1"/>
          <p:nvPr/>
        </p:nvSpPr>
        <p:spPr>
          <a:xfrm>
            <a:off x="676275" y="1619250"/>
            <a:ext cx="2409825" cy="171450"/>
          </a:xfrm>
          <a:prstGeom prst="rect">
            <a:avLst/>
          </a:prstGeom>
          <a:noFill/>
        </p:spPr>
        <p:txBody>
          <a:bodyPr wrap="square" lIns="0" rIns="0" tIns="0" bIns="0" anchor="t">
            <a:spAutoFit/>
          </a:bodyPr>
          <a:lstStyle/>
          <a:p>
            <a:pPr algn="ctr"/>
            <a:r>
              <a:rPr b="1" sz="1050" i="0" u="none">
                <a:solidFill>
                  <a:srgbClr val="2563EB"/>
                </a:solidFill>
                <a:latin typeface="Plus Jakarta Sans"/>
              </a:rPr>
              <a:t>Gate 1</a:t>
            </a:r>
          </a:p>
        </p:txBody>
      </p:sp>
      <p:sp>
        <p:nvSpPr>
          <p:cNvPr id="17" name="TextBox 16"/>
          <p:cNvSpPr txBox="1"/>
          <p:nvPr/>
        </p:nvSpPr>
        <p:spPr>
          <a:xfrm>
            <a:off x="676275" y="1790700"/>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Valid Span</a:t>
            </a:r>
          </a:p>
        </p:txBody>
      </p:sp>
      <p:sp>
        <p:nvSpPr>
          <p:cNvPr id="18" name="TextBox 17"/>
          <p:cNvSpPr txBox="1"/>
          <p:nvPr/>
        </p:nvSpPr>
        <p:spPr>
          <a:xfrm>
            <a:off x="676275" y="1943100"/>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Offset nằm trong passage</a:t>
            </a:r>
          </a:p>
        </p:txBody>
      </p:sp>
      <p:sp>
        <p:nvSpPr>
          <p:cNvPr id="19" name="TextBox 18"/>
          <p:cNvSpPr txBox="1"/>
          <p:nvPr/>
        </p:nvSpPr>
        <p:spPr>
          <a:xfrm>
            <a:off x="3486150" y="1619250"/>
            <a:ext cx="2409825" cy="171450"/>
          </a:xfrm>
          <a:prstGeom prst="rect">
            <a:avLst/>
          </a:prstGeom>
          <a:noFill/>
        </p:spPr>
        <p:txBody>
          <a:bodyPr wrap="square" lIns="0" rIns="0" tIns="0" bIns="0" anchor="t">
            <a:spAutoFit/>
          </a:bodyPr>
          <a:lstStyle/>
          <a:p>
            <a:pPr algn="ctr"/>
            <a:r>
              <a:rPr b="1" sz="1050" i="0" u="none">
                <a:solidFill>
                  <a:srgbClr val="2563EB"/>
                </a:solidFill>
                <a:latin typeface="Plus Jakarta Sans"/>
              </a:rPr>
              <a:t>Gate 2</a:t>
            </a:r>
          </a:p>
        </p:txBody>
      </p:sp>
      <p:sp>
        <p:nvSpPr>
          <p:cNvPr id="20" name="TextBox 19"/>
          <p:cNvSpPr txBox="1"/>
          <p:nvPr/>
        </p:nvSpPr>
        <p:spPr>
          <a:xfrm>
            <a:off x="3486150" y="1790700"/>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Boundary</a:t>
            </a:r>
          </a:p>
        </p:txBody>
      </p:sp>
      <p:sp>
        <p:nvSpPr>
          <p:cNvPr id="21" name="TextBox 20"/>
          <p:cNvSpPr txBox="1"/>
          <p:nvPr/>
        </p:nvSpPr>
        <p:spPr>
          <a:xfrm>
            <a:off x="3486150" y="1943100"/>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Score ≥ 0.20</a:t>
            </a:r>
          </a:p>
        </p:txBody>
      </p:sp>
      <p:sp>
        <p:nvSpPr>
          <p:cNvPr id="22" name="TextBox 21"/>
          <p:cNvSpPr txBox="1"/>
          <p:nvPr/>
        </p:nvSpPr>
        <p:spPr>
          <a:xfrm>
            <a:off x="6296025" y="1619250"/>
            <a:ext cx="2409825" cy="171450"/>
          </a:xfrm>
          <a:prstGeom prst="rect">
            <a:avLst/>
          </a:prstGeom>
          <a:noFill/>
        </p:spPr>
        <p:txBody>
          <a:bodyPr wrap="square" lIns="0" rIns="0" tIns="0" bIns="0" anchor="t">
            <a:spAutoFit/>
          </a:bodyPr>
          <a:lstStyle/>
          <a:p>
            <a:pPr algn="ctr"/>
            <a:r>
              <a:rPr b="1" sz="1050" i="0" u="none">
                <a:solidFill>
                  <a:srgbClr val="2563EB"/>
                </a:solidFill>
                <a:latin typeface="Plus Jakarta Sans"/>
              </a:rPr>
              <a:t>Gate 3</a:t>
            </a:r>
          </a:p>
        </p:txBody>
      </p:sp>
      <p:sp>
        <p:nvSpPr>
          <p:cNvPr id="23" name="TextBox 22"/>
          <p:cNvSpPr txBox="1"/>
          <p:nvPr/>
        </p:nvSpPr>
        <p:spPr>
          <a:xfrm>
            <a:off x="6296025" y="1790700"/>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Completeness</a:t>
            </a:r>
          </a:p>
        </p:txBody>
      </p:sp>
      <p:sp>
        <p:nvSpPr>
          <p:cNvPr id="24" name="TextBox 23"/>
          <p:cNvSpPr txBox="1"/>
          <p:nvPr/>
        </p:nvSpPr>
        <p:spPr>
          <a:xfrm>
            <a:off x="6296025" y="1943100"/>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Score ≥ 0.50</a:t>
            </a:r>
          </a:p>
        </p:txBody>
      </p:sp>
      <p:sp>
        <p:nvSpPr>
          <p:cNvPr id="25" name="TextBox 24"/>
          <p:cNvSpPr txBox="1"/>
          <p:nvPr/>
        </p:nvSpPr>
        <p:spPr>
          <a:xfrm>
            <a:off x="9105900" y="1619250"/>
            <a:ext cx="2409825" cy="171450"/>
          </a:xfrm>
          <a:prstGeom prst="rect">
            <a:avLst/>
          </a:prstGeom>
          <a:noFill/>
        </p:spPr>
        <p:txBody>
          <a:bodyPr wrap="square" lIns="0" rIns="0" tIns="0" bIns="0" anchor="t">
            <a:spAutoFit/>
          </a:bodyPr>
          <a:lstStyle/>
          <a:p>
            <a:pPr algn="ctr"/>
            <a:r>
              <a:rPr b="1" sz="1050" i="0" u="none">
                <a:solidFill>
                  <a:srgbClr val="2563EB"/>
                </a:solidFill>
                <a:latin typeface="Plus Jakarta Sans"/>
              </a:rPr>
              <a:t>Gate 4</a:t>
            </a:r>
          </a:p>
        </p:txBody>
      </p:sp>
      <p:sp>
        <p:nvSpPr>
          <p:cNvPr id="26" name="TextBox 25"/>
          <p:cNvSpPr txBox="1"/>
          <p:nvPr/>
        </p:nvSpPr>
        <p:spPr>
          <a:xfrm>
            <a:off x="9105900" y="1790700"/>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Evidence</a:t>
            </a:r>
          </a:p>
        </p:txBody>
      </p:sp>
      <p:sp>
        <p:nvSpPr>
          <p:cNvPr id="27" name="TextBox 26"/>
          <p:cNvSpPr txBox="1"/>
          <p:nvPr/>
        </p:nvSpPr>
        <p:spPr>
          <a:xfrm>
            <a:off x="9105900" y="1943100"/>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Substring match ≥ 0.50</a:t>
            </a:r>
          </a:p>
        </p:txBody>
      </p:sp>
      <p:sp>
        <p:nvSpPr>
          <p:cNvPr id="28" name="TextBox 27"/>
          <p:cNvSpPr txBox="1"/>
          <p:nvPr/>
        </p:nvSpPr>
        <p:spPr>
          <a:xfrm>
            <a:off x="676275" y="2466975"/>
            <a:ext cx="2409825" cy="171450"/>
          </a:xfrm>
          <a:prstGeom prst="rect">
            <a:avLst/>
          </a:prstGeom>
          <a:noFill/>
        </p:spPr>
        <p:txBody>
          <a:bodyPr wrap="square" lIns="0" rIns="0" tIns="0" bIns="0" anchor="t">
            <a:spAutoFit/>
          </a:bodyPr>
          <a:lstStyle/>
          <a:p>
            <a:pPr algn="ctr"/>
            <a:r>
              <a:rPr b="1" sz="1050" i="0" u="none">
                <a:solidFill>
                  <a:srgbClr val="059669"/>
                </a:solidFill>
                <a:latin typeface="Plus Jakarta Sans"/>
              </a:rPr>
              <a:t>Gate 5</a:t>
            </a:r>
          </a:p>
        </p:txBody>
      </p:sp>
      <p:sp>
        <p:nvSpPr>
          <p:cNvPr id="29" name="TextBox 28"/>
          <p:cNvSpPr txBox="1"/>
          <p:nvPr/>
        </p:nvSpPr>
        <p:spPr>
          <a:xfrm>
            <a:off x="676275" y="2638425"/>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Subject Check</a:t>
            </a:r>
          </a:p>
        </p:txBody>
      </p:sp>
      <p:sp>
        <p:nvSpPr>
          <p:cNvPr id="30" name="TextBox 29"/>
          <p:cNvSpPr txBox="1"/>
          <p:nvPr/>
        </p:nvSpPr>
        <p:spPr>
          <a:xfrm>
            <a:off x="676275" y="2790825"/>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Khớp chủ thể câu hỏi</a:t>
            </a:r>
          </a:p>
        </p:txBody>
      </p:sp>
      <p:sp>
        <p:nvSpPr>
          <p:cNvPr id="31" name="TextBox 30"/>
          <p:cNvSpPr txBox="1"/>
          <p:nvPr/>
        </p:nvSpPr>
        <p:spPr>
          <a:xfrm>
            <a:off x="3486150" y="2466975"/>
            <a:ext cx="2409825" cy="171450"/>
          </a:xfrm>
          <a:prstGeom prst="rect">
            <a:avLst/>
          </a:prstGeom>
          <a:noFill/>
        </p:spPr>
        <p:txBody>
          <a:bodyPr wrap="square" lIns="0" rIns="0" tIns="0" bIns="0" anchor="t">
            <a:spAutoFit/>
          </a:bodyPr>
          <a:lstStyle/>
          <a:p>
            <a:pPr algn="ctr"/>
            <a:r>
              <a:rPr b="1" sz="1050" i="0" u="none">
                <a:solidFill>
                  <a:srgbClr val="059669"/>
                </a:solidFill>
                <a:latin typeface="Plus Jakarta Sans"/>
              </a:rPr>
              <a:t>Gate 6</a:t>
            </a:r>
          </a:p>
        </p:txBody>
      </p:sp>
      <p:sp>
        <p:nvSpPr>
          <p:cNvPr id="32" name="TextBox 31"/>
          <p:cNvSpPr txBox="1"/>
          <p:nvPr/>
        </p:nvSpPr>
        <p:spPr>
          <a:xfrm>
            <a:off x="3486150" y="2638425"/>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Relation Check</a:t>
            </a:r>
          </a:p>
        </p:txBody>
      </p:sp>
      <p:sp>
        <p:nvSpPr>
          <p:cNvPr id="33" name="TextBox 32"/>
          <p:cNvSpPr txBox="1"/>
          <p:nvPr/>
        </p:nvSpPr>
        <p:spPr>
          <a:xfrm>
            <a:off x="3486150" y="2790825"/>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Khớp quan hệ (VD: ngày sinh)</a:t>
            </a:r>
          </a:p>
        </p:txBody>
      </p:sp>
      <p:sp>
        <p:nvSpPr>
          <p:cNvPr id="34" name="TextBox 33"/>
          <p:cNvSpPr txBox="1"/>
          <p:nvPr/>
        </p:nvSpPr>
        <p:spPr>
          <a:xfrm>
            <a:off x="6296025" y="2466975"/>
            <a:ext cx="2409825" cy="171450"/>
          </a:xfrm>
          <a:prstGeom prst="rect">
            <a:avLst/>
          </a:prstGeom>
          <a:noFill/>
        </p:spPr>
        <p:txBody>
          <a:bodyPr wrap="square" lIns="0" rIns="0" tIns="0" bIns="0" anchor="t">
            <a:spAutoFit/>
          </a:bodyPr>
          <a:lstStyle/>
          <a:p>
            <a:pPr algn="ctr"/>
            <a:r>
              <a:rPr b="1" sz="1050" i="0" u="none">
                <a:solidFill>
                  <a:srgbClr val="059669"/>
                </a:solidFill>
                <a:latin typeface="Plus Jakarta Sans"/>
              </a:rPr>
              <a:t>Gate 7</a:t>
            </a:r>
          </a:p>
        </p:txBody>
      </p:sp>
      <p:sp>
        <p:nvSpPr>
          <p:cNvPr id="35" name="TextBox 34"/>
          <p:cNvSpPr txBox="1"/>
          <p:nvPr/>
        </p:nvSpPr>
        <p:spPr>
          <a:xfrm>
            <a:off x="6296025" y="2638425"/>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Answer Type</a:t>
            </a:r>
          </a:p>
        </p:txBody>
      </p:sp>
      <p:sp>
        <p:nvSpPr>
          <p:cNvPr id="36" name="TextBox 35"/>
          <p:cNvSpPr txBox="1"/>
          <p:nvPr/>
        </p:nvSpPr>
        <p:spPr>
          <a:xfrm>
            <a:off x="6296025" y="2790825"/>
            <a:ext cx="2409825" cy="123825"/>
          </a:xfrm>
          <a:prstGeom prst="rect">
            <a:avLst/>
          </a:prstGeom>
          <a:noFill/>
        </p:spPr>
        <p:txBody>
          <a:bodyPr wrap="square" lIns="0" rIns="0" tIns="0" bIns="0" anchor="t">
            <a:spAutoFit/>
          </a:bodyPr>
          <a:lstStyle/>
          <a:p>
            <a:pPr algn="ctr"/>
            <a:r>
              <a:rPr b="0" sz="825" i="0" u="none">
                <a:solidFill>
                  <a:srgbClr val="64748B"/>
                </a:solidFill>
                <a:latin typeface="Plus Jakarta Sans"/>
              </a:rPr>
              <a:t>Score ≥ 0.50</a:t>
            </a:r>
          </a:p>
        </p:txBody>
      </p:sp>
      <p:sp>
        <p:nvSpPr>
          <p:cNvPr id="37" name="TextBox 36"/>
          <p:cNvSpPr txBox="1"/>
          <p:nvPr/>
        </p:nvSpPr>
        <p:spPr>
          <a:xfrm>
            <a:off x="9105900" y="2466975"/>
            <a:ext cx="2409825" cy="171450"/>
          </a:xfrm>
          <a:prstGeom prst="rect">
            <a:avLst/>
          </a:prstGeom>
          <a:noFill/>
        </p:spPr>
        <p:txBody>
          <a:bodyPr wrap="square" lIns="0" rIns="0" tIns="0" bIns="0" anchor="t">
            <a:spAutoFit/>
          </a:bodyPr>
          <a:lstStyle/>
          <a:p>
            <a:pPr algn="ctr"/>
            <a:r>
              <a:rPr b="1" sz="1050" i="0" u="none">
                <a:solidFill>
                  <a:srgbClr val="166534"/>
                </a:solidFill>
                <a:latin typeface="Plus Jakarta Sans"/>
              </a:rPr>
              <a:t>Gate 8</a:t>
            </a:r>
          </a:p>
        </p:txBody>
      </p:sp>
      <p:sp>
        <p:nvSpPr>
          <p:cNvPr id="38" name="TextBox 37"/>
          <p:cNvSpPr txBox="1"/>
          <p:nvPr/>
        </p:nvSpPr>
        <p:spPr>
          <a:xfrm>
            <a:off x="9105900" y="2638425"/>
            <a:ext cx="2409825" cy="152400"/>
          </a:xfrm>
          <a:prstGeom prst="rect">
            <a:avLst/>
          </a:prstGeom>
          <a:noFill/>
        </p:spPr>
        <p:txBody>
          <a:bodyPr wrap="square" lIns="0" rIns="0" tIns="0" bIns="0" anchor="t">
            <a:spAutoFit/>
          </a:bodyPr>
          <a:lstStyle/>
          <a:p>
            <a:pPr algn="ctr"/>
            <a:r>
              <a:rPr b="0" sz="975" i="0" u="none">
                <a:solidFill>
                  <a:srgbClr val="000000"/>
                </a:solidFill>
                <a:latin typeface="Plus Jakarta Sans SemiBold"/>
              </a:rPr>
              <a:t>Final Rank</a:t>
            </a:r>
          </a:p>
        </p:txBody>
      </p:sp>
      <p:sp>
        <p:nvSpPr>
          <p:cNvPr id="39" name="TextBox 38"/>
          <p:cNvSpPr txBox="1"/>
          <p:nvPr/>
        </p:nvSpPr>
        <p:spPr>
          <a:xfrm>
            <a:off x="9105900" y="2790825"/>
            <a:ext cx="2409825" cy="123825"/>
          </a:xfrm>
          <a:prstGeom prst="rect">
            <a:avLst/>
          </a:prstGeom>
          <a:noFill/>
        </p:spPr>
        <p:txBody>
          <a:bodyPr wrap="square" lIns="0" rIns="0" tIns="0" bIns="0" anchor="t">
            <a:spAutoFit/>
          </a:bodyPr>
          <a:lstStyle/>
          <a:p>
            <a:pPr algn="ctr"/>
            <a:r>
              <a:rPr b="0" sz="825" i="0" u="none">
                <a:solidFill>
                  <a:srgbClr val="166534"/>
                </a:solidFill>
                <a:latin typeface="Plus Jakarta Sans"/>
              </a:rPr>
              <a:t>Accept / Abstain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11125200" cy="893415"/>
          </a:xfrm>
          <a:prstGeom prst="rect">
            <a:avLst/>
          </a:prstGeom>
        </p:spPr>
      </p:pic>
      <p:pic>
        <p:nvPicPr>
          <p:cNvPr id="4" name="Picture 3" descr="image.png"/>
          <p:cNvPicPr>
            <a:picLocks noChangeAspect="1"/>
          </p:cNvPicPr>
          <p:nvPr/>
        </p:nvPicPr>
        <p:blipFill>
          <a:blip r:embed="rId4"/>
          <a:stretch>
            <a:fillRect/>
          </a:stretch>
        </p:blipFill>
        <p:spPr>
          <a:xfrm>
            <a:off x="533400" y="2255490"/>
            <a:ext cx="2667000" cy="1971675"/>
          </a:xfrm>
          <a:prstGeom prst="rect">
            <a:avLst/>
          </a:prstGeom>
        </p:spPr>
      </p:pic>
      <p:pic>
        <p:nvPicPr>
          <p:cNvPr id="5" name="Picture 4" descr="image.png"/>
          <p:cNvPicPr>
            <a:picLocks noChangeAspect="1"/>
          </p:cNvPicPr>
          <p:nvPr/>
        </p:nvPicPr>
        <p:blipFill>
          <a:blip r:embed="rId5"/>
          <a:stretch>
            <a:fillRect/>
          </a:stretch>
        </p:blipFill>
        <p:spPr>
          <a:xfrm>
            <a:off x="3352800" y="2255490"/>
            <a:ext cx="2667000" cy="1971675"/>
          </a:xfrm>
          <a:prstGeom prst="rect">
            <a:avLst/>
          </a:prstGeom>
        </p:spPr>
      </p:pic>
      <p:pic>
        <p:nvPicPr>
          <p:cNvPr id="6" name="Picture 5" descr="image.png"/>
          <p:cNvPicPr>
            <a:picLocks noChangeAspect="1"/>
          </p:cNvPicPr>
          <p:nvPr/>
        </p:nvPicPr>
        <p:blipFill>
          <a:blip r:embed="rId5"/>
          <a:stretch>
            <a:fillRect/>
          </a:stretch>
        </p:blipFill>
        <p:spPr>
          <a:xfrm>
            <a:off x="6172200" y="2255490"/>
            <a:ext cx="2667000" cy="1971675"/>
          </a:xfrm>
          <a:prstGeom prst="rect">
            <a:avLst/>
          </a:prstGeom>
        </p:spPr>
      </p:pic>
      <p:pic>
        <p:nvPicPr>
          <p:cNvPr id="7" name="Picture 6" descr="image.png"/>
          <p:cNvPicPr>
            <a:picLocks noChangeAspect="1"/>
          </p:cNvPicPr>
          <p:nvPr/>
        </p:nvPicPr>
        <p:blipFill>
          <a:blip r:embed="rId6"/>
          <a:stretch>
            <a:fillRect/>
          </a:stretch>
        </p:blipFill>
        <p:spPr>
          <a:xfrm>
            <a:off x="8991600" y="2255490"/>
            <a:ext cx="2667000" cy="1971675"/>
          </a:xfrm>
          <a:prstGeom prst="rect">
            <a:avLst/>
          </a:prstGeom>
        </p:spPr>
      </p:pic>
      <p:sp>
        <p:nvSpPr>
          <p:cNvPr id="8" name="TextBox 7"/>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Công thức Xếp hạng (Ranking Formula)</a:t>
            </a:r>
          </a:p>
        </p:txBody>
      </p:sp>
      <p:pic>
        <p:nvPicPr>
          <p:cNvPr id="9" name="Picture 8" descr="image.png"/>
          <p:cNvPicPr>
            <a:picLocks noChangeAspect="1"/>
          </p:cNvPicPr>
          <p:nvPr/>
        </p:nvPicPr>
        <p:blipFill>
          <a:blip r:embed="rId7"/>
          <a:stretch>
            <a:fillRect/>
          </a:stretch>
        </p:blipFill>
        <p:spPr>
          <a:xfrm>
            <a:off x="10453687" y="519112"/>
            <a:ext cx="1204912" cy="285750"/>
          </a:xfrm>
          <a:prstGeom prst="rect">
            <a:avLst/>
          </a:prstGeom>
        </p:spPr>
      </p:pic>
      <p:sp>
        <p:nvSpPr>
          <p:cNvPr id="10" name="TextBox 9"/>
          <p:cNvSpPr txBox="1"/>
          <p:nvPr/>
        </p:nvSpPr>
        <p:spPr>
          <a:xfrm>
            <a:off x="809625" y="1409700"/>
            <a:ext cx="10572750" cy="340965"/>
          </a:xfrm>
          <a:prstGeom prst="rect">
            <a:avLst/>
          </a:prstGeom>
          <a:noFill/>
        </p:spPr>
        <p:txBody>
          <a:bodyPr wrap="square" lIns="0" rIns="0" tIns="0" bIns="0" anchor="t">
            <a:spAutoFit/>
          </a:bodyPr>
          <a:lstStyle/>
          <a:p>
            <a:pPr algn="ctr"/>
            <a:r>
              <a:rPr b="1" sz="1800" i="0" u="none">
                <a:solidFill>
                  <a:srgbClr val="1E40AF"/>
                </a:solidFill>
                <a:latin typeface="Space Grotesk"/>
              </a:rPr>
              <a:t>Score(c) = 0.30 • S</a:t>
            </a:r>
            <a:r>
              <a:rPr b="1" sz="1800" i="0" u="none">
                <a:solidFill>
                  <a:srgbClr val="1E40AF"/>
                </a:solidFill>
                <a:latin typeface="Space Grotesk"/>
              </a:rPr>
              <a:t>ret</a:t>
            </a:r>
            <a:r>
              <a:rPr b="1" sz="1800" i="0" u="none">
                <a:solidFill>
                  <a:srgbClr val="1E40AF"/>
                </a:solidFill>
                <a:latin typeface="Space Grotesk"/>
              </a:rPr>
              <a:t> + 0.60 • R</a:t>
            </a:r>
            <a:r>
              <a:rPr b="1" sz="1800" i="0" u="none">
                <a:solidFill>
                  <a:srgbClr val="1E40AF"/>
                </a:solidFill>
                <a:latin typeface="Space Grotesk"/>
              </a:rPr>
              <a:t>c</a:t>
            </a:r>
            <a:r>
              <a:rPr b="1" sz="1800" i="0" u="none">
                <a:solidFill>
                  <a:srgbClr val="1E40AF"/>
                </a:solidFill>
                <a:latin typeface="Space Grotesk"/>
              </a:rPr>
              <a:t> + 0.10 • S</a:t>
            </a:r>
            <a:r>
              <a:rPr b="1" sz="1800" i="0" u="none">
                <a:solidFill>
                  <a:srgbClr val="1E40AF"/>
                </a:solidFill>
                <a:latin typeface="Space Grotesk"/>
              </a:rPr>
              <a:t>type</a:t>
            </a:r>
            <a:r>
              <a:rPr b="1" sz="1800" i="0" u="none">
                <a:solidFill>
                  <a:srgbClr val="1E40AF"/>
                </a:solidFill>
                <a:latin typeface="Space Grotesk"/>
              </a:rPr>
              <a:t> + 0.00 • S</a:t>
            </a:r>
            <a:r>
              <a:rPr b="1" sz="1800" i="0" u="none">
                <a:solidFill>
                  <a:srgbClr val="1E40AF"/>
                </a:solidFill>
                <a:latin typeface="Space Grotesk"/>
              </a:rPr>
              <a:t>relation</a:t>
            </a:r>
          </a:p>
        </p:txBody>
      </p:sp>
      <p:sp>
        <p:nvSpPr>
          <p:cNvPr id="11" name="TextBox 10"/>
          <p:cNvSpPr txBox="1"/>
          <p:nvPr/>
        </p:nvSpPr>
        <p:spPr>
          <a:xfrm>
            <a:off x="771525" y="2493615"/>
            <a:ext cx="2190750" cy="381000"/>
          </a:xfrm>
          <a:prstGeom prst="rect">
            <a:avLst/>
          </a:prstGeom>
          <a:noFill/>
        </p:spPr>
        <p:txBody>
          <a:bodyPr wrap="square" lIns="0" rIns="0" tIns="0" bIns="0" anchor="t">
            <a:spAutoFit/>
          </a:bodyPr>
          <a:lstStyle/>
          <a:p>
            <a:pPr algn="l"/>
            <a:r>
              <a:rPr b="1" sz="2400" i="0" u="none">
                <a:solidFill>
                  <a:srgbClr val="2563EB"/>
                </a:solidFill>
                <a:latin typeface="Plus Jakarta Sans"/>
              </a:rPr>
              <a:t>30%</a:t>
            </a:r>
          </a:p>
        </p:txBody>
      </p:sp>
      <p:sp>
        <p:nvSpPr>
          <p:cNvPr id="12" name="TextBox 11"/>
          <p:cNvSpPr txBox="1"/>
          <p:nvPr/>
        </p:nvSpPr>
        <p:spPr>
          <a:xfrm>
            <a:off x="771525" y="2874615"/>
            <a:ext cx="2300287" cy="285750"/>
          </a:xfrm>
          <a:prstGeom prst="rect">
            <a:avLst/>
          </a:prstGeom>
          <a:noFill/>
        </p:spPr>
        <p:txBody>
          <a:bodyPr wrap="square" lIns="0" rIns="0" tIns="0" bIns="0" anchor="t">
            <a:spAutoFit/>
          </a:bodyPr>
          <a:lstStyle/>
          <a:p>
            <a:pPr algn="l"/>
            <a:r>
              <a:rPr b="1" sz="1500" i="0" u="none">
                <a:solidFill>
                  <a:srgbClr val="1E293B"/>
                </a:solidFill>
                <a:latin typeface="Space Grotesk"/>
              </a:rPr>
              <a:t>S</a:t>
            </a:r>
            <a:r>
              <a:rPr b="1" sz="1500" i="0" u="none">
                <a:solidFill>
                  <a:srgbClr val="1E293B"/>
                </a:solidFill>
                <a:latin typeface="Space Grotesk"/>
              </a:rPr>
              <a:t>ret</a:t>
            </a:r>
            <a:r>
              <a:rPr b="1" sz="1500" i="0" u="none">
                <a:solidFill>
                  <a:srgbClr val="1E293B"/>
                </a:solidFill>
                <a:latin typeface="Space Grotesk"/>
              </a:rPr>
              <a:t> (Retriever)</a:t>
            </a:r>
          </a:p>
        </p:txBody>
      </p:sp>
      <p:sp>
        <p:nvSpPr>
          <p:cNvPr id="13" name="TextBox 12"/>
          <p:cNvSpPr txBox="1"/>
          <p:nvPr/>
        </p:nvSpPr>
        <p:spPr>
          <a:xfrm>
            <a:off x="771525" y="3255615"/>
            <a:ext cx="219075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Điểm Min-Max Normalized từ tín hiệu truy hồi tài liệu.</a:t>
            </a:r>
          </a:p>
        </p:txBody>
      </p:sp>
      <p:sp>
        <p:nvSpPr>
          <p:cNvPr id="14" name="TextBox 13"/>
          <p:cNvSpPr txBox="1"/>
          <p:nvPr/>
        </p:nvSpPr>
        <p:spPr>
          <a:xfrm>
            <a:off x="3590925" y="2493615"/>
            <a:ext cx="2190750" cy="381000"/>
          </a:xfrm>
          <a:prstGeom prst="rect">
            <a:avLst/>
          </a:prstGeom>
          <a:noFill/>
        </p:spPr>
        <p:txBody>
          <a:bodyPr wrap="square" lIns="0" rIns="0" tIns="0" bIns="0" anchor="t">
            <a:spAutoFit/>
          </a:bodyPr>
          <a:lstStyle/>
          <a:p>
            <a:pPr algn="l"/>
            <a:r>
              <a:rPr b="1" sz="2400" i="0" u="none">
                <a:solidFill>
                  <a:srgbClr val="059669"/>
                </a:solidFill>
                <a:latin typeface="Plus Jakarta Sans"/>
              </a:rPr>
              <a:t>60%</a:t>
            </a:r>
          </a:p>
        </p:txBody>
      </p:sp>
      <p:sp>
        <p:nvSpPr>
          <p:cNvPr id="15" name="TextBox 14"/>
          <p:cNvSpPr txBox="1"/>
          <p:nvPr/>
        </p:nvSpPr>
        <p:spPr>
          <a:xfrm>
            <a:off x="3590925" y="2874615"/>
            <a:ext cx="2300287" cy="285750"/>
          </a:xfrm>
          <a:prstGeom prst="rect">
            <a:avLst/>
          </a:prstGeom>
          <a:noFill/>
        </p:spPr>
        <p:txBody>
          <a:bodyPr wrap="square" lIns="0" rIns="0" tIns="0" bIns="0" anchor="t">
            <a:spAutoFit/>
          </a:bodyPr>
          <a:lstStyle/>
          <a:p>
            <a:pPr algn="l"/>
            <a:r>
              <a:rPr b="1" sz="1500" i="0" u="none">
                <a:solidFill>
                  <a:srgbClr val="1E293B"/>
                </a:solidFill>
                <a:latin typeface="Space Grotesk"/>
              </a:rPr>
              <a:t>R</a:t>
            </a:r>
            <a:r>
              <a:rPr b="1" sz="1500" i="0" u="none">
                <a:solidFill>
                  <a:srgbClr val="1E293B"/>
                </a:solidFill>
                <a:latin typeface="Space Grotesk"/>
              </a:rPr>
              <a:t>c</a:t>
            </a:r>
            <a:r>
              <a:rPr b="1" sz="1500" i="0" u="none">
                <a:solidFill>
                  <a:srgbClr val="1E293B"/>
                </a:solidFill>
                <a:latin typeface="Space Grotesk"/>
              </a:rPr>
              <a:t> (Reader Signal)</a:t>
            </a:r>
          </a:p>
        </p:txBody>
      </p:sp>
      <p:sp>
        <p:nvSpPr>
          <p:cNvPr id="16" name="TextBox 15"/>
          <p:cNvSpPr txBox="1"/>
          <p:nvPr/>
        </p:nvSpPr>
        <p:spPr>
          <a:xfrm>
            <a:off x="3590925" y="3255615"/>
            <a:ext cx="219075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Điểm Reader sau khi phạt Fallback và nhân Boundary/Completeness.</a:t>
            </a:r>
          </a:p>
        </p:txBody>
      </p:sp>
      <p:sp>
        <p:nvSpPr>
          <p:cNvPr id="17" name="TextBox 16"/>
          <p:cNvSpPr txBox="1"/>
          <p:nvPr/>
        </p:nvSpPr>
        <p:spPr>
          <a:xfrm>
            <a:off x="6410325" y="2493615"/>
            <a:ext cx="2190750" cy="381000"/>
          </a:xfrm>
          <a:prstGeom prst="rect">
            <a:avLst/>
          </a:prstGeom>
          <a:noFill/>
        </p:spPr>
        <p:txBody>
          <a:bodyPr wrap="square" lIns="0" rIns="0" tIns="0" bIns="0" anchor="t">
            <a:spAutoFit/>
          </a:bodyPr>
          <a:lstStyle/>
          <a:p>
            <a:pPr algn="l"/>
            <a:r>
              <a:rPr b="1" sz="2400" i="0" u="none">
                <a:solidFill>
                  <a:srgbClr val="D97706"/>
                </a:solidFill>
                <a:latin typeface="Plus Jakarta Sans"/>
              </a:rPr>
              <a:t>10%</a:t>
            </a:r>
          </a:p>
        </p:txBody>
      </p:sp>
      <p:sp>
        <p:nvSpPr>
          <p:cNvPr id="18" name="TextBox 17"/>
          <p:cNvSpPr txBox="1"/>
          <p:nvPr/>
        </p:nvSpPr>
        <p:spPr>
          <a:xfrm>
            <a:off x="6410325" y="2874615"/>
            <a:ext cx="2300287" cy="285750"/>
          </a:xfrm>
          <a:prstGeom prst="rect">
            <a:avLst/>
          </a:prstGeom>
          <a:noFill/>
        </p:spPr>
        <p:txBody>
          <a:bodyPr wrap="square" lIns="0" rIns="0" tIns="0" bIns="0" anchor="t">
            <a:spAutoFit/>
          </a:bodyPr>
          <a:lstStyle/>
          <a:p>
            <a:pPr algn="l"/>
            <a:r>
              <a:rPr b="1" sz="1500" i="0" u="none">
                <a:solidFill>
                  <a:srgbClr val="1E293B"/>
                </a:solidFill>
                <a:latin typeface="Space Grotesk"/>
              </a:rPr>
              <a:t>S</a:t>
            </a:r>
            <a:r>
              <a:rPr b="1" sz="1500" i="0" u="none">
                <a:solidFill>
                  <a:srgbClr val="1E293B"/>
                </a:solidFill>
                <a:latin typeface="Space Grotesk"/>
              </a:rPr>
              <a:t>type</a:t>
            </a:r>
            <a:r>
              <a:rPr b="1" sz="1500" i="0" u="none">
                <a:solidFill>
                  <a:srgbClr val="1E293B"/>
                </a:solidFill>
                <a:latin typeface="Space Grotesk"/>
              </a:rPr>
              <a:t> (Answer Type)</a:t>
            </a:r>
          </a:p>
        </p:txBody>
      </p:sp>
      <p:sp>
        <p:nvSpPr>
          <p:cNvPr id="19" name="TextBox 18"/>
          <p:cNvSpPr txBox="1"/>
          <p:nvPr/>
        </p:nvSpPr>
        <p:spPr>
          <a:xfrm>
            <a:off x="6410325" y="3255615"/>
            <a:ext cx="219075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Độ tương thích kiểu thực thể (Thực vật, Địa danh, Thời gian...)</a:t>
            </a:r>
          </a:p>
        </p:txBody>
      </p:sp>
      <p:sp>
        <p:nvSpPr>
          <p:cNvPr id="20" name="TextBox 19"/>
          <p:cNvSpPr txBox="1"/>
          <p:nvPr/>
        </p:nvSpPr>
        <p:spPr>
          <a:xfrm>
            <a:off x="9229725" y="2493615"/>
            <a:ext cx="2190750" cy="381000"/>
          </a:xfrm>
          <a:prstGeom prst="rect">
            <a:avLst/>
          </a:prstGeom>
          <a:noFill/>
        </p:spPr>
        <p:txBody>
          <a:bodyPr wrap="square" lIns="0" rIns="0" tIns="0" bIns="0" anchor="t">
            <a:spAutoFit/>
          </a:bodyPr>
          <a:lstStyle/>
          <a:p>
            <a:pPr algn="l"/>
            <a:r>
              <a:rPr b="1" sz="2400" i="0" u="none">
                <a:solidFill>
                  <a:srgbClr val="DC2626"/>
                </a:solidFill>
                <a:latin typeface="Plus Jakarta Sans"/>
              </a:rPr>
              <a:t>0%*</a:t>
            </a:r>
          </a:p>
        </p:txBody>
      </p:sp>
      <p:sp>
        <p:nvSpPr>
          <p:cNvPr id="21" name="TextBox 20"/>
          <p:cNvSpPr txBox="1"/>
          <p:nvPr/>
        </p:nvSpPr>
        <p:spPr>
          <a:xfrm>
            <a:off x="9229725" y="2874615"/>
            <a:ext cx="2300287" cy="533400"/>
          </a:xfrm>
          <a:prstGeom prst="rect">
            <a:avLst/>
          </a:prstGeom>
          <a:noFill/>
        </p:spPr>
        <p:txBody>
          <a:bodyPr wrap="square" lIns="0" rIns="0" tIns="0" bIns="0" anchor="t">
            <a:spAutoFit/>
          </a:bodyPr>
          <a:lstStyle/>
          <a:p>
            <a:pPr algn="l"/>
            <a:r>
              <a:rPr b="1" sz="1500" i="0" u="none">
                <a:solidFill>
                  <a:srgbClr val="1E293B"/>
                </a:solidFill>
                <a:latin typeface="Space Grotesk"/>
              </a:rPr>
              <a:t>S</a:t>
            </a:r>
            <a:r>
              <a:rPr b="1" sz="1500" i="0" u="none">
                <a:solidFill>
                  <a:srgbClr val="1E293B"/>
                </a:solidFill>
                <a:latin typeface="Space Grotesk"/>
              </a:rPr>
              <a:t>relation</a:t>
            </a:r>
            <a:r>
              <a:rPr b="1" sz="1500" i="0" u="none">
                <a:solidFill>
                  <a:srgbClr val="1E293B"/>
                </a:solidFill>
                <a:latin typeface="Space Grotesk"/>
              </a:rPr>
              <a:t> (Mandatory Gate)</a:t>
            </a:r>
          </a:p>
        </p:txBody>
      </p:sp>
      <p:sp>
        <p:nvSpPr>
          <p:cNvPr id="22" name="TextBox 21"/>
          <p:cNvSpPr txBox="1"/>
          <p:nvPr/>
        </p:nvSpPr>
        <p:spPr>
          <a:xfrm>
            <a:off x="9229725" y="3503265"/>
            <a:ext cx="219075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Trọng số 0.00 trong tổng đại số nhưng là </a:t>
            </a:r>
            <a:r>
              <a:rPr b="1" sz="975" i="0" u="none">
                <a:solidFill>
                  <a:srgbClr val="334155"/>
                </a:solidFill>
                <a:latin typeface="Plus Jakarta Sans"/>
              </a:rPr>
              <a:t>Gate bắt buộc Pass/Fail</a:t>
            </a:r>
            <a:r>
              <a:rPr b="0" sz="975" i="0" u="none">
                <a:solidFill>
                  <a:srgbClr val="334155"/>
                </a:solidFill>
                <a:latin typeface="Plus Jakarta San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5467350" cy="1343025"/>
          </a:xfrm>
          <a:prstGeom prst="rect">
            <a:avLst/>
          </a:prstGeom>
        </p:spPr>
      </p:pic>
      <p:pic>
        <p:nvPicPr>
          <p:cNvPr id="4" name="Picture 3" descr="image.png"/>
          <p:cNvPicPr>
            <a:picLocks noChangeAspect="1"/>
          </p:cNvPicPr>
          <p:nvPr/>
        </p:nvPicPr>
        <p:blipFill>
          <a:blip r:embed="rId4"/>
          <a:stretch>
            <a:fillRect/>
          </a:stretch>
        </p:blipFill>
        <p:spPr>
          <a:xfrm>
            <a:off x="6191250" y="1133475"/>
            <a:ext cx="5467350" cy="1343025"/>
          </a:xfrm>
          <a:prstGeom prst="rect">
            <a:avLst/>
          </a:prstGeom>
        </p:spPr>
      </p:pic>
      <p:pic>
        <p:nvPicPr>
          <p:cNvPr id="5" name="Picture 4" descr="image.png"/>
          <p:cNvPicPr>
            <a:picLocks noChangeAspect="1"/>
          </p:cNvPicPr>
          <p:nvPr/>
        </p:nvPicPr>
        <p:blipFill>
          <a:blip r:embed="rId5"/>
          <a:stretch>
            <a:fillRect/>
          </a:stretch>
        </p:blipFill>
        <p:spPr>
          <a:xfrm>
            <a:off x="533400" y="2667000"/>
            <a:ext cx="5467350" cy="1333500"/>
          </a:xfrm>
          <a:prstGeom prst="rect">
            <a:avLst/>
          </a:prstGeom>
        </p:spPr>
      </p:pic>
      <p:pic>
        <p:nvPicPr>
          <p:cNvPr id="6" name="Picture 5" descr="image.png"/>
          <p:cNvPicPr>
            <a:picLocks noChangeAspect="1"/>
          </p:cNvPicPr>
          <p:nvPr/>
        </p:nvPicPr>
        <p:blipFill>
          <a:blip r:embed="rId6"/>
          <a:stretch>
            <a:fillRect/>
          </a:stretch>
        </p:blipFill>
        <p:spPr>
          <a:xfrm>
            <a:off x="6191250" y="2667000"/>
            <a:ext cx="5467350" cy="1333500"/>
          </a:xfrm>
          <a:prstGeom prst="rect">
            <a:avLst/>
          </a:prstGeom>
        </p:spPr>
      </p:pic>
      <p:sp>
        <p:nvSpPr>
          <p:cNvPr id="7" name="TextBox 6"/>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Mô hình Thực nghiệm Ablation (A / AB / AC / ABC)</a:t>
            </a:r>
          </a:p>
        </p:txBody>
      </p:sp>
      <p:pic>
        <p:nvPicPr>
          <p:cNvPr id="8" name="Picture 7" descr="image.png"/>
          <p:cNvPicPr>
            <a:picLocks noChangeAspect="1"/>
          </p:cNvPicPr>
          <p:nvPr/>
        </p:nvPicPr>
        <p:blipFill>
          <a:blip r:embed="rId7"/>
          <a:stretch>
            <a:fillRect/>
          </a:stretch>
        </p:blipFill>
        <p:spPr>
          <a:xfrm>
            <a:off x="10391775" y="519112"/>
            <a:ext cx="1266825" cy="285750"/>
          </a:xfrm>
          <a:prstGeom prst="rect">
            <a:avLst/>
          </a:prstGeom>
        </p:spPr>
      </p:pic>
      <p:sp>
        <p:nvSpPr>
          <p:cNvPr id="9" name="TextBox 8"/>
          <p:cNvSpPr txBox="1"/>
          <p:nvPr/>
        </p:nvSpPr>
        <p:spPr>
          <a:xfrm>
            <a:off x="771525" y="1371600"/>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Cấu hình A (Reader Only)</a:t>
            </a:r>
          </a:p>
        </p:txBody>
      </p:sp>
      <p:sp>
        <p:nvSpPr>
          <p:cNvPr id="10" name="TextBox 9"/>
          <p:cNvSpPr txBox="1"/>
          <p:nvPr/>
        </p:nvSpPr>
        <p:spPr>
          <a:xfrm>
            <a:off x="771525" y="1714500"/>
            <a:ext cx="499110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Chỉ dùng Reader XLM-R trích xuất span thuần túy dựa trên Logit điểm số mà không qua tinh chỉnh hay kiểm tra ngữ nghĩa.</a:t>
            </a:r>
          </a:p>
        </p:txBody>
      </p:sp>
      <p:sp>
        <p:nvSpPr>
          <p:cNvPr id="11" name="TextBox 10"/>
          <p:cNvSpPr txBox="1"/>
          <p:nvPr/>
        </p:nvSpPr>
        <p:spPr>
          <a:xfrm>
            <a:off x="6429375" y="1371600"/>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Cấu hình AB (Reader + Refinement)</a:t>
            </a:r>
          </a:p>
        </p:txBody>
      </p:sp>
      <p:sp>
        <p:nvSpPr>
          <p:cNvPr id="12" name="TextBox 11"/>
          <p:cNvSpPr txBox="1"/>
          <p:nvPr/>
        </p:nvSpPr>
        <p:spPr>
          <a:xfrm>
            <a:off x="6429375" y="1714500"/>
            <a:ext cx="4991100" cy="409575"/>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Bổ sung bước </a:t>
            </a:r>
            <a:r>
              <a:rPr b="0" sz="1050" i="0" u="none">
                <a:solidFill>
                  <a:srgbClr val="334155"/>
                </a:solidFill>
                <a:latin typeface="Plus Jakarta Sans"/>
              </a:rPr>
              <a:t>Candidate Refinement</a:t>
            </a:r>
            <a:r>
              <a:rPr b="0" sz="1050" i="0" u="none">
                <a:solidFill>
                  <a:srgbClr val="334155"/>
                </a:solidFill>
                <a:latin typeface="Plus Jakarta Sans"/>
              </a:rPr>
              <a:t> (mở rộng/rút gọn ranh giới câu trả lời để đảm bảo tính trọn vẹn cú pháp).</a:t>
            </a:r>
          </a:p>
        </p:txBody>
      </p:sp>
      <p:sp>
        <p:nvSpPr>
          <p:cNvPr id="13" name="TextBox 12"/>
          <p:cNvSpPr txBox="1"/>
          <p:nvPr/>
        </p:nvSpPr>
        <p:spPr>
          <a:xfrm>
            <a:off x="771525" y="2905125"/>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Cấu hình AC (Reader + Semantic)</a:t>
            </a:r>
          </a:p>
        </p:txBody>
      </p:sp>
      <p:sp>
        <p:nvSpPr>
          <p:cNvPr id="14" name="TextBox 13"/>
          <p:cNvSpPr txBox="1"/>
          <p:nvPr/>
        </p:nvSpPr>
        <p:spPr>
          <a:xfrm>
            <a:off x="771525" y="3248025"/>
            <a:ext cx="4991100" cy="400050"/>
          </a:xfrm>
          <a:prstGeom prst="rect">
            <a:avLst/>
          </a:prstGeom>
          <a:noFill/>
        </p:spPr>
        <p:txBody>
          <a:bodyPr wrap="square" lIns="0" rIns="0" tIns="0" bIns="0" anchor="t">
            <a:spAutoFit/>
          </a:bodyPr>
          <a:lstStyle/>
          <a:p>
            <a:pPr algn="l">
              <a:lnSpc>
                <a:spcPts val="1575"/>
              </a:lnSpc>
            </a:pPr>
            <a:r>
              <a:rPr b="1" sz="1050" i="0" u="none">
                <a:solidFill>
                  <a:srgbClr val="DC2626"/>
                </a:solidFill>
                <a:latin typeface="Plus Jakarta Sans"/>
              </a:rPr>
              <a:t>Lưu ý:</a:t>
            </a:r>
            <a:r>
              <a:rPr b="0" sz="1050" i="0" u="none">
                <a:solidFill>
                  <a:srgbClr val="DC2626"/>
                </a:solidFill>
                <a:latin typeface="Plus Jakarta Sans"/>
              </a:rPr>
              <a:t> Báo cáo ghi rõ biến thể AC chưa được đánh giá định lượng độc lập do chưa có Artifact tách riêng rẽ với Candidate Refinement.</a:t>
            </a:r>
          </a:p>
        </p:txBody>
      </p:sp>
      <p:sp>
        <p:nvSpPr>
          <p:cNvPr id="15" name="TextBox 14"/>
          <p:cNvSpPr txBox="1"/>
          <p:nvPr/>
        </p:nvSpPr>
        <p:spPr>
          <a:xfrm>
            <a:off x="6429375" y="2905125"/>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Cấu hình ABC (Full Pipeline)</a:t>
            </a:r>
          </a:p>
        </p:txBody>
      </p:sp>
      <p:sp>
        <p:nvSpPr>
          <p:cNvPr id="16" name="TextBox 15"/>
          <p:cNvSpPr txBox="1"/>
          <p:nvPr/>
        </p:nvSpPr>
        <p:spPr>
          <a:xfrm>
            <a:off x="6429375" y="3248025"/>
            <a:ext cx="499110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Tích hợp đầy đủ: Reader + Candidate Refinement + Semantic Validation Gates &amp; Semantic Policy v2 hoàn chỉnh.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4200525"/>
            <a:ext cx="11125200" cy="1190625"/>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Kết quả Ablation &amp; Phân tích Trade-off FP/FN</a:t>
            </a:r>
          </a:p>
        </p:txBody>
      </p:sp>
      <p:pic>
        <p:nvPicPr>
          <p:cNvPr id="5" name="Picture 4" descr="image.png"/>
          <p:cNvPicPr>
            <a:picLocks noChangeAspect="1"/>
          </p:cNvPicPr>
          <p:nvPr/>
        </p:nvPicPr>
        <p:blipFill>
          <a:blip r:embed="rId4"/>
          <a:stretch>
            <a:fillRect/>
          </a:stretch>
        </p:blipFill>
        <p:spPr>
          <a:xfrm>
            <a:off x="10820400" y="519112"/>
            <a:ext cx="838200" cy="285750"/>
          </a:xfrm>
          <a:prstGeom prst="rect">
            <a:avLst/>
          </a:prstGeom>
        </p:spPr>
      </p:pic>
      <p:sp>
        <p:nvSpPr>
          <p:cNvPr id="6" name="TextBox 5"/>
          <p:cNvSpPr txBox="1"/>
          <p:nvPr/>
        </p:nvSpPr>
        <p:spPr>
          <a:xfrm>
            <a:off x="533400" y="1133475"/>
            <a:ext cx="5505450" cy="200025"/>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Đánh giá trên tập Semantic Holdout cố định (260 mẫu), thể hiện tác động của từng lớp xử lý:</a:t>
            </a:r>
          </a:p>
        </p:txBody>
      </p:sp>
      <p:graphicFrame>
        <p:nvGraphicFramePr>
          <p:cNvPr id="7" name="Table 6"/>
          <p:cNvGraphicFramePr>
            <a:graphicFrameLocks noGrp="1"/>
          </p:cNvGraphicFramePr>
          <p:nvPr/>
        </p:nvGraphicFramePr>
        <p:xfrm>
          <a:off x="533400" y="1524000"/>
          <a:ext cx="11125196" cy="25241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044600"/>
                <a:gridCol w="1206400"/>
                <a:gridCol w="1612850"/>
                <a:gridCol w="2374850"/>
                <a:gridCol w="1892200"/>
                <a:gridCol w="1994296"/>
              </a:tblGrid>
              <a:tr h="420687">
                <a:tc>
                  <a:txBody>
                    <a:bodyPr/>
                    <a:lstStyle/>
                    <a:p>
                      <a:pPr algn="l"/>
                      <a:r>
                        <a:rPr b="0" sz="1050" i="0" u="none">
                          <a:solidFill>
                            <a:srgbClr val="FFFFFF"/>
                          </a:solidFill>
                          <a:latin typeface="Plus Jakarta Sans SemiBold"/>
                        </a:rPr>
                        <a:t>Cấu hình Pipeline</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Overall F1</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Answerable F1</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Unanswerable Acc.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False Positive (%)</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False Negative (%)</a:t>
                      </a:r>
                    </a:p>
                  </a:txBody>
                  <a:tcPr anchor="ctr" marL="63500" marR="63500" marT="25400" marB="25400">
                    <a:lnL>
                      <a:noFill/>
                    </a:lnL>
                    <a:lnR>
                      <a:noFill/>
                    </a:lnR>
                    <a:lnT>
                      <a:noFill/>
                    </a:lnT>
                    <a:lnB>
                      <a:noFill/>
                    </a:lnB>
                    <a:solidFill>
                      <a:srgbClr val="0F172A"/>
                    </a:solidFill>
                  </a:tcPr>
                </a:tc>
              </a:tr>
              <a:tr h="420687">
                <a:tc>
                  <a:txBody>
                    <a:bodyPr/>
                    <a:lstStyle/>
                    <a:p>
                      <a:pPr algn="l"/>
                      <a:r>
                        <a:rPr b="1" sz="1050" i="0" u="none">
                          <a:solidFill>
                            <a:srgbClr val="334155"/>
                          </a:solidFill>
                          <a:latin typeface="Plus Jakarta Sans"/>
                        </a:rPr>
                        <a:t>A (Reader Only)</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24.63</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25.02</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22.50%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77.50%</a:t>
                      </a:r>
                    </a:p>
                  </a:txBody>
                  <a:tcPr anchor="ctr" marL="63500" marR="63500" marT="25400" marB="25400">
                    <a:lnL>
                      <a:noFill/>
                    </a:lnL>
                    <a:lnR>
                      <a:noFill/>
                    </a:lnR>
                    <a:lnT>
                      <a:noFill/>
                    </a:lnT>
                    <a:lnB>
                      <a:noFill/>
                    </a:lnB>
                    <a:noFill/>
                  </a:tcPr>
                </a:tc>
                <a:tc>
                  <a:txBody>
                    <a:bodyPr/>
                    <a:lstStyle/>
                    <a:p>
                      <a:pPr algn="l"/>
                      <a:r>
                        <a:rPr b="1" sz="1050" i="0" u="none">
                          <a:solidFill>
                            <a:srgbClr val="334155"/>
                          </a:solidFill>
                          <a:latin typeface="Plus Jakarta Sans"/>
                        </a:rPr>
                        <a:t>15.00%</a:t>
                      </a:r>
                    </a:p>
                  </a:txBody>
                  <a:tcPr anchor="ctr" marL="63500" marR="63500" marT="25400" marB="25400">
                    <a:lnL>
                      <a:noFill/>
                    </a:lnL>
                    <a:lnR>
                      <a:noFill/>
                    </a:lnR>
                    <a:lnT>
                      <a:noFill/>
                    </a:lnT>
                    <a:lnB>
                      <a:noFill/>
                    </a:lnB>
                    <a:noFill/>
                  </a:tcPr>
                </a:tc>
              </a:tr>
              <a:tr h="420687">
                <a:tc>
                  <a:txBody>
                    <a:bodyPr/>
                    <a:lstStyle/>
                    <a:p>
                      <a:pPr algn="l"/>
                      <a:r>
                        <a:rPr b="1" sz="1050" i="0" u="none">
                          <a:solidFill>
                            <a:srgbClr val="334155"/>
                          </a:solidFill>
                          <a:latin typeface="Plus Jakarta Sans"/>
                        </a:rPr>
                        <a:t>+ Refinement (AB)</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22.05</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21.97</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22.50%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77.50%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17.27%</a:t>
                      </a:r>
                    </a:p>
                  </a:txBody>
                  <a:tcPr anchor="ctr" marL="63500" marR="63500" marT="25400" marB="25400">
                    <a:lnL>
                      <a:noFill/>
                    </a:lnL>
                    <a:lnR>
                      <a:noFill/>
                    </a:lnR>
                    <a:lnT>
                      <a:noFill/>
                    </a:lnT>
                    <a:lnB>
                      <a:noFill/>
                    </a:lnB>
                    <a:solidFill>
                      <a:srgbClr val="F8FAFC"/>
                    </a:solidFill>
                  </a:tcPr>
                </a:tc>
              </a:tr>
              <a:tr h="420687">
                <a:tc>
                  <a:txBody>
                    <a:bodyPr/>
                    <a:lstStyle/>
                    <a:p>
                      <a:pPr algn="l"/>
                      <a:r>
                        <a:rPr b="1" sz="1050" i="0" u="none">
                          <a:solidFill>
                            <a:srgbClr val="334155"/>
                          </a:solidFill>
                          <a:latin typeface="Plus Jakarta Sans"/>
                        </a:rPr>
                        <a:t>+ Subject Check</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22.51</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21.14</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27.50%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72.50%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25.45%</a:t>
                      </a:r>
                    </a:p>
                  </a:txBody>
                  <a:tcPr anchor="ctr" marL="63500" marR="63500" marT="25400" marB="25400">
                    <a:lnL>
                      <a:noFill/>
                    </a:lnL>
                    <a:lnR>
                      <a:noFill/>
                    </a:lnR>
                    <a:lnT>
                      <a:noFill/>
                    </a:lnT>
                    <a:lnB>
                      <a:noFill/>
                    </a:lnB>
                    <a:noFill/>
                  </a:tcPr>
                </a:tc>
              </a:tr>
              <a:tr h="420687">
                <a:tc>
                  <a:txBody>
                    <a:bodyPr/>
                    <a:lstStyle/>
                    <a:p>
                      <a:pPr algn="l"/>
                      <a:r>
                        <a:rPr b="1" sz="1050" i="0" u="none">
                          <a:solidFill>
                            <a:srgbClr val="334155"/>
                          </a:solidFill>
                          <a:latin typeface="Plus Jakarta Sans"/>
                        </a:rPr>
                        <a:t>+ Relation Check</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20.59</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17.97</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35.00%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65.00%</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31.82%</a:t>
                      </a:r>
                    </a:p>
                  </a:txBody>
                  <a:tcPr anchor="ctr" marL="63500" marR="63500" marT="25400" marB="25400">
                    <a:lnL>
                      <a:noFill/>
                    </a:lnL>
                    <a:lnR>
                      <a:noFill/>
                    </a:lnR>
                    <a:lnT>
                      <a:noFill/>
                    </a:lnT>
                    <a:lnB>
                      <a:noFill/>
                    </a:lnB>
                    <a:solidFill>
                      <a:srgbClr val="F8FAFC"/>
                    </a:solidFill>
                  </a:tcPr>
                </a:tc>
              </a:tr>
              <a:tr h="420690">
                <a:tc>
                  <a:txBody>
                    <a:bodyPr/>
                    <a:lstStyle/>
                    <a:p>
                      <a:pPr algn="l"/>
                      <a:r>
                        <a:rPr b="1" sz="1050" i="0" u="none">
                          <a:solidFill>
                            <a:srgbClr val="334155"/>
                          </a:solidFill>
                          <a:latin typeface="Plus Jakarta Sans"/>
                        </a:rPr>
                        <a:t>Full Pipeline (ABC)</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26.56</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20.94</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57.50%</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42.50%</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44.09%</a:t>
                      </a:r>
                    </a:p>
                  </a:txBody>
                  <a:tcPr anchor="ctr" marL="63500" marR="63500" marT="25400" marB="25400">
                    <a:lnL>
                      <a:noFill/>
                    </a:lnL>
                    <a:lnR>
                      <a:noFill/>
                    </a:lnR>
                    <a:lnT>
                      <a:noFill/>
                    </a:lnT>
                    <a:lnB>
                      <a:noFill/>
                    </a:lnB>
                    <a:solidFill>
                      <a:srgbClr val="EFF6FF"/>
                    </a:solidFill>
                  </a:tcPr>
                </a:tc>
              </a:tr>
            </a:tbl>
          </a:graphicData>
        </a:graphic>
      </p:graphicFrame>
      <p:sp>
        <p:nvSpPr>
          <p:cNvPr id="8" name="TextBox 7"/>
          <p:cNvSpPr txBox="1"/>
          <p:nvPr/>
        </p:nvSpPr>
        <p:spPr>
          <a:xfrm>
            <a:off x="771525" y="4438650"/>
            <a:ext cx="11181397" cy="247650"/>
          </a:xfrm>
          <a:prstGeom prst="rect">
            <a:avLst/>
          </a:prstGeom>
          <a:noFill/>
        </p:spPr>
        <p:txBody>
          <a:bodyPr wrap="square" lIns="238125" rIns="0" tIns="0" bIns="0" anchor="t">
            <a:spAutoFit/>
          </a:bodyPr>
          <a:lstStyle/>
          <a:p>
            <a:pPr algn="l"/>
            <a:r>
              <a:rPr b="1" sz="1500" i="0" u="none">
                <a:solidFill>
                  <a:srgbClr val="1E293B"/>
                </a:solidFill>
                <a:latin typeface="Space Grotesk"/>
              </a:rPr>
              <a:t>Quy luật Trade-off cốt lõi từ Báo cáo</a:t>
            </a:r>
          </a:p>
        </p:txBody>
      </p:sp>
      <p:sp>
        <p:nvSpPr>
          <p:cNvPr id="9" name="TextBox 8"/>
          <p:cNvSpPr txBox="1"/>
          <p:nvPr/>
        </p:nvSpPr>
        <p:spPr>
          <a:xfrm>
            <a:off x="771525" y="4781550"/>
            <a:ext cx="10648950"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Khi bật Semantic Gating đầy đủ (ABC): </a:t>
            </a:r>
            <a:r>
              <a:rPr b="1" sz="975" i="0" u="none">
                <a:solidFill>
                  <a:srgbClr val="334155"/>
                </a:solidFill>
                <a:latin typeface="Plus Jakarta Sans"/>
              </a:rPr>
              <a:t>False Positive giảm mạnh từ 77.50% xuống 42.50%</a:t>
            </a:r>
            <a:r>
              <a:rPr b="0" sz="975" i="0" u="none">
                <a:solidFill>
                  <a:srgbClr val="334155"/>
                </a:solidFill>
                <a:latin typeface="Plus Jakarta Sans"/>
              </a:rPr>
              <a:t> và Unanswerable Accuracy tăng từ 22.50% lên 57.50%. Hệ thống trở nên </a:t>
            </a:r>
            <a:r>
              <a:rPr b="0" sz="975" i="1" u="none">
                <a:solidFill>
                  <a:srgbClr val="334155"/>
                </a:solidFill>
                <a:latin typeface="Plus Jakarta Sans"/>
              </a:rPr>
              <a:t>thận trọng và an toàn hơn</a:t>
            </a:r>
            <a:r>
              <a:rPr b="0" sz="975" i="0" u="none">
                <a:solidFill>
                  <a:srgbClr val="334155"/>
                </a:solidFill>
                <a:latin typeface="Plus Jakarta Sans"/>
              </a:rPr>
              <a:t> khi từ chối các câu không nên trả lời, nhưng đổi lại làm </a:t>
            </a:r>
            <a:r>
              <a:rPr b="1" sz="975" i="0" u="none">
                <a:solidFill>
                  <a:srgbClr val="334155"/>
                </a:solidFill>
                <a:latin typeface="Plus Jakarta Sans"/>
              </a:rPr>
              <a:t>False Negative tăng từ 15.00% lên 44.09%</a:t>
            </a:r>
            <a:r>
              <a:rPr b="0" sz="975" i="0" u="none">
                <a:solidFill>
                  <a:srgbClr val="334155"/>
                </a:solidFill>
                <a:latin typeface="Plus Jakarta Sans"/>
              </a:rPr>
              <a:t> (bỏ lỡ một số câu có đáp án).</a:t>
            </a:r>
          </a:p>
        </p:txBody>
      </p:sp>
      <p:sp>
        <p:nvSpPr>
          <p:cNvPr id="10" name="Rectangle 9"/>
          <p:cNvSpPr/>
          <p:nvPr/>
        </p:nvSpPr>
        <p:spPr>
          <a:xfrm>
            <a:off x="533400" y="2357437"/>
            <a:ext cx="2044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78000" y="2357437"/>
            <a:ext cx="1206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84401" y="2357437"/>
            <a:ext cx="1612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97251" y="2357437"/>
            <a:ext cx="2374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102" y="2357437"/>
            <a:ext cx="189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64303" y="2357437"/>
            <a:ext cx="199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3400" y="2776537"/>
            <a:ext cx="2044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78000" y="2776537"/>
            <a:ext cx="1206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84401" y="2776537"/>
            <a:ext cx="1612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97251" y="2776537"/>
            <a:ext cx="2374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102" y="2776537"/>
            <a:ext cx="189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64303" y="2776537"/>
            <a:ext cx="199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3400" y="3195637"/>
            <a:ext cx="2044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78000" y="3195637"/>
            <a:ext cx="1206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84401" y="3195637"/>
            <a:ext cx="1612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97251" y="3195637"/>
            <a:ext cx="2374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102" y="3195637"/>
            <a:ext cx="189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64303" y="3195637"/>
            <a:ext cx="199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3400" y="3614737"/>
            <a:ext cx="2044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78000" y="3614737"/>
            <a:ext cx="1206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84401" y="3614737"/>
            <a:ext cx="1612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97251" y="3614737"/>
            <a:ext cx="2374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102" y="3614737"/>
            <a:ext cx="189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64303" y="3614737"/>
            <a:ext cx="199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3400" y="4033837"/>
            <a:ext cx="2044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78000" y="4033837"/>
            <a:ext cx="12064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84401" y="4033837"/>
            <a:ext cx="1612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97251" y="4033837"/>
            <a:ext cx="23748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102" y="4033837"/>
            <a:ext cx="1892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64303" y="4033837"/>
            <a:ext cx="199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5"/>
          <a:stretch>
            <a:fillRect/>
          </a:stretch>
        </p:blipFill>
        <p:spPr>
          <a:xfrm>
            <a:off x="771525" y="4467225"/>
            <a:ext cx="238125" cy="1905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4105275"/>
            <a:ext cx="11125200" cy="685800"/>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Bảng Quyết định Lựa chọn Cấu hình Pipeline</a:t>
            </a:r>
          </a:p>
        </p:txBody>
      </p:sp>
      <p:pic>
        <p:nvPicPr>
          <p:cNvPr id="5" name="Picture 4" descr="image.png"/>
          <p:cNvPicPr>
            <a:picLocks noChangeAspect="1"/>
          </p:cNvPicPr>
          <p:nvPr/>
        </p:nvPicPr>
        <p:blipFill>
          <a:blip r:embed="rId4"/>
          <a:stretch>
            <a:fillRect/>
          </a:stretch>
        </p:blipFill>
        <p:spPr>
          <a:xfrm>
            <a:off x="10820400" y="519112"/>
            <a:ext cx="838200" cy="285750"/>
          </a:xfrm>
          <a:prstGeom prst="rect">
            <a:avLst/>
          </a:prstGeom>
        </p:spPr>
      </p:pic>
      <p:graphicFrame>
        <p:nvGraphicFramePr>
          <p:cNvPr id="6" name="Table 5"/>
          <p:cNvGraphicFramePr>
            <a:graphicFrameLocks noGrp="1"/>
          </p:cNvGraphicFramePr>
          <p:nvPr/>
        </p:nvGraphicFramePr>
        <p:xfrm>
          <a:off x="533400" y="1209675"/>
          <a:ext cx="11125198" cy="2705100"/>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491555"/>
                <a:gridCol w="4399061"/>
                <a:gridCol w="3622625"/>
                <a:gridCol w="1611957"/>
              </a:tblGrid>
              <a:tr h="541020">
                <a:tc>
                  <a:txBody>
                    <a:bodyPr/>
                    <a:lstStyle/>
                    <a:p>
                      <a:pPr algn="l"/>
                      <a:r>
                        <a:rPr b="0" sz="1050" i="0" u="none">
                          <a:solidFill>
                            <a:srgbClr val="FFFFFF"/>
                          </a:solidFill>
                          <a:latin typeface="Plus Jakarta Sans SemiBold"/>
                        </a:rPr>
                        <a:t>Biến thể</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Lợi ích chính (Benefit)</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Hạn chế / Chi phí (Cost)</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Quyết định Lựa chọn</a:t>
                      </a:r>
                    </a:p>
                  </a:txBody>
                  <a:tcPr anchor="ctr" marL="63500" marR="63500" marT="25400" marB="25400">
                    <a:lnL>
                      <a:noFill/>
                    </a:lnL>
                    <a:lnR>
                      <a:noFill/>
                    </a:lnR>
                    <a:lnT>
                      <a:noFill/>
                    </a:lnT>
                    <a:lnB>
                      <a:noFill/>
                    </a:lnB>
                    <a:solidFill>
                      <a:srgbClr val="0F172A"/>
                    </a:solidFill>
                  </a:tcPr>
                </a:tc>
              </a:tr>
              <a:tr h="541020">
                <a:tc>
                  <a:txBody>
                    <a:bodyPr/>
                    <a:lstStyle/>
                    <a:p>
                      <a:pPr algn="l"/>
                      <a:r>
                        <a:rPr b="1" sz="1050" i="0" u="none">
                          <a:solidFill>
                            <a:srgbClr val="334155"/>
                          </a:solidFill>
                          <a:latin typeface="Plus Jakarta Sans"/>
                        </a:rPr>
                        <a:t>A (Reader Only)</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Answerable F1 đạt 25.02, FN thấp nhất (15.00%)</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False Positive quá cao (77.50%), rất dễ bị ảo giác</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Chỉ dùng làm Baseline</a:t>
                      </a:r>
                    </a:p>
                  </a:txBody>
                  <a:tcPr anchor="ctr" marL="63500" marR="63500" marT="25400" marB="25400">
                    <a:lnL>
                      <a:noFill/>
                    </a:lnL>
                    <a:lnR>
                      <a:noFill/>
                    </a:lnR>
                    <a:lnT>
                      <a:noFill/>
                    </a:lnT>
                    <a:lnB>
                      <a:noFill/>
                    </a:lnB>
                    <a:noFill/>
                  </a:tcPr>
                </a:tc>
              </a:tr>
              <a:tr h="541020">
                <a:tc>
                  <a:txBody>
                    <a:bodyPr/>
                    <a:lstStyle/>
                    <a:p>
                      <a:pPr algn="l"/>
                      <a:r>
                        <a:rPr b="1" sz="1050" i="0" u="none">
                          <a:solidFill>
                            <a:srgbClr val="334155"/>
                          </a:solidFill>
                          <a:latin typeface="Plus Jakarta Sans"/>
                        </a:rPr>
                        <a:t>AB (Refinement)</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Cải thiện chuẩn hóa ranh giới cú pháp câu</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Overall F1 giảm nhẹ so với A nếu không có Gate</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Không chọn độc lập</a:t>
                      </a:r>
                    </a:p>
                  </a:txBody>
                  <a:tcPr anchor="ctr" marL="63500" marR="63500" marT="25400" marB="25400">
                    <a:lnL>
                      <a:noFill/>
                    </a:lnL>
                    <a:lnR>
                      <a:noFill/>
                    </a:lnR>
                    <a:lnT>
                      <a:noFill/>
                    </a:lnT>
                    <a:lnB>
                      <a:noFill/>
                    </a:lnB>
                    <a:solidFill>
                      <a:srgbClr val="F8FAFC"/>
                    </a:solidFill>
                  </a:tcPr>
                </a:tc>
              </a:tr>
              <a:tr h="541020">
                <a:tc>
                  <a:txBody>
                    <a:bodyPr/>
                    <a:lstStyle/>
                    <a:p>
                      <a:pPr algn="l"/>
                      <a:r>
                        <a:rPr b="1" sz="1050" i="0" u="none">
                          <a:solidFill>
                            <a:srgbClr val="334155"/>
                          </a:solidFill>
                          <a:latin typeface="Plus Jakarta Sans"/>
                        </a:rPr>
                        <a:t>AC (Semantic Only)</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Lý thuyết giúp kiểm soát ngữ nghĩa</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Chưa đủ bằng chứng thực nghiệm độc lập (Insufficient Evidence)</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Chưa đánh giá riêng</a:t>
                      </a:r>
                    </a:p>
                  </a:txBody>
                  <a:tcPr anchor="ctr" marL="63500" marR="63500" marT="25400" marB="25400">
                    <a:lnL>
                      <a:noFill/>
                    </a:lnL>
                    <a:lnR>
                      <a:noFill/>
                    </a:lnR>
                    <a:lnT>
                      <a:noFill/>
                    </a:lnT>
                    <a:lnB>
                      <a:noFill/>
                    </a:lnB>
                    <a:noFill/>
                  </a:tcPr>
                </a:tc>
              </a:tr>
              <a:tr h="541020">
                <a:tc>
                  <a:txBody>
                    <a:bodyPr/>
                    <a:lstStyle/>
                    <a:p>
                      <a:pPr algn="l"/>
                      <a:r>
                        <a:rPr b="1" sz="1050" i="0" u="none">
                          <a:solidFill>
                            <a:srgbClr val="334155"/>
                          </a:solidFill>
                          <a:latin typeface="Plus Jakarta Sans"/>
                        </a:rPr>
                        <a:t>ABC (Full Pipeline)</a:t>
                      </a:r>
                    </a:p>
                  </a:txBody>
                  <a:tcPr anchor="ctr" marL="63500" marR="63500" marT="25400" marB="25400">
                    <a:lnL>
                      <a:noFill/>
                    </a:lnL>
                    <a:lnR>
                      <a:noFill/>
                    </a:lnR>
                    <a:lnT>
                      <a:noFill/>
                    </a:lnT>
                    <a:lnB>
                      <a:noFill/>
                    </a:lnB>
                    <a:solidFill>
                      <a:srgbClr val="EFF6FF"/>
                    </a:solidFill>
                  </a:tcPr>
                </a:tc>
                <a:tc>
                  <a:txBody>
                    <a:bodyPr/>
                    <a:lstStyle/>
                    <a:p>
                      <a:pPr algn="l"/>
                      <a:r>
                        <a:rPr b="1" sz="1050" i="0" u="none">
                          <a:solidFill>
                            <a:srgbClr val="334155"/>
                          </a:solidFill>
                          <a:latin typeface="Plus Jakarta Sans"/>
                        </a:rPr>
                        <a:t>Overall F1 cao nhất (26.56), An toàn vượt trội (Unanswerable Acc 57.50%)</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Tỷ lệ False Negative tăng (bị khắt khe hơn)</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LỰA CHỌN CHÍNH THỨC</a:t>
                      </a:r>
                    </a:p>
                  </a:txBody>
                  <a:tcPr anchor="ctr" marL="63500" marR="63500" marT="25400" marB="25400">
                    <a:lnL>
                      <a:noFill/>
                    </a:lnL>
                    <a:lnR>
                      <a:noFill/>
                    </a:lnR>
                    <a:lnT>
                      <a:noFill/>
                    </a:lnT>
                    <a:lnB>
                      <a:noFill/>
                    </a:lnB>
                    <a:solidFill>
                      <a:srgbClr val="EFF6FF"/>
                    </a:solidFill>
                  </a:tcPr>
                </a:tc>
              </a:tr>
            </a:tbl>
          </a:graphicData>
        </a:graphic>
      </p:graphicFrame>
      <p:sp>
        <p:nvSpPr>
          <p:cNvPr id="7" name="TextBox 6"/>
          <p:cNvSpPr txBox="1"/>
          <p:nvPr/>
        </p:nvSpPr>
        <p:spPr>
          <a:xfrm>
            <a:off x="771525" y="4343400"/>
            <a:ext cx="10648950" cy="209550"/>
          </a:xfrm>
          <a:prstGeom prst="rect">
            <a:avLst/>
          </a:prstGeom>
          <a:noFill/>
        </p:spPr>
        <p:txBody>
          <a:bodyPr wrap="square" lIns="0" rIns="0" tIns="0" bIns="0" anchor="t">
            <a:spAutoFit/>
          </a:bodyPr>
          <a:lstStyle/>
          <a:p>
            <a:pPr algn="l">
              <a:lnSpc>
                <a:spcPts val="1575"/>
              </a:lnSpc>
            </a:pPr>
            <a:r>
              <a:rPr b="1" sz="1050" i="0" u="none">
                <a:solidFill>
                  <a:srgbClr val="334155"/>
                </a:solidFill>
                <a:latin typeface="Plus Jakarta Sans"/>
              </a:rPr>
              <a:t>Kết luận:</a:t>
            </a:r>
            <a:r>
              <a:rPr b="0" sz="1050" i="0" u="none">
                <a:solidFill>
                  <a:srgbClr val="334155"/>
                </a:solidFill>
                <a:latin typeface="Plus Jakarta Sans"/>
              </a:rPr>
              <a:t> VIQA Nexus ưu tiên tiêu chí </a:t>
            </a:r>
            <a:r>
              <a:rPr b="1" sz="1050" i="0" u="none">
                <a:solidFill>
                  <a:srgbClr val="334155"/>
                </a:solidFill>
                <a:latin typeface="Plus Jakarta Sans"/>
              </a:rPr>
              <a:t>Safety &amp; Grounding</a:t>
            </a:r>
            <a:r>
              <a:rPr b="0" sz="1050" i="0" u="none">
                <a:solidFill>
                  <a:srgbClr val="334155"/>
                </a:solidFill>
                <a:latin typeface="Plus Jakarta Sans"/>
              </a:rPr>
              <a:t> (Thà từ chối trả lời còn hơn trả lời sai bừa bãi), do đó </a:t>
            </a:r>
            <a:r>
              <a:rPr b="0" sz="1050" i="0" u="none">
                <a:solidFill>
                  <a:srgbClr val="334155"/>
                </a:solidFill>
                <a:latin typeface="Plus Jakarta Sans"/>
              </a:rPr>
              <a:t>ABC</a:t>
            </a:r>
            <a:r>
              <a:rPr b="0" sz="1050" i="0" u="none">
                <a:solidFill>
                  <a:srgbClr val="334155"/>
                </a:solidFill>
                <a:latin typeface="Plus Jakarta Sans"/>
              </a:rPr>
              <a:t> được chọn làm cấu hình tiêu chuẩn.</a:t>
            </a:r>
          </a:p>
        </p:txBody>
      </p:sp>
      <p:sp>
        <p:nvSpPr>
          <p:cNvPr id="8" name="Rectangle 7"/>
          <p:cNvSpPr/>
          <p:nvPr/>
        </p:nvSpPr>
        <p:spPr>
          <a:xfrm>
            <a:off x="533400" y="2224087"/>
            <a:ext cx="14915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24955" y="2224087"/>
            <a:ext cx="439906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24017" y="2224087"/>
            <a:ext cx="362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46642" y="2224087"/>
            <a:ext cx="161195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3400" y="2662237"/>
            <a:ext cx="14915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24955" y="2662237"/>
            <a:ext cx="439906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24017" y="2662237"/>
            <a:ext cx="362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46642" y="2662237"/>
            <a:ext cx="161195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3400" y="3281362"/>
            <a:ext cx="14915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24955" y="3281362"/>
            <a:ext cx="439906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24017" y="3281362"/>
            <a:ext cx="362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046642" y="3281362"/>
            <a:ext cx="161195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3400" y="3900487"/>
            <a:ext cx="149155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24955" y="3900487"/>
            <a:ext cx="439906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24017" y="3900487"/>
            <a:ext cx="3622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046642" y="3900487"/>
            <a:ext cx="161195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10199042" y="1743075"/>
            <a:ext cx="1307157" cy="381000"/>
          </a:xfrm>
          <a:prstGeom prst="rect">
            <a:avLst/>
          </a:prstGeom>
        </p:spPr>
      </p:pic>
      <p:pic>
        <p:nvPicPr>
          <p:cNvPr id="25" name="Picture 24" descr="image.png"/>
          <p:cNvPicPr>
            <a:picLocks noChangeAspect="1"/>
          </p:cNvPicPr>
          <p:nvPr/>
        </p:nvPicPr>
        <p:blipFill>
          <a:blip r:embed="rId6"/>
          <a:stretch>
            <a:fillRect/>
          </a:stretch>
        </p:blipFill>
        <p:spPr>
          <a:xfrm>
            <a:off x="10199042" y="2352675"/>
            <a:ext cx="1238250" cy="209550"/>
          </a:xfrm>
          <a:prstGeom prst="rect">
            <a:avLst/>
          </a:prstGeom>
        </p:spPr>
      </p:pic>
      <p:pic>
        <p:nvPicPr>
          <p:cNvPr id="26" name="Picture 25" descr="image.png"/>
          <p:cNvPicPr>
            <a:picLocks noChangeAspect="1"/>
          </p:cNvPicPr>
          <p:nvPr/>
        </p:nvPicPr>
        <p:blipFill>
          <a:blip r:embed="rId7"/>
          <a:stretch>
            <a:fillRect/>
          </a:stretch>
        </p:blipFill>
        <p:spPr>
          <a:xfrm>
            <a:off x="10199042" y="2881312"/>
            <a:ext cx="1228725" cy="209550"/>
          </a:xfrm>
          <a:prstGeom prst="rect">
            <a:avLst/>
          </a:prstGeom>
        </p:spPr>
      </p:pic>
      <p:pic>
        <p:nvPicPr>
          <p:cNvPr id="27" name="Picture 26" descr="image.png"/>
          <p:cNvPicPr>
            <a:picLocks noChangeAspect="1"/>
          </p:cNvPicPr>
          <p:nvPr/>
        </p:nvPicPr>
        <p:blipFill>
          <a:blip r:embed="rId8"/>
          <a:stretch>
            <a:fillRect/>
          </a:stretch>
        </p:blipFill>
        <p:spPr>
          <a:xfrm>
            <a:off x="10199042" y="3409950"/>
            <a:ext cx="1307157" cy="381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3590925"/>
            <a:ext cx="11125200" cy="661987"/>
          </a:xfrm>
          <a:prstGeom prst="rect">
            <a:avLst/>
          </a:prstGeom>
        </p:spPr>
      </p:pic>
      <p:pic>
        <p:nvPicPr>
          <p:cNvPr id="4" name="Picture 3" descr="image.png"/>
          <p:cNvPicPr>
            <a:picLocks noChangeAspect="1"/>
          </p:cNvPicPr>
          <p:nvPr/>
        </p:nvPicPr>
        <p:blipFill>
          <a:blip r:embed="rId4"/>
          <a:stretch>
            <a:fillRect/>
          </a:stretch>
        </p:blipFill>
        <p:spPr>
          <a:xfrm>
            <a:off x="533400" y="1133475"/>
            <a:ext cx="5429250" cy="2266950"/>
          </a:xfrm>
          <a:prstGeom prst="rect">
            <a:avLst/>
          </a:prstGeom>
        </p:spPr>
      </p:pic>
      <p:pic>
        <p:nvPicPr>
          <p:cNvPr id="5" name="Picture 4" descr="image.png"/>
          <p:cNvPicPr>
            <a:picLocks noChangeAspect="1"/>
          </p:cNvPicPr>
          <p:nvPr/>
        </p:nvPicPr>
        <p:blipFill>
          <a:blip r:embed="rId5"/>
          <a:stretch>
            <a:fillRect/>
          </a:stretch>
        </p:blipFill>
        <p:spPr>
          <a:xfrm>
            <a:off x="6229350" y="1133475"/>
            <a:ext cx="5429250" cy="2266950"/>
          </a:xfrm>
          <a:prstGeom prst="rect">
            <a:avLst/>
          </a:prstGeom>
        </p:spPr>
      </p:pic>
      <p:sp>
        <p:nvSpPr>
          <p:cNvPr id="6" name="TextBox 5"/>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Gia sư Socratic Grounded (Socratic Tutor)</a:t>
            </a:r>
          </a:p>
        </p:txBody>
      </p:sp>
      <p:pic>
        <p:nvPicPr>
          <p:cNvPr id="7" name="Picture 6" descr="image.png"/>
          <p:cNvPicPr>
            <a:picLocks noChangeAspect="1"/>
          </p:cNvPicPr>
          <p:nvPr/>
        </p:nvPicPr>
        <p:blipFill>
          <a:blip r:embed="rId6"/>
          <a:stretch>
            <a:fillRect/>
          </a:stretch>
        </p:blipFill>
        <p:spPr>
          <a:xfrm>
            <a:off x="10501312" y="519112"/>
            <a:ext cx="1157287" cy="285750"/>
          </a:xfrm>
          <a:prstGeom prst="rect">
            <a:avLst/>
          </a:prstGeom>
        </p:spPr>
      </p:pic>
      <p:sp>
        <p:nvSpPr>
          <p:cNvPr id="8" name="TextBox 7"/>
          <p:cNvSpPr txBox="1"/>
          <p:nvPr/>
        </p:nvSpPr>
        <p:spPr>
          <a:xfrm>
            <a:off x="771525" y="3829050"/>
            <a:ext cx="10648950" cy="185737"/>
          </a:xfrm>
          <a:prstGeom prst="rect">
            <a:avLst/>
          </a:prstGeom>
          <a:noFill/>
        </p:spPr>
        <p:txBody>
          <a:bodyPr wrap="square" lIns="200025" rIns="0" tIns="0" bIns="0" anchor="t">
            <a:spAutoFit/>
          </a:bodyPr>
          <a:lstStyle/>
          <a:p>
            <a:pPr algn="l">
              <a:lnSpc>
                <a:spcPts val="1462"/>
              </a:lnSpc>
            </a:pPr>
            <a:r>
              <a:rPr b="1" sz="975" i="0" u="none">
                <a:solidFill>
                  <a:srgbClr val="166534"/>
                </a:solidFill>
                <a:latin typeface="Plus Jakarta Sans"/>
              </a:rPr>
              <a:t>Đảm bảo Không Hallucination:</a:t>
            </a:r>
            <a:r>
              <a:rPr b="0" sz="975" i="0" u="none">
                <a:solidFill>
                  <a:srgbClr val="166534"/>
                </a:solidFill>
                <a:latin typeface="Plus Jakarta Sans"/>
              </a:rPr>
              <a:t> Socratic Tutor dựa hoàn toàn trên Pattern Matching trong ngữ cảnh tài liệu, tuyệt đối KHÔNG gọi API mô hình sinh ngoài.</a:t>
            </a:r>
          </a:p>
        </p:txBody>
      </p:sp>
      <p:sp>
        <p:nvSpPr>
          <p:cNvPr id="9" name="TextBox 8"/>
          <p:cNvSpPr txBox="1"/>
          <p:nvPr/>
        </p:nvSpPr>
        <p:spPr>
          <a:xfrm>
            <a:off x="771525" y="1371600"/>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Quy trình 6 bước Sinh Câu hỏi Socratic</a:t>
            </a:r>
          </a:p>
        </p:txBody>
      </p:sp>
      <p:sp>
        <p:nvSpPr>
          <p:cNvPr id="10" name="TextBox 9"/>
          <p:cNvSpPr txBox="1"/>
          <p:nvPr/>
        </p:nvSpPr>
        <p:spPr>
          <a:xfrm>
            <a:off x="6467475" y="1371600"/>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Công thức Xếp hạng Socratic</a:t>
            </a:r>
          </a:p>
        </p:txBody>
      </p:sp>
      <p:sp>
        <p:nvSpPr>
          <p:cNvPr id="11" name="TextBox 10"/>
          <p:cNvSpPr txBox="1"/>
          <p:nvPr/>
        </p:nvSpPr>
        <p:spPr>
          <a:xfrm>
            <a:off x="6467475" y="1733550"/>
            <a:ext cx="4953000" cy="285750"/>
          </a:xfrm>
          <a:prstGeom prst="rect">
            <a:avLst/>
          </a:prstGeom>
          <a:noFill/>
        </p:spPr>
        <p:txBody>
          <a:bodyPr wrap="square" lIns="0" rIns="0" tIns="0" bIns="0" anchor="t">
            <a:spAutoFit/>
          </a:bodyPr>
          <a:lstStyle/>
          <a:p>
            <a:pPr algn="l"/>
            <a:r>
              <a:rPr b="1" sz="1500" i="0" u="none">
                <a:solidFill>
                  <a:srgbClr val="2563EB"/>
                </a:solidFill>
                <a:latin typeface="Plus Jakarta Sans"/>
              </a:rPr>
              <a:t>S</a:t>
            </a:r>
            <a:r>
              <a:rPr b="1" sz="1500" i="0" u="none">
                <a:solidFill>
                  <a:srgbClr val="2563EB"/>
                </a:solidFill>
                <a:latin typeface="Plus Jakarta Sans"/>
              </a:rPr>
              <a:t>soc</a:t>
            </a:r>
            <a:r>
              <a:rPr b="1" sz="1500" i="0" u="none">
                <a:solidFill>
                  <a:srgbClr val="2563EB"/>
                </a:solidFill>
                <a:latin typeface="Plus Jakarta Sans"/>
              </a:rPr>
              <a:t> = 0.5 A + 0.3 R + 0.2 N</a:t>
            </a:r>
          </a:p>
        </p:txBody>
      </p:sp>
      <p:pic>
        <p:nvPicPr>
          <p:cNvPr id="12" name="Picture 11" descr="image.png"/>
          <p:cNvPicPr>
            <a:picLocks noChangeAspect="1"/>
          </p:cNvPicPr>
          <p:nvPr/>
        </p:nvPicPr>
        <p:blipFill>
          <a:blip r:embed="rId7"/>
          <a:stretch>
            <a:fillRect/>
          </a:stretch>
        </p:blipFill>
        <p:spPr>
          <a:xfrm>
            <a:off x="771525" y="3857625"/>
            <a:ext cx="123825" cy="123825"/>
          </a:xfrm>
          <a:prstGeom prst="rect">
            <a:avLst/>
          </a:prstGeom>
        </p:spPr>
      </p:pic>
      <p:sp>
        <p:nvSpPr>
          <p:cNvPr id="13" name="TextBox 12"/>
          <p:cNvSpPr txBox="1"/>
          <p:nvPr/>
        </p:nvSpPr>
        <p:spPr>
          <a:xfrm>
            <a:off x="838200" y="1714500"/>
            <a:ext cx="104775" cy="228600"/>
          </a:xfrm>
          <a:prstGeom prst="rect">
            <a:avLst/>
          </a:prstGeom>
          <a:noFill/>
        </p:spPr>
        <p:txBody>
          <a:bodyPr wrap="square" lIns="0" rIns="0" tIns="0" bIns="0" anchor="t">
            <a:spAutoFit/>
          </a:bodyPr>
          <a:lstStyle/>
          <a:p>
            <a:pPr algn="l"/>
            <a:r>
              <a:rPr b="0" sz="1200" i="0" u="none">
                <a:solidFill>
                  <a:srgbClr val="334155"/>
                </a:solidFill>
                <a:latin typeface="Plus Jakarta Sans"/>
              </a:rPr>
              <a:t>1.</a:t>
            </a:r>
          </a:p>
        </p:txBody>
      </p:sp>
      <p:sp>
        <p:nvSpPr>
          <p:cNvPr id="14" name="TextBox 13"/>
          <p:cNvSpPr txBox="1"/>
          <p:nvPr/>
        </p:nvSpPr>
        <p:spPr>
          <a:xfrm>
            <a:off x="942975" y="1714500"/>
            <a:ext cx="4781550" cy="228600"/>
          </a:xfrm>
          <a:prstGeom prst="rect">
            <a:avLst/>
          </a:prstGeom>
          <a:noFill/>
        </p:spPr>
        <p:txBody>
          <a:bodyPr wrap="square" lIns="104775" rIns="0" tIns="0" bIns="0" anchor="t">
            <a:spAutoFit/>
          </a:bodyPr>
          <a:lstStyle/>
          <a:p>
            <a:pPr algn="l">
              <a:lnSpc>
                <a:spcPts val="1800"/>
              </a:lnSpc>
            </a:pPr>
            <a:r>
              <a:rPr b="0" sz="1200" i="0" u="none">
                <a:solidFill>
                  <a:srgbClr val="334155"/>
                </a:solidFill>
                <a:latin typeface="Plus Jakarta Sans"/>
              </a:rPr>
              <a:t>Lấy selected passage + top 12 retrieved passages.</a:t>
            </a:r>
          </a:p>
        </p:txBody>
      </p:sp>
      <p:sp>
        <p:nvSpPr>
          <p:cNvPr id="15" name="TextBox 14"/>
          <p:cNvSpPr txBox="1"/>
          <p:nvPr/>
        </p:nvSpPr>
        <p:spPr>
          <a:xfrm>
            <a:off x="800100" y="1943100"/>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2.</a:t>
            </a:r>
          </a:p>
        </p:txBody>
      </p:sp>
      <p:sp>
        <p:nvSpPr>
          <p:cNvPr id="16" name="TextBox 15"/>
          <p:cNvSpPr txBox="1"/>
          <p:nvPr/>
        </p:nvSpPr>
        <p:spPr>
          <a:xfrm>
            <a:off x="942975" y="1943100"/>
            <a:ext cx="478155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Khôi phục Surface Form của Subject từ ngữ cảnh.</a:t>
            </a:r>
          </a:p>
        </p:txBody>
      </p:sp>
      <p:sp>
        <p:nvSpPr>
          <p:cNvPr id="17" name="TextBox 16"/>
          <p:cNvSpPr txBox="1"/>
          <p:nvPr/>
        </p:nvSpPr>
        <p:spPr>
          <a:xfrm>
            <a:off x="800100" y="2171700"/>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3.</a:t>
            </a:r>
          </a:p>
        </p:txBody>
      </p:sp>
      <p:sp>
        <p:nvSpPr>
          <p:cNvPr id="18" name="TextBox 17"/>
          <p:cNvSpPr txBox="1"/>
          <p:nvPr/>
        </p:nvSpPr>
        <p:spPr>
          <a:xfrm>
            <a:off x="942975" y="2171700"/>
            <a:ext cx="478155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Phát hiện quan hệ (birth/death, location, event, cause, purpose...).</a:t>
            </a:r>
          </a:p>
        </p:txBody>
      </p:sp>
      <p:sp>
        <p:nvSpPr>
          <p:cNvPr id="19" name="TextBox 18"/>
          <p:cNvSpPr txBox="1"/>
          <p:nvPr/>
        </p:nvSpPr>
        <p:spPr>
          <a:xfrm>
            <a:off x="800100" y="2400300"/>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4.</a:t>
            </a:r>
          </a:p>
        </p:txBody>
      </p:sp>
      <p:sp>
        <p:nvSpPr>
          <p:cNvPr id="20" name="TextBox 19"/>
          <p:cNvSpPr txBox="1"/>
          <p:nvPr/>
        </p:nvSpPr>
        <p:spPr>
          <a:xfrm>
            <a:off x="942975" y="2400300"/>
            <a:ext cx="478155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Khử trùng lặp câu hỏi trong lịch sử (Similarity threshold ≥ 0.72).</a:t>
            </a:r>
          </a:p>
        </p:txBody>
      </p:sp>
      <p:sp>
        <p:nvSpPr>
          <p:cNvPr id="21" name="TextBox 20"/>
          <p:cNvSpPr txBox="1"/>
          <p:nvPr/>
        </p:nvSpPr>
        <p:spPr>
          <a:xfrm>
            <a:off x="800100" y="2628900"/>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5.</a:t>
            </a:r>
          </a:p>
        </p:txBody>
      </p:sp>
      <p:sp>
        <p:nvSpPr>
          <p:cNvPr id="22" name="TextBox 21"/>
          <p:cNvSpPr txBox="1"/>
          <p:nvPr/>
        </p:nvSpPr>
        <p:spPr>
          <a:xfrm>
            <a:off x="942975" y="2628900"/>
            <a:ext cx="478155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Kiểm tra tính có đáp án (Answerability threshold ≥ 0.62).</a:t>
            </a:r>
          </a:p>
        </p:txBody>
      </p:sp>
      <p:sp>
        <p:nvSpPr>
          <p:cNvPr id="23" name="TextBox 22"/>
          <p:cNvSpPr txBox="1"/>
          <p:nvPr/>
        </p:nvSpPr>
        <p:spPr>
          <a:xfrm>
            <a:off x="800100" y="2857500"/>
            <a:ext cx="142875" cy="228600"/>
          </a:xfrm>
          <a:prstGeom prst="rect">
            <a:avLst/>
          </a:prstGeom>
          <a:noFill/>
        </p:spPr>
        <p:txBody>
          <a:bodyPr wrap="square" lIns="0" rIns="0" tIns="0" bIns="0" anchor="t">
            <a:spAutoFit/>
          </a:bodyPr>
          <a:lstStyle/>
          <a:p>
            <a:pPr algn="l"/>
            <a:r>
              <a:rPr b="0" sz="1200" i="0" u="none">
                <a:solidFill>
                  <a:srgbClr val="334155"/>
                </a:solidFill>
                <a:latin typeface="Plus Jakarta Sans"/>
              </a:rPr>
              <a:t>6.</a:t>
            </a:r>
          </a:p>
        </p:txBody>
      </p:sp>
      <p:sp>
        <p:nvSpPr>
          <p:cNvPr id="24" name="TextBox 23"/>
          <p:cNvSpPr txBox="1"/>
          <p:nvPr/>
        </p:nvSpPr>
        <p:spPr>
          <a:xfrm>
            <a:off x="942975" y="2857500"/>
            <a:ext cx="4781550" cy="228600"/>
          </a:xfrm>
          <a:prstGeom prst="rect">
            <a:avLst/>
          </a:prstGeom>
          <a:noFill/>
        </p:spPr>
        <p:txBody>
          <a:bodyPr wrap="square" lIns="142875" rIns="0" tIns="0" bIns="0" anchor="t">
            <a:spAutoFit/>
          </a:bodyPr>
          <a:lstStyle/>
          <a:p>
            <a:pPr algn="l">
              <a:lnSpc>
                <a:spcPts val="1800"/>
              </a:lnSpc>
            </a:pPr>
            <a:r>
              <a:rPr b="0" sz="1200" i="0" u="none">
                <a:solidFill>
                  <a:srgbClr val="334155"/>
                </a:solidFill>
                <a:latin typeface="Plus Jakarta Sans"/>
              </a:rPr>
              <a:t>Xếp hạng lấy </a:t>
            </a:r>
            <a:r>
              <a:rPr b="1" sz="1200" i="0" u="none">
                <a:solidFill>
                  <a:srgbClr val="334155"/>
                </a:solidFill>
                <a:latin typeface="Plus Jakarta Sans"/>
              </a:rPr>
              <a:t>Top ≤ 3 câu hỏi gợi mở 1-hop</a:t>
            </a:r>
            <a:r>
              <a:rPr b="0" sz="1200" i="0" u="none">
                <a:solidFill>
                  <a:srgbClr val="334155"/>
                </a:solidFill>
                <a:latin typeface="Plus Jakarta Sans"/>
              </a:rPr>
              <a:t>.</a:t>
            </a:r>
          </a:p>
        </p:txBody>
      </p:sp>
      <p:sp>
        <p:nvSpPr>
          <p:cNvPr id="25" name="TextBox 24"/>
          <p:cNvSpPr txBox="1"/>
          <p:nvPr/>
        </p:nvSpPr>
        <p:spPr>
          <a:xfrm>
            <a:off x="6734175" y="2133600"/>
            <a:ext cx="4686300" cy="2286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A (Answerability):</a:t>
            </a:r>
            <a:r>
              <a:rPr b="0" sz="1200" i="0" u="none">
                <a:solidFill>
                  <a:srgbClr val="334155"/>
                </a:solidFill>
                <a:latin typeface="Plus Jakarta Sans"/>
              </a:rPr>
              <a:t> Khả năng trả lời được từ corpus.</a:t>
            </a:r>
          </a:p>
        </p:txBody>
      </p:sp>
      <p:sp>
        <p:nvSpPr>
          <p:cNvPr id="26" name="TextBox 25"/>
          <p:cNvSpPr txBox="1"/>
          <p:nvPr/>
        </p:nvSpPr>
        <p:spPr>
          <a:xfrm>
            <a:off x="6734175" y="2476500"/>
            <a:ext cx="4686300" cy="2286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R (Relevance):</a:t>
            </a:r>
            <a:r>
              <a:rPr b="0" sz="1200" i="0" u="none">
                <a:solidFill>
                  <a:srgbClr val="334155"/>
                </a:solidFill>
                <a:latin typeface="Plus Jakarta Sans"/>
              </a:rPr>
              <a:t> Độ liên quan tới chủ thể đang học.</a:t>
            </a:r>
          </a:p>
        </p:txBody>
      </p:sp>
      <p:sp>
        <p:nvSpPr>
          <p:cNvPr id="27" name="TextBox 26"/>
          <p:cNvSpPr txBox="1"/>
          <p:nvPr/>
        </p:nvSpPr>
        <p:spPr>
          <a:xfrm>
            <a:off x="6734175" y="2819400"/>
            <a:ext cx="4686300" cy="2286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N (Novelty):</a:t>
            </a:r>
            <a:r>
              <a:rPr b="0" sz="1200" i="0" u="none">
                <a:solidFill>
                  <a:srgbClr val="334155"/>
                </a:solidFill>
                <a:latin typeface="Plus Jakarta Sans"/>
              </a:rPr>
              <a:t> Độ mới so với các câu đã hỏi.</a:t>
            </a:r>
          </a:p>
        </p:txBody>
      </p:sp>
      <p:pic>
        <p:nvPicPr>
          <p:cNvPr id="28" name="Picture 27" descr="image.png"/>
          <p:cNvPicPr>
            <a:picLocks noChangeAspect="1"/>
          </p:cNvPicPr>
          <p:nvPr/>
        </p:nvPicPr>
        <p:blipFill>
          <a:blip r:embed="rId8"/>
          <a:stretch>
            <a:fillRect/>
          </a:stretch>
        </p:blipFill>
        <p:spPr>
          <a:xfrm>
            <a:off x="6467475" y="2171700"/>
            <a:ext cx="133350" cy="152400"/>
          </a:xfrm>
          <a:prstGeom prst="rect">
            <a:avLst/>
          </a:prstGeom>
        </p:spPr>
      </p:pic>
      <p:pic>
        <p:nvPicPr>
          <p:cNvPr id="29" name="Picture 28" descr="image.png"/>
          <p:cNvPicPr>
            <a:picLocks noChangeAspect="1"/>
          </p:cNvPicPr>
          <p:nvPr/>
        </p:nvPicPr>
        <p:blipFill>
          <a:blip r:embed="rId8"/>
          <a:stretch>
            <a:fillRect/>
          </a:stretch>
        </p:blipFill>
        <p:spPr>
          <a:xfrm>
            <a:off x="6467475" y="2514600"/>
            <a:ext cx="133350" cy="152400"/>
          </a:xfrm>
          <a:prstGeom prst="rect">
            <a:avLst/>
          </a:prstGeom>
        </p:spPr>
      </p:pic>
      <p:pic>
        <p:nvPicPr>
          <p:cNvPr id="30" name="Picture 29" descr="image.png"/>
          <p:cNvPicPr>
            <a:picLocks noChangeAspect="1"/>
          </p:cNvPicPr>
          <p:nvPr/>
        </p:nvPicPr>
        <p:blipFill>
          <a:blip r:embed="rId8"/>
          <a:stretch>
            <a:fillRect/>
          </a:stretch>
        </p:blipFill>
        <p:spPr>
          <a:xfrm>
            <a:off x="6467475" y="2857500"/>
            <a:ext cx="133350" cy="1524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5429250" cy="4219575"/>
          </a:xfrm>
          <a:prstGeom prst="rect">
            <a:avLst/>
          </a:prstGeom>
        </p:spPr>
      </p:pic>
      <p:pic>
        <p:nvPicPr>
          <p:cNvPr id="4" name="Picture 3" descr="image.png"/>
          <p:cNvPicPr>
            <a:picLocks noChangeAspect="1"/>
          </p:cNvPicPr>
          <p:nvPr/>
        </p:nvPicPr>
        <p:blipFill>
          <a:blip r:embed="rId4"/>
          <a:stretch>
            <a:fillRect/>
          </a:stretch>
        </p:blipFill>
        <p:spPr>
          <a:xfrm>
            <a:off x="6229350" y="1133475"/>
            <a:ext cx="5429250" cy="4219575"/>
          </a:xfrm>
          <a:prstGeom prst="rect">
            <a:avLst/>
          </a:prstGeom>
        </p:spPr>
      </p:pic>
      <p:pic>
        <p:nvPicPr>
          <p:cNvPr id="5" name="Picture 4" descr="image.png"/>
          <p:cNvPicPr>
            <a:picLocks noChangeAspect="1"/>
          </p:cNvPicPr>
          <p:nvPr/>
        </p:nvPicPr>
        <p:blipFill>
          <a:blip r:embed="rId5"/>
          <a:stretch>
            <a:fillRect/>
          </a:stretch>
        </p:blipFill>
        <p:spPr>
          <a:xfrm>
            <a:off x="771525" y="1714500"/>
            <a:ext cx="4953000" cy="523875"/>
          </a:xfrm>
          <a:prstGeom prst="rect">
            <a:avLst/>
          </a:prstGeom>
        </p:spPr>
      </p:pic>
      <p:pic>
        <p:nvPicPr>
          <p:cNvPr id="6" name="Picture 5" descr="image.png"/>
          <p:cNvPicPr>
            <a:picLocks noChangeAspect="1"/>
          </p:cNvPicPr>
          <p:nvPr/>
        </p:nvPicPr>
        <p:blipFill>
          <a:blip r:embed="rId6"/>
          <a:stretch>
            <a:fillRect/>
          </a:stretch>
        </p:blipFill>
        <p:spPr>
          <a:xfrm>
            <a:off x="771525" y="2609850"/>
            <a:ext cx="4953000" cy="523875"/>
          </a:xfrm>
          <a:prstGeom prst="rect">
            <a:avLst/>
          </a:prstGeom>
        </p:spPr>
      </p:pic>
      <p:pic>
        <p:nvPicPr>
          <p:cNvPr id="7" name="Picture 6" descr="image.png"/>
          <p:cNvPicPr>
            <a:picLocks noChangeAspect="1"/>
          </p:cNvPicPr>
          <p:nvPr/>
        </p:nvPicPr>
        <p:blipFill>
          <a:blip r:embed="rId7"/>
          <a:stretch>
            <a:fillRect/>
          </a:stretch>
        </p:blipFill>
        <p:spPr>
          <a:xfrm>
            <a:off x="771525" y="3505200"/>
            <a:ext cx="4953000" cy="523875"/>
          </a:xfrm>
          <a:prstGeom prst="rect">
            <a:avLst/>
          </a:prstGeom>
        </p:spPr>
      </p:pic>
      <p:pic>
        <p:nvPicPr>
          <p:cNvPr id="8" name="Picture 7" descr="image.png"/>
          <p:cNvPicPr>
            <a:picLocks noChangeAspect="1"/>
          </p:cNvPicPr>
          <p:nvPr/>
        </p:nvPicPr>
        <p:blipFill>
          <a:blip r:embed="rId8"/>
          <a:stretch>
            <a:fillRect/>
          </a:stretch>
        </p:blipFill>
        <p:spPr>
          <a:xfrm>
            <a:off x="771525" y="4400550"/>
            <a:ext cx="4953000" cy="523875"/>
          </a:xfrm>
          <a:prstGeom prst="rect">
            <a:avLst/>
          </a:prstGeom>
        </p:spPr>
      </p:pic>
      <p:sp>
        <p:nvSpPr>
          <p:cNvPr id="9" name="TextBox 8"/>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Vòng lặp Phản hồi có Kiểm duyệt (Feedback Loop)</a:t>
            </a:r>
          </a:p>
        </p:txBody>
      </p:sp>
      <p:pic>
        <p:nvPicPr>
          <p:cNvPr id="10" name="Picture 9" descr="image.png"/>
          <p:cNvPicPr>
            <a:picLocks noChangeAspect="1"/>
          </p:cNvPicPr>
          <p:nvPr/>
        </p:nvPicPr>
        <p:blipFill>
          <a:blip r:embed="rId9"/>
          <a:stretch>
            <a:fillRect/>
          </a:stretch>
        </p:blipFill>
        <p:spPr>
          <a:xfrm>
            <a:off x="10206037" y="519112"/>
            <a:ext cx="1452562" cy="285750"/>
          </a:xfrm>
          <a:prstGeom prst="rect">
            <a:avLst/>
          </a:prstGeom>
        </p:spPr>
      </p:pic>
      <p:sp>
        <p:nvSpPr>
          <p:cNvPr id="11" name="TextBox 10"/>
          <p:cNvSpPr txBox="1"/>
          <p:nvPr/>
        </p:nvSpPr>
        <p:spPr>
          <a:xfrm>
            <a:off x="533400" y="5543550"/>
            <a:ext cx="8500467" cy="171450"/>
          </a:xfrm>
          <a:prstGeom prst="rect">
            <a:avLst/>
          </a:prstGeom>
          <a:noFill/>
        </p:spPr>
        <p:txBody>
          <a:bodyPr wrap="square" lIns="0" rIns="0" tIns="0" bIns="0" anchor="t">
            <a:spAutoFit/>
          </a:bodyPr>
          <a:lstStyle/>
          <a:p>
            <a:pPr algn="l">
              <a:lnSpc>
                <a:spcPts val="1350"/>
              </a:lnSpc>
            </a:pPr>
            <a:r>
              <a:rPr b="0" sz="900" i="0" u="none">
                <a:solidFill>
                  <a:srgbClr val="64748B"/>
                </a:solidFill>
                <a:latin typeface="Plus Jakarta Sans"/>
              </a:rPr>
              <a:t>*Hiện tại file </a:t>
            </a:r>
            <a:r>
              <a:rPr b="0" sz="900" i="0" u="none">
                <a:solidFill>
                  <a:srgbClr val="64748B"/>
                </a:solidFill>
                <a:latin typeface="Plus Jakarta Sans"/>
              </a:rPr>
              <a:t>knowledge_blind_spot_report.json</a:t>
            </a:r>
            <a:r>
              <a:rPr b="0" sz="900" i="0" u="none">
                <a:solidFill>
                  <a:srgbClr val="64748B"/>
                </a:solidFill>
                <a:latin typeface="Plus Jakarta Sans"/>
              </a:rPr>
              <a:t> ghi nhận 0 bản ghi feedback thực tế (Dashboard đã sẵn sàng hạ tầng, chưa có dữ liệu từ người dùng thật).</a:t>
            </a:r>
          </a:p>
        </p:txBody>
      </p:sp>
      <p:sp>
        <p:nvSpPr>
          <p:cNvPr id="12" name="TextBox 11"/>
          <p:cNvSpPr txBox="1"/>
          <p:nvPr/>
        </p:nvSpPr>
        <p:spPr>
          <a:xfrm>
            <a:off x="771525" y="1371600"/>
            <a:ext cx="5200650" cy="247650"/>
          </a:xfrm>
          <a:prstGeom prst="rect">
            <a:avLst/>
          </a:prstGeom>
          <a:noFill/>
        </p:spPr>
        <p:txBody>
          <a:bodyPr wrap="square" lIns="0" rIns="0" tIns="0" bIns="0" anchor="t">
            <a:spAutoFit/>
          </a:bodyPr>
          <a:lstStyle/>
          <a:p>
            <a:pPr algn="l"/>
            <a:r>
              <a:rPr b="1" sz="1500" i="0" u="none">
                <a:solidFill>
                  <a:srgbClr val="1E293B"/>
                </a:solidFill>
                <a:latin typeface="Space Grotesk"/>
              </a:rPr>
              <a:t>Vòng đời Phản hồi (Feedback Lifecycle)</a:t>
            </a:r>
          </a:p>
        </p:txBody>
      </p:sp>
      <p:sp>
        <p:nvSpPr>
          <p:cNvPr id="13" name="TextBox 12"/>
          <p:cNvSpPr txBox="1"/>
          <p:nvPr/>
        </p:nvSpPr>
        <p:spPr>
          <a:xfrm>
            <a:off x="6467475" y="1371600"/>
            <a:ext cx="5200650" cy="247650"/>
          </a:xfrm>
          <a:prstGeom prst="rect">
            <a:avLst/>
          </a:prstGeom>
          <a:noFill/>
        </p:spPr>
        <p:txBody>
          <a:bodyPr wrap="square" lIns="171450" rIns="0" tIns="0" bIns="0" anchor="t">
            <a:spAutoFit/>
          </a:bodyPr>
          <a:lstStyle/>
          <a:p>
            <a:pPr algn="l"/>
            <a:r>
              <a:rPr b="1" sz="1500" i="0" u="none">
                <a:solidFill>
                  <a:srgbClr val="1E293B"/>
                </a:solidFill>
                <a:latin typeface="Space Grotesk"/>
              </a:rPr>
              <a:t>Nguyên tắc An toàn Dữ liệu</a:t>
            </a:r>
          </a:p>
        </p:txBody>
      </p:sp>
      <p:pic>
        <p:nvPicPr>
          <p:cNvPr id="14" name="Picture 13" descr="image.png"/>
          <p:cNvPicPr>
            <a:picLocks noChangeAspect="1"/>
          </p:cNvPicPr>
          <p:nvPr/>
        </p:nvPicPr>
        <p:blipFill>
          <a:blip r:embed="rId10"/>
          <a:stretch>
            <a:fillRect/>
          </a:stretch>
        </p:blipFill>
        <p:spPr>
          <a:xfrm>
            <a:off x="6467475" y="1400175"/>
            <a:ext cx="171450" cy="190500"/>
          </a:xfrm>
          <a:prstGeom prst="rect">
            <a:avLst/>
          </a:prstGeom>
        </p:spPr>
      </p:pic>
      <p:sp>
        <p:nvSpPr>
          <p:cNvPr id="15" name="TextBox 14"/>
          <p:cNvSpPr txBox="1"/>
          <p:nvPr/>
        </p:nvSpPr>
        <p:spPr>
          <a:xfrm>
            <a:off x="6734175" y="17145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KHÔNG TỰ HỌC RUNTIME:</a:t>
            </a:r>
            <a:r>
              <a:rPr b="0" sz="1200" i="0" u="none">
                <a:solidFill>
                  <a:srgbClr val="334155"/>
                </a:solidFill>
                <a:latin typeface="Plus Jakarta Sans"/>
              </a:rPr>
              <a:t> Phản hồi chưa duyệt tuyệt đối KHÔNG làm thay đổi trọng số model hoặc corpus đang chạy.</a:t>
            </a:r>
          </a:p>
        </p:txBody>
      </p:sp>
      <p:sp>
        <p:nvSpPr>
          <p:cNvPr id="16" name="TextBox 15"/>
          <p:cNvSpPr txBox="1"/>
          <p:nvPr/>
        </p:nvSpPr>
        <p:spPr>
          <a:xfrm>
            <a:off x="6734175" y="2286000"/>
            <a:ext cx="46863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Chống Ô nhiễm Dữ liệu (Poisoning):</a:t>
            </a:r>
            <a:r>
              <a:rPr b="0" sz="1200" i="0" u="none">
                <a:solidFill>
                  <a:srgbClr val="334155"/>
                </a:solidFill>
                <a:latin typeface="Plus Jakarta Sans"/>
              </a:rPr>
              <a:t> Chỉ dữ liệu được Chuyên gia duyệt (Approved) mới xuất ra train offline.</a:t>
            </a:r>
          </a:p>
        </p:txBody>
      </p:sp>
      <p:sp>
        <p:nvSpPr>
          <p:cNvPr id="17" name="TextBox 16"/>
          <p:cNvSpPr txBox="1"/>
          <p:nvPr/>
        </p:nvSpPr>
        <p:spPr>
          <a:xfrm>
            <a:off x="6734175" y="2857500"/>
            <a:ext cx="4686300" cy="466725"/>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Phân tích Điểm mù (Blind Spots):</a:t>
            </a:r>
            <a:r>
              <a:rPr b="0" sz="1200" i="0" u="none">
                <a:solidFill>
                  <a:srgbClr val="334155"/>
                </a:solidFill>
                <a:latin typeface="Plus Jakarta Sans"/>
              </a:rPr>
              <a:t> Tự động phân loại rủi ro: </a:t>
            </a:r>
            <a:r>
              <a:rPr b="0" sz="1200" i="0" u="none">
                <a:solidFill>
                  <a:srgbClr val="334155"/>
                </a:solidFill>
                <a:latin typeface="Plus Jakarta Sans"/>
              </a:rPr>
              <a:t>CORPUS_GAP</a:t>
            </a:r>
            <a:r>
              <a:rPr b="0" sz="1200" i="0" u="none">
                <a:solidFill>
                  <a:srgbClr val="334155"/>
                </a:solidFill>
                <a:latin typeface="Plus Jakarta Sans"/>
              </a:rPr>
              <a:t>, </a:t>
            </a:r>
            <a:r>
              <a:rPr b="0" sz="1200" i="0" u="none">
                <a:solidFill>
                  <a:srgbClr val="334155"/>
                </a:solidFill>
                <a:latin typeface="Plus Jakarta Sans"/>
              </a:rPr>
              <a:t>RETRIEVAL_GAP</a:t>
            </a:r>
            <a:r>
              <a:rPr b="0" sz="1200" i="0" u="none">
                <a:solidFill>
                  <a:srgbClr val="334155"/>
                </a:solidFill>
                <a:latin typeface="Plus Jakarta Sans"/>
              </a:rPr>
              <a:t>, </a:t>
            </a:r>
            <a:r>
              <a:rPr b="0" sz="1200" i="0" u="none">
                <a:solidFill>
                  <a:srgbClr val="334155"/>
                </a:solidFill>
                <a:latin typeface="Plus Jakarta Sans"/>
              </a:rPr>
              <a:t>READER_SEMANTIC_GAP</a:t>
            </a:r>
            <a:r>
              <a:rPr b="0" sz="1200" i="0" u="none">
                <a:solidFill>
                  <a:srgbClr val="334155"/>
                </a:solidFill>
                <a:latin typeface="Plus Jakarta Sans"/>
              </a:rPr>
              <a:t>.</a:t>
            </a:r>
          </a:p>
        </p:txBody>
      </p:sp>
      <p:pic>
        <p:nvPicPr>
          <p:cNvPr id="18" name="Picture 17" descr="image.png"/>
          <p:cNvPicPr>
            <a:picLocks noChangeAspect="1"/>
          </p:cNvPicPr>
          <p:nvPr/>
        </p:nvPicPr>
        <p:blipFill>
          <a:blip r:embed="rId11"/>
          <a:stretch>
            <a:fillRect/>
          </a:stretch>
        </p:blipFill>
        <p:spPr>
          <a:xfrm>
            <a:off x="3162300" y="2352675"/>
            <a:ext cx="171450" cy="171450"/>
          </a:xfrm>
          <a:prstGeom prst="rect">
            <a:avLst/>
          </a:prstGeom>
        </p:spPr>
      </p:pic>
      <p:pic>
        <p:nvPicPr>
          <p:cNvPr id="19" name="Picture 18" descr="image.png"/>
          <p:cNvPicPr>
            <a:picLocks noChangeAspect="1"/>
          </p:cNvPicPr>
          <p:nvPr/>
        </p:nvPicPr>
        <p:blipFill>
          <a:blip r:embed="rId11"/>
          <a:stretch>
            <a:fillRect/>
          </a:stretch>
        </p:blipFill>
        <p:spPr>
          <a:xfrm>
            <a:off x="3162300" y="3248025"/>
            <a:ext cx="171450" cy="171450"/>
          </a:xfrm>
          <a:prstGeom prst="rect">
            <a:avLst/>
          </a:prstGeom>
        </p:spPr>
      </p:pic>
      <p:pic>
        <p:nvPicPr>
          <p:cNvPr id="20" name="Picture 19" descr="image.png"/>
          <p:cNvPicPr>
            <a:picLocks noChangeAspect="1"/>
          </p:cNvPicPr>
          <p:nvPr/>
        </p:nvPicPr>
        <p:blipFill>
          <a:blip r:embed="rId11"/>
          <a:stretch>
            <a:fillRect/>
          </a:stretch>
        </p:blipFill>
        <p:spPr>
          <a:xfrm>
            <a:off x="3162300" y="4143375"/>
            <a:ext cx="171450" cy="171450"/>
          </a:xfrm>
          <a:prstGeom prst="rect">
            <a:avLst/>
          </a:prstGeom>
        </p:spPr>
      </p:pic>
      <p:pic>
        <p:nvPicPr>
          <p:cNvPr id="21" name="Picture 20" descr="image.png"/>
          <p:cNvPicPr>
            <a:picLocks noChangeAspect="1"/>
          </p:cNvPicPr>
          <p:nvPr/>
        </p:nvPicPr>
        <p:blipFill>
          <a:blip r:embed="rId12"/>
          <a:stretch>
            <a:fillRect/>
          </a:stretch>
        </p:blipFill>
        <p:spPr>
          <a:xfrm>
            <a:off x="6467475" y="1752600"/>
            <a:ext cx="152400" cy="152400"/>
          </a:xfrm>
          <a:prstGeom prst="rect">
            <a:avLst/>
          </a:prstGeom>
        </p:spPr>
      </p:pic>
      <p:pic>
        <p:nvPicPr>
          <p:cNvPr id="22" name="Picture 21" descr="image.png"/>
          <p:cNvPicPr>
            <a:picLocks noChangeAspect="1"/>
          </p:cNvPicPr>
          <p:nvPr/>
        </p:nvPicPr>
        <p:blipFill>
          <a:blip r:embed="rId13"/>
          <a:stretch>
            <a:fillRect/>
          </a:stretch>
        </p:blipFill>
        <p:spPr>
          <a:xfrm>
            <a:off x="6467475" y="2324100"/>
            <a:ext cx="152400" cy="152400"/>
          </a:xfrm>
          <a:prstGeom prst="rect">
            <a:avLst/>
          </a:prstGeom>
        </p:spPr>
      </p:pic>
      <p:pic>
        <p:nvPicPr>
          <p:cNvPr id="23" name="Picture 22" descr="image.png"/>
          <p:cNvPicPr>
            <a:picLocks noChangeAspect="1"/>
          </p:cNvPicPr>
          <p:nvPr/>
        </p:nvPicPr>
        <p:blipFill>
          <a:blip r:embed="rId14"/>
          <a:stretch>
            <a:fillRect/>
          </a:stretch>
        </p:blipFill>
        <p:spPr>
          <a:xfrm>
            <a:off x="6467475" y="2895600"/>
            <a:ext cx="152400" cy="1524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2705100"/>
            <a:ext cx="11125200" cy="1123950"/>
          </a:xfrm>
          <a:prstGeom prst="rect">
            <a:avLst/>
          </a:prstGeom>
        </p:spPr>
      </p:pic>
      <p:sp>
        <p:nvSpPr>
          <p:cNvPr id="4" name="TextBox 3"/>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Trạng thái Kiểm thử &amp; Build Hệ thống (Test Status)</a:t>
            </a:r>
          </a:p>
        </p:txBody>
      </p:sp>
      <p:pic>
        <p:nvPicPr>
          <p:cNvPr id="5" name="Picture 4" descr="image.png"/>
          <p:cNvPicPr>
            <a:picLocks noChangeAspect="1"/>
          </p:cNvPicPr>
          <p:nvPr/>
        </p:nvPicPr>
        <p:blipFill>
          <a:blip r:embed="rId4"/>
          <a:stretch>
            <a:fillRect/>
          </a:stretch>
        </p:blipFill>
        <p:spPr>
          <a:xfrm>
            <a:off x="10829925" y="519112"/>
            <a:ext cx="828675" cy="285750"/>
          </a:xfrm>
          <a:prstGeom prst="rect">
            <a:avLst/>
          </a:prstGeom>
        </p:spPr>
      </p:pic>
      <p:graphicFrame>
        <p:nvGraphicFramePr>
          <p:cNvPr id="6" name="Table 5"/>
          <p:cNvGraphicFramePr>
            <a:graphicFrameLocks noGrp="1"/>
          </p:cNvGraphicFramePr>
          <p:nvPr/>
        </p:nvGraphicFramePr>
        <p:xfrm>
          <a:off x="533400" y="1209675"/>
          <a:ext cx="11125199" cy="130492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245072"/>
                <a:gridCol w="2132111"/>
                <a:gridCol w="6748016"/>
              </a:tblGrid>
              <a:tr h="434975">
                <a:tc>
                  <a:txBody>
                    <a:bodyPr/>
                    <a:lstStyle/>
                    <a:p>
                      <a:pPr algn="l"/>
                      <a:r>
                        <a:rPr b="0" sz="1050" i="0" u="none">
                          <a:solidFill>
                            <a:srgbClr val="FFFFFF"/>
                          </a:solidFill>
                          <a:latin typeface="Plus Jakarta Sans SemiBold"/>
                        </a:rPr>
                        <a:t>Lệnh thực thi</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Trạng thái Build</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Chi tiết Kết quả &amp; Ghi chú</a:t>
                      </a:r>
                    </a:p>
                  </a:txBody>
                  <a:tcPr anchor="ctr" marL="63500" marR="63500" marT="25400" marB="25400">
                    <a:lnL>
                      <a:noFill/>
                    </a:lnL>
                    <a:lnR>
                      <a:noFill/>
                    </a:lnR>
                    <a:lnT>
                      <a:noFill/>
                    </a:lnT>
                    <a:lnB>
                      <a:noFill/>
                    </a:lnB>
                    <a:solidFill>
                      <a:srgbClr val="0F172A"/>
                    </a:solidFill>
                  </a:tcPr>
                </a:tc>
              </a:tr>
              <a:tr h="434975">
                <a:tc>
                  <a:txBody>
                    <a:bodyPr/>
                    <a:lstStyle/>
                    <a:p>
                      <a:pPr algn="l"/>
                      <a:r>
                        <a:rPr b="0" sz="1050" i="0" u="none">
                          <a:solidFill>
                            <a:srgbClr val="334155"/>
                          </a:solidFill>
                          <a:latin typeface="Plus Jakarta Sans SemiBold"/>
                        </a:rPr>
                        <a:t>npm run build</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THÀNH CÔNG</a:t>
                      </a:r>
                    </a:p>
                  </a:txBody>
                  <a:tcPr anchor="ctr" marL="63500" marR="63500" marT="25400" marB="25400">
                    <a:lnL>
                      <a:noFill/>
                    </a:lnL>
                    <a:lnR>
                      <a:noFill/>
                    </a:lnR>
                    <a:lnT>
                      <a:noFill/>
                    </a:lnT>
                    <a:lnB>
                      <a:noFill/>
                    </a:lnB>
                    <a:solidFill>
                      <a:srgbClr val="EFF6FF"/>
                    </a:solidFill>
                  </a:tcPr>
                </a:tc>
                <a:tc>
                  <a:txBody>
                    <a:bodyPr/>
                    <a:lstStyle/>
                    <a:p>
                      <a:pPr algn="l"/>
                      <a:r>
                        <a:rPr b="0" sz="1050" i="0" u="none">
                          <a:solidFill>
                            <a:srgbClr val="334155"/>
                          </a:solidFill>
                          <a:latin typeface="Plus Jakarta Sans SemiBold"/>
                        </a:rPr>
                        <a:t>Build thành công 3,351 modules Vite/React (Cảnh báo 2 chunk JS Mari 3D &gt; 500kB).</a:t>
                      </a:r>
                    </a:p>
                  </a:txBody>
                  <a:tcPr anchor="ctr" marL="63500" marR="63500" marT="25400" marB="25400">
                    <a:lnL>
                      <a:noFill/>
                    </a:lnL>
                    <a:lnR>
                      <a:noFill/>
                    </a:lnR>
                    <a:lnT>
                      <a:noFill/>
                    </a:lnT>
                    <a:lnB>
                      <a:noFill/>
                    </a:lnB>
                    <a:solidFill>
                      <a:srgbClr val="EFF6FF"/>
                    </a:solidFill>
                  </a:tcPr>
                </a:tc>
              </a:tr>
              <a:tr h="434975">
                <a:tc>
                  <a:txBody>
                    <a:bodyPr/>
                    <a:lstStyle/>
                    <a:p>
                      <a:pPr algn="l"/>
                      <a:r>
                        <a:rPr b="0" sz="1050" i="0" u="none">
                          <a:solidFill>
                            <a:srgbClr val="334155"/>
                          </a:solidFill>
                          <a:latin typeface="Plus Jakarta Sans"/>
                        </a:rPr>
                        <a:t>python -m pytest -q</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178 PASSED / 10 FAILED</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Tổng số 188 tests (Thời gian chạy 147.51 giây, 7 cảnh báo Deprecation).</a:t>
                      </a:r>
                    </a:p>
                  </a:txBody>
                  <a:tcPr anchor="ctr" marL="63500" marR="63500" marT="25400" marB="25400">
                    <a:lnL>
                      <a:noFill/>
                    </a:lnL>
                    <a:lnR>
                      <a:noFill/>
                    </a:lnR>
                    <a:lnT>
                      <a:noFill/>
                    </a:lnT>
                    <a:lnB>
                      <a:noFill/>
                    </a:lnB>
                    <a:solidFill>
                      <a:srgbClr val="F8FAFC"/>
                    </a:solidFill>
                  </a:tcPr>
                </a:tc>
              </a:tr>
            </a:tbl>
          </a:graphicData>
        </a:graphic>
      </p:graphicFrame>
      <p:sp>
        <p:nvSpPr>
          <p:cNvPr id="7" name="TextBox 6"/>
          <p:cNvSpPr txBox="1"/>
          <p:nvPr/>
        </p:nvSpPr>
        <p:spPr>
          <a:xfrm>
            <a:off x="771525" y="2943225"/>
            <a:ext cx="11181397" cy="247650"/>
          </a:xfrm>
          <a:prstGeom prst="rect">
            <a:avLst/>
          </a:prstGeom>
          <a:noFill/>
        </p:spPr>
        <p:txBody>
          <a:bodyPr wrap="square" lIns="190500" rIns="0" tIns="0" bIns="0" anchor="t">
            <a:spAutoFit/>
          </a:bodyPr>
          <a:lstStyle/>
          <a:p>
            <a:pPr algn="l"/>
            <a:r>
              <a:rPr b="1" sz="1500" i="0" u="none">
                <a:solidFill>
                  <a:srgbClr val="1E293B"/>
                </a:solidFill>
                <a:latin typeface="Space Grotesk"/>
              </a:rPr>
              <a:t>Phân tích 10 Failure Tests (Không che giấu lỗi)</a:t>
            </a:r>
          </a:p>
        </p:txBody>
      </p:sp>
      <p:sp>
        <p:nvSpPr>
          <p:cNvPr id="8" name="Rectangle 7"/>
          <p:cNvSpPr/>
          <p:nvPr/>
        </p:nvSpPr>
        <p:spPr>
          <a:xfrm>
            <a:off x="533400" y="2062162"/>
            <a:ext cx="22450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78472" y="2062162"/>
            <a:ext cx="2132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910583" y="2062162"/>
            <a:ext cx="67480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500312"/>
            <a:ext cx="22450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8472" y="2500312"/>
            <a:ext cx="21321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10583" y="2500312"/>
            <a:ext cx="674801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525" y="2971800"/>
            <a:ext cx="190500" cy="190500"/>
          </a:xfrm>
          <a:prstGeom prst="rect">
            <a:avLst/>
          </a:prstGeom>
        </p:spPr>
      </p:pic>
      <p:sp>
        <p:nvSpPr>
          <p:cNvPr id="15" name="TextBox 14"/>
          <p:cNvSpPr txBox="1"/>
          <p:nvPr/>
        </p:nvSpPr>
        <p:spPr>
          <a:xfrm>
            <a:off x="771525" y="3286125"/>
            <a:ext cx="5267325" cy="304800"/>
          </a:xfrm>
          <a:prstGeom prst="rect">
            <a:avLst/>
          </a:prstGeom>
          <a:noFill/>
        </p:spPr>
        <p:txBody>
          <a:bodyPr wrap="square" lIns="0" rIns="0" tIns="0" bIns="0" anchor="t">
            <a:spAutoFit/>
          </a:bodyPr>
          <a:lstStyle/>
          <a:p>
            <a:pPr algn="l"/>
            <a:r>
              <a:rPr b="0" sz="975" i="0" u="none">
                <a:solidFill>
                  <a:srgbClr val="000000"/>
                </a:solidFill>
                <a:latin typeface="Plus Jakarta Sans"/>
              </a:rPr>
              <a:t>• </a:t>
            </a:r>
            <a:r>
              <a:rPr b="1" sz="975" i="0" u="none">
                <a:solidFill>
                  <a:srgbClr val="000000"/>
                </a:solidFill>
                <a:latin typeface="Plus Jakarta Sans"/>
              </a:rPr>
              <a:t>False Premise / Cause:</a:t>
            </a:r>
            <a:r>
              <a:rPr b="0" sz="975" i="0" u="none">
                <a:solidFill>
                  <a:srgbClr val="000000"/>
                </a:solidFill>
                <a:latin typeface="Plus Jakarta Sans"/>
              </a:rPr>
              <a:t> Sai thứ tự Rejection Reason trong Semantic.</a:t>
            </a:r>
            <a:r>
              <a:t>
</a:t>
            </a:r>
            <a:r>
              <a:rPr b="0" sz="975" i="0" u="none">
                <a:solidFill>
                  <a:srgbClr val="000000"/>
                </a:solidFill>
                <a:latin typeface="Plus Jakarta Sans"/>
              </a:rPr>
              <a:t> • </a:t>
            </a:r>
            <a:r>
              <a:rPr b="1" sz="975" i="0" u="none">
                <a:solidFill>
                  <a:srgbClr val="000000"/>
                </a:solidFill>
                <a:latin typeface="Plus Jakarta Sans"/>
              </a:rPr>
              <a:t>Question-Type Regressions:</a:t>
            </a:r>
            <a:r>
              <a:rPr b="0" sz="975" i="0" u="none">
                <a:solidFill>
                  <a:srgbClr val="000000"/>
                </a:solidFill>
                <a:latin typeface="Plus Jakarta Sans"/>
              </a:rPr>
              <a:t> Lỗi phân loại Alias, Location &amp; Quantity.</a:t>
            </a:r>
          </a:p>
        </p:txBody>
      </p:sp>
      <p:sp>
        <p:nvSpPr>
          <p:cNvPr id="16" name="TextBox 15"/>
          <p:cNvSpPr txBox="1"/>
          <p:nvPr/>
        </p:nvSpPr>
        <p:spPr>
          <a:xfrm>
            <a:off x="6153150" y="3286125"/>
            <a:ext cx="5267325" cy="304800"/>
          </a:xfrm>
          <a:prstGeom prst="rect">
            <a:avLst/>
          </a:prstGeom>
          <a:noFill/>
        </p:spPr>
        <p:txBody>
          <a:bodyPr wrap="square" lIns="0" rIns="0" tIns="0" bIns="0" anchor="t">
            <a:spAutoFit/>
          </a:bodyPr>
          <a:lstStyle/>
          <a:p>
            <a:pPr algn="l"/>
            <a:r>
              <a:rPr b="0" sz="975" i="0" u="none">
                <a:solidFill>
                  <a:srgbClr val="000000"/>
                </a:solidFill>
                <a:latin typeface="Plus Jakarta Sans"/>
              </a:rPr>
              <a:t>• </a:t>
            </a:r>
            <a:r>
              <a:rPr b="1" sz="975" i="0" u="none">
                <a:solidFill>
                  <a:srgbClr val="000000"/>
                </a:solidFill>
                <a:latin typeface="Plus Jakarta Sans"/>
              </a:rPr>
              <a:t>Fallback Span:</a:t>
            </a:r>
            <a:r>
              <a:rPr b="0" sz="975" i="0" u="none">
                <a:solidFill>
                  <a:srgbClr val="000000"/>
                </a:solidFill>
                <a:latin typeface="Plus Jakarta Sans"/>
              </a:rPr>
              <a:t> Độ dài span fallback lớn hơn kỳ vọng.</a:t>
            </a:r>
            <a:r>
              <a:t>
</a:t>
            </a:r>
            <a:r>
              <a:rPr b="0" sz="975" i="0" u="none">
                <a:solidFill>
                  <a:srgbClr val="000000"/>
                </a:solidFill>
                <a:latin typeface="Plus Jakarta Sans"/>
              </a:rPr>
              <a:t> • </a:t>
            </a:r>
            <a:r>
              <a:rPr b="1" sz="975" i="0" u="none">
                <a:solidFill>
                  <a:srgbClr val="000000"/>
                </a:solidFill>
                <a:latin typeface="Plus Jakarta Sans"/>
              </a:rPr>
              <a:t>Config Stale Weights:</a:t>
            </a:r>
            <a:r>
              <a:rPr b="0" sz="975" i="0" u="none">
                <a:solidFill>
                  <a:srgbClr val="000000"/>
                </a:solidFill>
                <a:latin typeface="Plus Jakarta Sans"/>
              </a:rPr>
              <a:t> 2 test cũ vẫn kỳ vọng Reader Weight 0.50 (Config mới là 0.60).</a:t>
            </a:r>
          </a:p>
        </p:txBody>
      </p:sp>
      <p:pic>
        <p:nvPicPr>
          <p:cNvPr id="17" name="Picture 16" descr="image.png"/>
          <p:cNvPicPr>
            <a:picLocks noChangeAspect="1"/>
          </p:cNvPicPr>
          <p:nvPr/>
        </p:nvPicPr>
        <p:blipFill>
          <a:blip r:embed="rId6"/>
          <a:stretch>
            <a:fillRect/>
          </a:stretch>
        </p:blipFill>
        <p:spPr>
          <a:xfrm>
            <a:off x="2930872" y="1752600"/>
            <a:ext cx="933450" cy="209550"/>
          </a:xfrm>
          <a:prstGeom prst="rect">
            <a:avLst/>
          </a:prstGeom>
        </p:spPr>
      </p:pic>
      <p:pic>
        <p:nvPicPr>
          <p:cNvPr id="18" name="Picture 17" descr="image.png"/>
          <p:cNvPicPr>
            <a:picLocks noChangeAspect="1"/>
          </p:cNvPicPr>
          <p:nvPr/>
        </p:nvPicPr>
        <p:blipFill>
          <a:blip r:embed="rId7"/>
          <a:stretch>
            <a:fillRect/>
          </a:stretch>
        </p:blipFill>
        <p:spPr>
          <a:xfrm>
            <a:off x="2930872" y="2190750"/>
            <a:ext cx="1428750" cy="2095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Các Giới hạn Quan trọng của Hệ thống</a:t>
            </a:r>
          </a:p>
        </p:txBody>
      </p:sp>
      <p:pic>
        <p:nvPicPr>
          <p:cNvPr id="4" name="Picture 3" descr="image.png"/>
          <p:cNvPicPr>
            <a:picLocks noChangeAspect="1"/>
          </p:cNvPicPr>
          <p:nvPr/>
        </p:nvPicPr>
        <p:blipFill>
          <a:blip r:embed="rId3"/>
          <a:stretch>
            <a:fillRect/>
          </a:stretch>
        </p:blipFill>
        <p:spPr>
          <a:xfrm>
            <a:off x="10734675" y="519112"/>
            <a:ext cx="923925" cy="285750"/>
          </a:xfrm>
          <a:prstGeom prst="rect">
            <a:avLst/>
          </a:prstGeom>
        </p:spPr>
      </p:pic>
      <p:graphicFrame>
        <p:nvGraphicFramePr>
          <p:cNvPr id="5" name="Table 4"/>
          <p:cNvGraphicFramePr>
            <a:graphicFrameLocks noGrp="1"/>
          </p:cNvGraphicFramePr>
          <p:nvPr/>
        </p:nvGraphicFramePr>
        <p:xfrm>
          <a:off x="533400" y="1209675"/>
          <a:ext cx="11125199" cy="250507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684139"/>
                <a:gridCol w="5451574"/>
                <a:gridCol w="3989486"/>
              </a:tblGrid>
              <a:tr h="501015">
                <a:tc>
                  <a:txBody>
                    <a:bodyPr/>
                    <a:lstStyle/>
                    <a:p>
                      <a:pPr algn="l"/>
                      <a:r>
                        <a:rPr b="0" sz="1050" i="0" u="none">
                          <a:solidFill>
                            <a:srgbClr val="FFFFFF"/>
                          </a:solidFill>
                          <a:latin typeface="Plus Jakarta Sans SemiBold"/>
                        </a:rPr>
                        <a:t>Nhóm Giới hạn</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Mô tả Chi tiết Giới hạn</a:t>
                      </a:r>
                    </a:p>
                  </a:txBody>
                  <a:tcPr anchor="ctr" marL="63500" marR="63500" marT="25400" marB="25400">
                    <a:lnL>
                      <a:noFill/>
                    </a:lnL>
                    <a:lnR>
                      <a:noFill/>
                    </a:lnR>
                    <a:lnT>
                      <a:noFill/>
                    </a:lnT>
                    <a:lnB>
                      <a:noFill/>
                    </a:lnB>
                    <a:solidFill>
                      <a:srgbClr val="0F172A"/>
                    </a:solidFill>
                  </a:tcPr>
                </a:tc>
                <a:tc>
                  <a:txBody>
                    <a:bodyPr/>
                    <a:lstStyle/>
                    <a:p>
                      <a:pPr algn="l"/>
                      <a:r>
                        <a:rPr b="0" sz="1050" i="0" u="none">
                          <a:solidFill>
                            <a:srgbClr val="FFFFFF"/>
                          </a:solidFill>
                          <a:latin typeface="Plus Jakarta Sans SemiBold"/>
                        </a:rPr>
                        <a:t>Tác động đến Hệ thống</a:t>
                      </a:r>
                    </a:p>
                  </a:txBody>
                  <a:tcPr anchor="ctr" marL="63500" marR="63500" marT="25400" marB="25400">
                    <a:lnL>
                      <a:noFill/>
                    </a:lnL>
                    <a:lnR>
                      <a:noFill/>
                    </a:lnR>
                    <a:lnT>
                      <a:noFill/>
                    </a:lnT>
                    <a:lnB>
                      <a:noFill/>
                    </a:lnB>
                    <a:solidFill>
                      <a:srgbClr val="0F172A"/>
                    </a:solidFill>
                  </a:tcPr>
                </a:tc>
              </a:tr>
              <a:tr h="501015">
                <a:tc>
                  <a:txBody>
                    <a:bodyPr/>
                    <a:lstStyle/>
                    <a:p>
                      <a:pPr algn="l"/>
                      <a:r>
                        <a:rPr b="1" sz="1050" i="0" u="none">
                          <a:solidFill>
                            <a:srgbClr val="334155"/>
                          </a:solidFill>
                          <a:latin typeface="Plus Jakarta Sans"/>
                        </a:rPr>
                        <a:t>Chất lượng Reader</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Answerable EM chỉ đạt 0.79% trên full validation; Checkpoint vẫn ở mức Experimental.</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Span trích xuất dễ bị lệch dài/ngắn hơn tiêu chuẩn.</a:t>
                      </a:r>
                    </a:p>
                  </a:txBody>
                  <a:tcPr anchor="ctr" marL="63500" marR="63500" marT="25400" marB="25400">
                    <a:lnL>
                      <a:noFill/>
                    </a:lnL>
                    <a:lnR>
                      <a:noFill/>
                    </a:lnR>
                    <a:lnT>
                      <a:noFill/>
                    </a:lnT>
                    <a:lnB>
                      <a:noFill/>
                    </a:lnB>
                    <a:noFill/>
                  </a:tcPr>
                </a:tc>
              </a:tr>
              <a:tr h="501015">
                <a:tc>
                  <a:txBody>
                    <a:bodyPr/>
                    <a:lstStyle/>
                    <a:p>
                      <a:pPr algn="l"/>
                      <a:r>
                        <a:rPr b="1" sz="1050" i="0" u="none">
                          <a:solidFill>
                            <a:srgbClr val="334155"/>
                          </a:solidFill>
                          <a:latin typeface="Plus Jakarta Sans"/>
                        </a:rPr>
                        <a:t>Semantic Trade-off</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Thắt chặt Gate giúp giảm False Positive nhưng làm False Negative tăng lên 44.09%.</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Hệ thống đôi khi quá cẩn trọng, từ chối cả câu có đáp án.</a:t>
                      </a:r>
                    </a:p>
                  </a:txBody>
                  <a:tcPr anchor="ctr" marL="63500" marR="63500" marT="25400" marB="25400">
                    <a:lnL>
                      <a:noFill/>
                    </a:lnL>
                    <a:lnR>
                      <a:noFill/>
                    </a:lnR>
                    <a:lnT>
                      <a:noFill/>
                    </a:lnT>
                    <a:lnB>
                      <a:noFill/>
                    </a:lnB>
                    <a:solidFill>
                      <a:srgbClr val="F8FAFC"/>
                    </a:solidFill>
                  </a:tcPr>
                </a:tc>
              </a:tr>
              <a:tr h="501015">
                <a:tc>
                  <a:txBody>
                    <a:bodyPr/>
                    <a:lstStyle/>
                    <a:p>
                      <a:pPr algn="l"/>
                      <a:r>
                        <a:rPr b="1" sz="1050" i="0" u="none">
                          <a:solidFill>
                            <a:srgbClr val="334155"/>
                          </a:solidFill>
                          <a:latin typeface="Plus Jakarta Sans"/>
                        </a:rPr>
                        <a:t>Lệch tầng Benchmark</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Offline benchmark đo ở cấp Document-level; Online API phục vụ ở cấp Passage-level.</a:t>
                      </a:r>
                    </a:p>
                  </a:txBody>
                  <a:tcPr anchor="ctr" marL="63500" marR="63500" marT="25400" marB="25400">
                    <a:lnL>
                      <a:noFill/>
                    </a:lnL>
                    <a:lnR>
                      <a:noFill/>
                    </a:lnR>
                    <a:lnT>
                      <a:noFill/>
                    </a:lnT>
                    <a:lnB>
                      <a:noFill/>
                    </a:lnB>
                    <a:noFill/>
                  </a:tcPr>
                </a:tc>
                <a:tc>
                  <a:txBody>
                    <a:bodyPr/>
                    <a:lstStyle/>
                    <a:p>
                      <a:pPr algn="l"/>
                      <a:r>
                        <a:rPr b="0" sz="1050" i="0" u="none">
                          <a:solidFill>
                            <a:srgbClr val="334155"/>
                          </a:solidFill>
                          <a:latin typeface="Plus Jakarta Sans"/>
                        </a:rPr>
                        <a:t>Kết quả benchmark offline không đại diện 1:1 cho SLA runtime.</a:t>
                      </a:r>
                    </a:p>
                  </a:txBody>
                  <a:tcPr anchor="ctr" marL="63500" marR="63500" marT="25400" marB="25400">
                    <a:lnL>
                      <a:noFill/>
                    </a:lnL>
                    <a:lnR>
                      <a:noFill/>
                    </a:lnR>
                    <a:lnT>
                      <a:noFill/>
                    </a:lnT>
                    <a:lnB>
                      <a:noFill/>
                    </a:lnB>
                    <a:noFill/>
                  </a:tcPr>
                </a:tc>
              </a:tr>
              <a:tr h="501015">
                <a:tc>
                  <a:txBody>
                    <a:bodyPr/>
                    <a:lstStyle/>
                    <a:p>
                      <a:pPr algn="l"/>
                      <a:r>
                        <a:rPr b="1" sz="1050" i="0" u="none">
                          <a:solidFill>
                            <a:srgbClr val="334155"/>
                          </a:solidFill>
                          <a:latin typeface="Plus Jakarta Sans"/>
                        </a:rPr>
                        <a:t>Bảo mật API Review</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Các API Review feedback &amp; Document Submission chưa tích hợp Auth / RBAC.</a:t>
                      </a:r>
                    </a:p>
                  </a:txBody>
                  <a:tcPr anchor="ctr" marL="63500" marR="63500" marT="25400" marB="25400">
                    <a:lnL>
                      <a:noFill/>
                    </a:lnL>
                    <a:lnR>
                      <a:noFill/>
                    </a:lnR>
                    <a:lnT>
                      <a:noFill/>
                    </a:lnT>
                    <a:lnB>
                      <a:noFill/>
                    </a:lnB>
                    <a:solidFill>
                      <a:srgbClr val="F8FAFC"/>
                    </a:solidFill>
                  </a:tcPr>
                </a:tc>
                <a:tc>
                  <a:txBody>
                    <a:bodyPr/>
                    <a:lstStyle/>
                    <a:p>
                      <a:pPr algn="l"/>
                      <a:r>
                        <a:rPr b="0" sz="1050" i="0" u="none">
                          <a:solidFill>
                            <a:srgbClr val="334155"/>
                          </a:solidFill>
                          <a:latin typeface="Plus Jakarta Sans"/>
                        </a:rPr>
                        <a:t>Mới dừng ở mức Prototype nghiên cứu cục bộ an toàn.</a:t>
                      </a:r>
                    </a:p>
                  </a:txBody>
                  <a:tcPr anchor="ctr" marL="63500" marR="63500" marT="25400" marB="25400">
                    <a:lnL>
                      <a:noFill/>
                    </a:lnL>
                    <a:lnR>
                      <a:noFill/>
                    </a:lnR>
                    <a:lnT>
                      <a:noFill/>
                    </a:lnT>
                    <a:lnB>
                      <a:noFill/>
                    </a:lnB>
                    <a:solidFill>
                      <a:srgbClr val="F8FAFC"/>
                    </a:solidFill>
                  </a:tcPr>
                </a:tc>
              </a:tr>
            </a:tbl>
          </a:graphicData>
        </a:graphic>
      </p:graphicFrame>
      <p:sp>
        <p:nvSpPr>
          <p:cNvPr id="6" name="Rectangle 5"/>
          <p:cNvSpPr/>
          <p:nvPr/>
        </p:nvSpPr>
        <p:spPr>
          <a:xfrm>
            <a:off x="533400" y="2243137"/>
            <a:ext cx="16841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17539" y="2243137"/>
            <a:ext cx="545157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69113" y="2243137"/>
            <a:ext cx="39894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3400" y="2662237"/>
            <a:ext cx="16841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17539" y="2662237"/>
            <a:ext cx="545157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69113" y="2662237"/>
            <a:ext cx="39894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3400" y="3281362"/>
            <a:ext cx="16841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17539" y="3281362"/>
            <a:ext cx="545157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69113" y="3281362"/>
            <a:ext cx="39894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3400" y="3700462"/>
            <a:ext cx="1684139"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17539" y="3700462"/>
            <a:ext cx="545157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69113" y="3700462"/>
            <a:ext cx="398948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3606700" cy="2562225"/>
          </a:xfrm>
          <a:prstGeom prst="rect">
            <a:avLst/>
          </a:prstGeom>
        </p:spPr>
      </p:pic>
      <p:pic>
        <p:nvPicPr>
          <p:cNvPr id="4" name="Picture 3" descr="image.png"/>
          <p:cNvPicPr>
            <a:picLocks noChangeAspect="1"/>
          </p:cNvPicPr>
          <p:nvPr/>
        </p:nvPicPr>
        <p:blipFill>
          <a:blip r:embed="rId4"/>
          <a:stretch>
            <a:fillRect/>
          </a:stretch>
        </p:blipFill>
        <p:spPr>
          <a:xfrm>
            <a:off x="4292500" y="1133475"/>
            <a:ext cx="3606849" cy="2562225"/>
          </a:xfrm>
          <a:prstGeom prst="rect">
            <a:avLst/>
          </a:prstGeom>
        </p:spPr>
      </p:pic>
      <p:pic>
        <p:nvPicPr>
          <p:cNvPr id="5" name="Picture 4" descr="image.png"/>
          <p:cNvPicPr>
            <a:picLocks noChangeAspect="1"/>
          </p:cNvPicPr>
          <p:nvPr/>
        </p:nvPicPr>
        <p:blipFill>
          <a:blip r:embed="rId5"/>
          <a:stretch>
            <a:fillRect/>
          </a:stretch>
        </p:blipFill>
        <p:spPr>
          <a:xfrm>
            <a:off x="8051750" y="1133475"/>
            <a:ext cx="3606700" cy="2562225"/>
          </a:xfrm>
          <a:prstGeom prst="rect">
            <a:avLst/>
          </a:prstGeom>
        </p:spPr>
      </p:pic>
      <p:sp>
        <p:nvSpPr>
          <p:cNvPr id="6" name="TextBox 5"/>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Lộ trình Phát triển Ưu tiên (Roadmap)</a:t>
            </a:r>
          </a:p>
        </p:txBody>
      </p:sp>
      <p:pic>
        <p:nvPicPr>
          <p:cNvPr id="7" name="Picture 6" descr="image.png"/>
          <p:cNvPicPr>
            <a:picLocks noChangeAspect="1"/>
          </p:cNvPicPr>
          <p:nvPr/>
        </p:nvPicPr>
        <p:blipFill>
          <a:blip r:embed="rId6"/>
          <a:stretch>
            <a:fillRect/>
          </a:stretch>
        </p:blipFill>
        <p:spPr>
          <a:xfrm>
            <a:off x="10887075" y="519112"/>
            <a:ext cx="771525" cy="285750"/>
          </a:xfrm>
          <a:prstGeom prst="rect">
            <a:avLst/>
          </a:prstGeom>
        </p:spPr>
      </p:pic>
      <p:sp>
        <p:nvSpPr>
          <p:cNvPr id="8" name="TextBox 7"/>
          <p:cNvSpPr txBox="1"/>
          <p:nvPr/>
        </p:nvSpPr>
        <p:spPr>
          <a:xfrm>
            <a:off x="771525" y="1400175"/>
            <a:ext cx="3286973" cy="247650"/>
          </a:xfrm>
          <a:prstGeom prst="rect">
            <a:avLst/>
          </a:prstGeom>
          <a:noFill/>
        </p:spPr>
        <p:txBody>
          <a:bodyPr wrap="square" lIns="0" rIns="0" tIns="0" bIns="0" anchor="t">
            <a:spAutoFit/>
          </a:bodyPr>
          <a:lstStyle/>
          <a:p>
            <a:pPr algn="l"/>
            <a:r>
              <a:rPr b="1" sz="1500" i="0" u="none">
                <a:solidFill>
                  <a:srgbClr val="1E293B"/>
                </a:solidFill>
                <a:latin typeface="Space Grotesk"/>
              </a:rPr>
              <a:t>Khẩn cấp</a:t>
            </a:r>
          </a:p>
        </p:txBody>
      </p:sp>
      <p:sp>
        <p:nvSpPr>
          <p:cNvPr id="9" name="TextBox 8"/>
          <p:cNvSpPr txBox="1"/>
          <p:nvPr/>
        </p:nvSpPr>
        <p:spPr>
          <a:xfrm>
            <a:off x="4530625" y="1400175"/>
            <a:ext cx="3287129" cy="247650"/>
          </a:xfrm>
          <a:prstGeom prst="rect">
            <a:avLst/>
          </a:prstGeom>
          <a:noFill/>
        </p:spPr>
        <p:txBody>
          <a:bodyPr wrap="square" lIns="0" rIns="0" tIns="0" bIns="0" anchor="t">
            <a:spAutoFit/>
          </a:bodyPr>
          <a:lstStyle/>
          <a:p>
            <a:pPr algn="l"/>
            <a:r>
              <a:rPr b="1" sz="1500" i="0" u="none">
                <a:solidFill>
                  <a:srgbClr val="1E293B"/>
                </a:solidFill>
                <a:latin typeface="Space Grotesk"/>
              </a:rPr>
              <a:t>Trung hạn</a:t>
            </a:r>
          </a:p>
        </p:txBody>
      </p:sp>
      <p:sp>
        <p:nvSpPr>
          <p:cNvPr id="10" name="TextBox 9"/>
          <p:cNvSpPr txBox="1"/>
          <p:nvPr/>
        </p:nvSpPr>
        <p:spPr>
          <a:xfrm>
            <a:off x="8289875" y="1400175"/>
            <a:ext cx="3286973" cy="247650"/>
          </a:xfrm>
          <a:prstGeom prst="rect">
            <a:avLst/>
          </a:prstGeom>
          <a:noFill/>
        </p:spPr>
        <p:txBody>
          <a:bodyPr wrap="square" lIns="0" rIns="0" tIns="0" bIns="0" anchor="t">
            <a:spAutoFit/>
          </a:bodyPr>
          <a:lstStyle/>
          <a:p>
            <a:pPr algn="l"/>
            <a:r>
              <a:rPr b="1" sz="1500" i="0" u="none">
                <a:solidFill>
                  <a:srgbClr val="1E293B"/>
                </a:solidFill>
                <a:latin typeface="Space Grotesk"/>
              </a:rPr>
              <a:t>Dài hạn</a:t>
            </a:r>
          </a:p>
        </p:txBody>
      </p:sp>
      <p:pic>
        <p:nvPicPr>
          <p:cNvPr id="11" name="Picture 10" descr="image.png"/>
          <p:cNvPicPr>
            <a:picLocks noChangeAspect="1"/>
          </p:cNvPicPr>
          <p:nvPr/>
        </p:nvPicPr>
        <p:blipFill>
          <a:blip r:embed="rId7"/>
          <a:stretch>
            <a:fillRect/>
          </a:stretch>
        </p:blipFill>
        <p:spPr>
          <a:xfrm>
            <a:off x="771525" y="1400175"/>
            <a:ext cx="704850" cy="247650"/>
          </a:xfrm>
          <a:prstGeom prst="rect">
            <a:avLst/>
          </a:prstGeom>
        </p:spPr>
      </p:pic>
      <p:sp>
        <p:nvSpPr>
          <p:cNvPr id="12" name="TextBox 11"/>
          <p:cNvSpPr txBox="1"/>
          <p:nvPr/>
        </p:nvSpPr>
        <p:spPr>
          <a:xfrm>
            <a:off x="1038225" y="17430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Đồng bộ Evaluation Manifest &amp; Tái lập Benchmark.</a:t>
            </a:r>
          </a:p>
        </p:txBody>
      </p:sp>
      <p:sp>
        <p:nvSpPr>
          <p:cNvPr id="13" name="TextBox 12"/>
          <p:cNvSpPr txBox="1"/>
          <p:nvPr/>
        </p:nvSpPr>
        <p:spPr>
          <a:xfrm>
            <a:off x="1038225" y="23145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Sửa triệt để 10 lỗi Semantic Test Regressions.</a:t>
            </a:r>
          </a:p>
        </p:txBody>
      </p:sp>
      <p:sp>
        <p:nvSpPr>
          <p:cNvPr id="14" name="TextBox 13"/>
          <p:cNvSpPr txBox="1"/>
          <p:nvPr/>
        </p:nvSpPr>
        <p:spPr>
          <a:xfrm>
            <a:off x="1038225" y="28860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Thống nhất Dashboard Evaluation với Active Checkpoint.</a:t>
            </a:r>
          </a:p>
        </p:txBody>
      </p:sp>
      <p:pic>
        <p:nvPicPr>
          <p:cNvPr id="15" name="Picture 14" descr="image.png"/>
          <p:cNvPicPr>
            <a:picLocks noChangeAspect="1"/>
          </p:cNvPicPr>
          <p:nvPr/>
        </p:nvPicPr>
        <p:blipFill>
          <a:blip r:embed="rId8"/>
          <a:stretch>
            <a:fillRect/>
          </a:stretch>
        </p:blipFill>
        <p:spPr>
          <a:xfrm>
            <a:off x="4530625" y="1400175"/>
            <a:ext cx="666750" cy="247650"/>
          </a:xfrm>
          <a:prstGeom prst="rect">
            <a:avLst/>
          </a:prstGeom>
        </p:spPr>
      </p:pic>
      <p:sp>
        <p:nvSpPr>
          <p:cNvPr id="16" name="TextBox 15"/>
          <p:cNvSpPr txBox="1"/>
          <p:nvPr/>
        </p:nvSpPr>
        <p:spPr>
          <a:xfrm>
            <a:off x="4797325" y="1743075"/>
            <a:ext cx="2863899"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Huấn luyện lại Reader với Boundary-Aware Loss.</a:t>
            </a:r>
          </a:p>
        </p:txBody>
      </p:sp>
      <p:sp>
        <p:nvSpPr>
          <p:cNvPr id="17" name="TextBox 16"/>
          <p:cNvSpPr txBox="1"/>
          <p:nvPr/>
        </p:nvSpPr>
        <p:spPr>
          <a:xfrm>
            <a:off x="4797325" y="2314575"/>
            <a:ext cx="2863899"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Xây dựng Benchmark End-to-End độc lập.</a:t>
            </a:r>
          </a:p>
        </p:txBody>
      </p:sp>
      <p:sp>
        <p:nvSpPr>
          <p:cNvPr id="18" name="TextBox 17"/>
          <p:cNvSpPr txBox="1"/>
          <p:nvPr/>
        </p:nvSpPr>
        <p:spPr>
          <a:xfrm>
            <a:off x="4797325" y="2886075"/>
            <a:ext cx="2863899"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Bổ sung Authentication &amp; RBAC cho Feedback APIs.</a:t>
            </a:r>
          </a:p>
        </p:txBody>
      </p:sp>
      <p:pic>
        <p:nvPicPr>
          <p:cNvPr id="19" name="Picture 18" descr="image.png"/>
          <p:cNvPicPr>
            <a:picLocks noChangeAspect="1"/>
          </p:cNvPicPr>
          <p:nvPr/>
        </p:nvPicPr>
        <p:blipFill>
          <a:blip r:embed="rId9"/>
          <a:stretch>
            <a:fillRect/>
          </a:stretch>
        </p:blipFill>
        <p:spPr>
          <a:xfrm>
            <a:off x="8289875" y="1400175"/>
            <a:ext cx="695325" cy="247650"/>
          </a:xfrm>
          <a:prstGeom prst="rect">
            <a:avLst/>
          </a:prstGeom>
        </p:spPr>
      </p:pic>
      <p:sp>
        <p:nvSpPr>
          <p:cNvPr id="20" name="TextBox 19"/>
          <p:cNvSpPr txBox="1"/>
          <p:nvPr/>
        </p:nvSpPr>
        <p:spPr>
          <a:xfrm>
            <a:off x="8556575" y="17430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Tối ưu hóa Latency CPU &amp; Code Splitting Mari 3D.</a:t>
            </a:r>
          </a:p>
        </p:txBody>
      </p:sp>
      <p:sp>
        <p:nvSpPr>
          <p:cNvPr id="21" name="TextBox 20"/>
          <p:cNvSpPr txBox="1"/>
          <p:nvPr/>
        </p:nvSpPr>
        <p:spPr>
          <a:xfrm>
            <a:off x="8556575" y="23145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Thực hiện Human User Study cho Gia sư Socratic.</a:t>
            </a:r>
          </a:p>
        </p:txBody>
      </p:sp>
      <p:sp>
        <p:nvSpPr>
          <p:cNvPr id="22" name="TextBox 21"/>
          <p:cNvSpPr txBox="1"/>
          <p:nvPr/>
        </p:nvSpPr>
        <p:spPr>
          <a:xfrm>
            <a:off x="8556575" y="2886075"/>
            <a:ext cx="2863750" cy="4572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Mở rộng khả năng tự động Promote Checkpoint.</a:t>
            </a:r>
          </a:p>
        </p:txBody>
      </p:sp>
      <p:pic>
        <p:nvPicPr>
          <p:cNvPr id="23" name="Picture 22" descr="image.png"/>
          <p:cNvPicPr>
            <a:picLocks noChangeAspect="1"/>
          </p:cNvPicPr>
          <p:nvPr/>
        </p:nvPicPr>
        <p:blipFill>
          <a:blip r:embed="rId10"/>
          <a:stretch>
            <a:fillRect/>
          </a:stretch>
        </p:blipFill>
        <p:spPr>
          <a:xfrm>
            <a:off x="771525" y="1781175"/>
            <a:ext cx="152400" cy="152400"/>
          </a:xfrm>
          <a:prstGeom prst="rect">
            <a:avLst/>
          </a:prstGeom>
        </p:spPr>
      </p:pic>
      <p:pic>
        <p:nvPicPr>
          <p:cNvPr id="24" name="Picture 23" descr="image.png"/>
          <p:cNvPicPr>
            <a:picLocks noChangeAspect="1"/>
          </p:cNvPicPr>
          <p:nvPr/>
        </p:nvPicPr>
        <p:blipFill>
          <a:blip r:embed="rId11"/>
          <a:stretch>
            <a:fillRect/>
          </a:stretch>
        </p:blipFill>
        <p:spPr>
          <a:xfrm>
            <a:off x="771525" y="2352675"/>
            <a:ext cx="152400" cy="152400"/>
          </a:xfrm>
          <a:prstGeom prst="rect">
            <a:avLst/>
          </a:prstGeom>
        </p:spPr>
      </p:pic>
      <p:pic>
        <p:nvPicPr>
          <p:cNvPr id="25" name="Picture 24" descr="image.png"/>
          <p:cNvPicPr>
            <a:picLocks noChangeAspect="1"/>
          </p:cNvPicPr>
          <p:nvPr/>
        </p:nvPicPr>
        <p:blipFill>
          <a:blip r:embed="rId12"/>
          <a:stretch>
            <a:fillRect/>
          </a:stretch>
        </p:blipFill>
        <p:spPr>
          <a:xfrm>
            <a:off x="771525" y="2924175"/>
            <a:ext cx="190500" cy="152400"/>
          </a:xfrm>
          <a:prstGeom prst="rect">
            <a:avLst/>
          </a:prstGeom>
        </p:spPr>
      </p:pic>
      <p:pic>
        <p:nvPicPr>
          <p:cNvPr id="26" name="Picture 25" descr="image.png"/>
          <p:cNvPicPr>
            <a:picLocks noChangeAspect="1"/>
          </p:cNvPicPr>
          <p:nvPr/>
        </p:nvPicPr>
        <p:blipFill>
          <a:blip r:embed="rId13"/>
          <a:stretch>
            <a:fillRect/>
          </a:stretch>
        </p:blipFill>
        <p:spPr>
          <a:xfrm>
            <a:off x="4530625" y="1781175"/>
            <a:ext cx="152400" cy="152400"/>
          </a:xfrm>
          <a:prstGeom prst="rect">
            <a:avLst/>
          </a:prstGeom>
        </p:spPr>
      </p:pic>
      <p:pic>
        <p:nvPicPr>
          <p:cNvPr id="27" name="Picture 26" descr="image.png"/>
          <p:cNvPicPr>
            <a:picLocks noChangeAspect="1"/>
          </p:cNvPicPr>
          <p:nvPr/>
        </p:nvPicPr>
        <p:blipFill>
          <a:blip r:embed="rId14"/>
          <a:stretch>
            <a:fillRect/>
          </a:stretch>
        </p:blipFill>
        <p:spPr>
          <a:xfrm>
            <a:off x="4530625" y="2352675"/>
            <a:ext cx="152400" cy="152400"/>
          </a:xfrm>
          <a:prstGeom prst="rect">
            <a:avLst/>
          </a:prstGeom>
        </p:spPr>
      </p:pic>
      <p:pic>
        <p:nvPicPr>
          <p:cNvPr id="28" name="Picture 27" descr="image.png"/>
          <p:cNvPicPr>
            <a:picLocks noChangeAspect="1"/>
          </p:cNvPicPr>
          <p:nvPr/>
        </p:nvPicPr>
        <p:blipFill>
          <a:blip r:embed="rId15"/>
          <a:stretch>
            <a:fillRect/>
          </a:stretch>
        </p:blipFill>
        <p:spPr>
          <a:xfrm>
            <a:off x="4530625" y="2924175"/>
            <a:ext cx="152400" cy="152400"/>
          </a:xfrm>
          <a:prstGeom prst="rect">
            <a:avLst/>
          </a:prstGeom>
        </p:spPr>
      </p:pic>
      <p:pic>
        <p:nvPicPr>
          <p:cNvPr id="29" name="Picture 28" descr="image.png"/>
          <p:cNvPicPr>
            <a:picLocks noChangeAspect="1"/>
          </p:cNvPicPr>
          <p:nvPr/>
        </p:nvPicPr>
        <p:blipFill>
          <a:blip r:embed="rId16"/>
          <a:stretch>
            <a:fillRect/>
          </a:stretch>
        </p:blipFill>
        <p:spPr>
          <a:xfrm>
            <a:off x="8289875" y="1781175"/>
            <a:ext cx="133350" cy="152400"/>
          </a:xfrm>
          <a:prstGeom prst="rect">
            <a:avLst/>
          </a:prstGeom>
        </p:spPr>
      </p:pic>
      <p:pic>
        <p:nvPicPr>
          <p:cNvPr id="30" name="Picture 29" descr="image.png"/>
          <p:cNvPicPr>
            <a:picLocks noChangeAspect="1"/>
          </p:cNvPicPr>
          <p:nvPr/>
        </p:nvPicPr>
        <p:blipFill>
          <a:blip r:embed="rId17"/>
          <a:stretch>
            <a:fillRect/>
          </a:stretch>
        </p:blipFill>
        <p:spPr>
          <a:xfrm>
            <a:off x="8289875" y="2352675"/>
            <a:ext cx="190500" cy="152400"/>
          </a:xfrm>
          <a:prstGeom prst="rect">
            <a:avLst/>
          </a:prstGeom>
        </p:spPr>
      </p:pic>
      <p:pic>
        <p:nvPicPr>
          <p:cNvPr id="31" name="Picture 30" descr="image.png"/>
          <p:cNvPicPr>
            <a:picLocks noChangeAspect="1"/>
          </p:cNvPicPr>
          <p:nvPr/>
        </p:nvPicPr>
        <p:blipFill>
          <a:blip r:embed="rId18"/>
          <a:stretch>
            <a:fillRect/>
          </a:stretch>
        </p:blipFill>
        <p:spPr>
          <a:xfrm>
            <a:off x="8289875" y="2924175"/>
            <a:ext cx="190500" cy="1524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33400" y="1133475"/>
            <a:ext cx="5467350" cy="3105150"/>
          </a:xfrm>
          <a:prstGeom prst="rect">
            <a:avLst/>
          </a:prstGeom>
        </p:spPr>
      </p:pic>
      <p:pic>
        <p:nvPicPr>
          <p:cNvPr id="4" name="Picture 3" descr="image.png"/>
          <p:cNvPicPr>
            <a:picLocks noChangeAspect="1"/>
          </p:cNvPicPr>
          <p:nvPr/>
        </p:nvPicPr>
        <p:blipFill>
          <a:blip r:embed="rId4"/>
          <a:stretch>
            <a:fillRect/>
          </a:stretch>
        </p:blipFill>
        <p:spPr>
          <a:xfrm>
            <a:off x="6191250" y="1133475"/>
            <a:ext cx="5467350" cy="3105150"/>
          </a:xfrm>
          <a:prstGeom prst="rect">
            <a:avLst/>
          </a:prstGeom>
        </p:spPr>
      </p:pic>
      <p:sp>
        <p:nvSpPr>
          <p:cNvPr id="5" name="TextBox 4"/>
          <p:cNvSpPr txBox="1"/>
          <p:nvPr/>
        </p:nvSpPr>
        <p:spPr>
          <a:xfrm>
            <a:off x="533400" y="457200"/>
            <a:ext cx="11125200" cy="409575"/>
          </a:xfrm>
          <a:prstGeom prst="rect">
            <a:avLst/>
          </a:prstGeom>
          <a:noFill/>
        </p:spPr>
        <p:txBody>
          <a:bodyPr wrap="square" lIns="0" rIns="0" tIns="0" bIns="0" anchor="ctr">
            <a:spAutoFit/>
          </a:bodyPr>
          <a:lstStyle/>
          <a:p>
            <a:pPr algn="l"/>
            <a:r>
              <a:rPr b="1" sz="2550" i="0" u="none">
                <a:solidFill>
                  <a:srgbClr val="0F172A"/>
                </a:solidFill>
                <a:latin typeface="Plus Jakarta Sans"/>
              </a:rPr>
              <a:t>Kết luận &amp; Thông điệp Cốt lõi</a:t>
            </a:r>
          </a:p>
        </p:txBody>
      </p:sp>
      <p:pic>
        <p:nvPicPr>
          <p:cNvPr id="6" name="Picture 5" descr="image.png"/>
          <p:cNvPicPr>
            <a:picLocks noChangeAspect="1"/>
          </p:cNvPicPr>
          <p:nvPr/>
        </p:nvPicPr>
        <p:blipFill>
          <a:blip r:embed="rId5"/>
          <a:stretch>
            <a:fillRect/>
          </a:stretch>
        </p:blipFill>
        <p:spPr>
          <a:xfrm>
            <a:off x="10744200" y="519112"/>
            <a:ext cx="914400" cy="285750"/>
          </a:xfrm>
          <a:prstGeom prst="rect">
            <a:avLst/>
          </a:prstGeom>
        </p:spPr>
      </p:pic>
      <p:sp>
        <p:nvSpPr>
          <p:cNvPr id="7" name="TextBox 6"/>
          <p:cNvSpPr txBox="1"/>
          <p:nvPr/>
        </p:nvSpPr>
        <p:spPr>
          <a:xfrm>
            <a:off x="771525" y="1371600"/>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4 Đóng góp Chính của VIQA Nexus</a:t>
            </a:r>
          </a:p>
        </p:txBody>
      </p:sp>
      <p:sp>
        <p:nvSpPr>
          <p:cNvPr id="8" name="TextBox 7"/>
          <p:cNvSpPr txBox="1"/>
          <p:nvPr/>
        </p:nvSpPr>
        <p:spPr>
          <a:xfrm>
            <a:off x="6429375" y="1371600"/>
            <a:ext cx="5240655" cy="247650"/>
          </a:xfrm>
          <a:prstGeom prst="rect">
            <a:avLst/>
          </a:prstGeom>
          <a:noFill/>
        </p:spPr>
        <p:txBody>
          <a:bodyPr wrap="square" lIns="0" rIns="0" tIns="0" bIns="0" anchor="t">
            <a:spAutoFit/>
          </a:bodyPr>
          <a:lstStyle/>
          <a:p>
            <a:pPr algn="l"/>
            <a:r>
              <a:rPr b="1" sz="1500" i="0" u="none">
                <a:solidFill>
                  <a:srgbClr val="1E293B"/>
                </a:solidFill>
                <a:latin typeface="Space Grotesk"/>
              </a:rPr>
              <a:t>Trạng thái Công bố</a:t>
            </a:r>
          </a:p>
        </p:txBody>
      </p:sp>
      <p:sp>
        <p:nvSpPr>
          <p:cNvPr id="9" name="TextBox 8"/>
          <p:cNvSpPr txBox="1"/>
          <p:nvPr/>
        </p:nvSpPr>
        <p:spPr>
          <a:xfrm>
            <a:off x="6429375" y="1714500"/>
            <a:ext cx="4991100" cy="400050"/>
          </a:xfrm>
          <a:prstGeom prst="rect">
            <a:avLst/>
          </a:prstGeom>
          <a:noFill/>
        </p:spPr>
        <p:txBody>
          <a:bodyPr wrap="square" lIns="0" rIns="0" tIns="0" bIns="0" anchor="t">
            <a:spAutoFit/>
          </a:bodyPr>
          <a:lstStyle/>
          <a:p>
            <a:pPr algn="l">
              <a:lnSpc>
                <a:spcPts val="1575"/>
              </a:lnSpc>
            </a:pPr>
            <a:r>
              <a:rPr b="0" sz="1050" i="0" u="none">
                <a:solidFill>
                  <a:srgbClr val="334155"/>
                </a:solidFill>
                <a:latin typeface="Plus Jakarta Sans"/>
              </a:rPr>
              <a:t>VIQA Nexus đã vượt khỏi một Demo lý thuyết để trở thành một </a:t>
            </a:r>
            <a:r>
              <a:rPr b="1" sz="1050" i="0" u="none">
                <a:solidFill>
                  <a:srgbClr val="334155"/>
                </a:solidFill>
                <a:latin typeface="Plus Jakarta Sans"/>
              </a:rPr>
              <a:t>Research Prototype hoàn chỉnh</a:t>
            </a:r>
            <a:r>
              <a:rPr b="0" sz="1050" i="0" u="none">
                <a:solidFill>
                  <a:srgbClr val="334155"/>
                </a:solidFill>
                <a:latin typeface="Plus Jakarta Sans"/>
              </a:rPr>
              <a:t> có thể chẩn đoán mọi quyết định.</a:t>
            </a:r>
          </a:p>
        </p:txBody>
      </p:sp>
      <p:sp>
        <p:nvSpPr>
          <p:cNvPr id="10" name="TextBox 9"/>
          <p:cNvSpPr txBox="1"/>
          <p:nvPr/>
        </p:nvSpPr>
        <p:spPr>
          <a:xfrm>
            <a:off x="6429375" y="2228850"/>
            <a:ext cx="4991100" cy="400050"/>
          </a:xfrm>
          <a:prstGeom prst="rect">
            <a:avLst/>
          </a:prstGeom>
          <a:noFill/>
        </p:spPr>
        <p:txBody>
          <a:bodyPr wrap="square" lIns="190500" rIns="0" tIns="0" bIns="0" anchor="t">
            <a:spAutoFit/>
          </a:bodyPr>
          <a:lstStyle/>
          <a:p>
            <a:pPr algn="l">
              <a:lnSpc>
                <a:spcPts val="1575"/>
              </a:lnSpc>
            </a:pPr>
            <a:r>
              <a:rPr b="0" sz="1050" i="0" u="none">
                <a:solidFill>
                  <a:srgbClr val="92400E"/>
                </a:solidFill>
                <a:latin typeface="Plus Jakarta Sans SemiBold"/>
              </a:rPr>
              <a:t>Hệ thống hiện chưa tuyên bố Production-Ready; cần tiếp tục hoàn thiện Test Suite và nâng cao Answerable EM của Reader trước khi triển khai thực tế.</a:t>
            </a:r>
          </a:p>
        </p:txBody>
      </p:sp>
      <p:sp>
        <p:nvSpPr>
          <p:cNvPr id="11" name="TextBox 10"/>
          <p:cNvSpPr txBox="1"/>
          <p:nvPr/>
        </p:nvSpPr>
        <p:spPr>
          <a:xfrm>
            <a:off x="1038225" y="1714500"/>
            <a:ext cx="47244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Hệ thống QA Có Dẫn Nguồn:</a:t>
            </a:r>
            <a:r>
              <a:rPr b="0" sz="1200" i="0" u="none">
                <a:solidFill>
                  <a:srgbClr val="334155"/>
                </a:solidFill>
                <a:latin typeface="Plus Jakarta Sans"/>
              </a:rPr>
              <a:t> Đảm bảo 100% tính minh chứng, từ chối an toàn khi thiếu bằng chứng.</a:t>
            </a:r>
          </a:p>
        </p:txBody>
      </p:sp>
      <p:sp>
        <p:nvSpPr>
          <p:cNvPr id="12" name="TextBox 11"/>
          <p:cNvSpPr txBox="1"/>
          <p:nvPr/>
        </p:nvSpPr>
        <p:spPr>
          <a:xfrm>
            <a:off x="1038225" y="2286000"/>
            <a:ext cx="47244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Hybrid Retriever Vượt Trội:</a:t>
            </a:r>
            <a:r>
              <a:rPr b="0" sz="1200" i="0" u="none">
                <a:solidFill>
                  <a:srgbClr val="334155"/>
                </a:solidFill>
                <a:latin typeface="Plus Jakarta Sans"/>
              </a:rPr>
              <a:t> Đạt MRR 0.7682 và Recall@10 91.56% trên 7,301 câu hỏi test.</a:t>
            </a:r>
          </a:p>
        </p:txBody>
      </p:sp>
      <p:sp>
        <p:nvSpPr>
          <p:cNvPr id="13" name="TextBox 12"/>
          <p:cNvSpPr txBox="1"/>
          <p:nvPr/>
        </p:nvSpPr>
        <p:spPr>
          <a:xfrm>
            <a:off x="1038225" y="2857500"/>
            <a:ext cx="47244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Extractive &amp; Generative Song Hành:</a:t>
            </a:r>
            <a:r>
              <a:rPr b="0" sz="1200" i="0" u="none">
                <a:solidFill>
                  <a:srgbClr val="334155"/>
                </a:solidFill>
                <a:latin typeface="Plus Jakarta Sans"/>
              </a:rPr>
              <a:t> XLM-R đóng vai trò Reader trích xuất chính xác; LFM2.5 mở rộng diễn đạt RAG.</a:t>
            </a:r>
          </a:p>
        </p:txBody>
      </p:sp>
      <p:sp>
        <p:nvSpPr>
          <p:cNvPr id="14" name="TextBox 13"/>
          <p:cNvSpPr txBox="1"/>
          <p:nvPr/>
        </p:nvSpPr>
        <p:spPr>
          <a:xfrm>
            <a:off x="1038225" y="3429000"/>
            <a:ext cx="4724400" cy="457200"/>
          </a:xfrm>
          <a:prstGeom prst="rect">
            <a:avLst/>
          </a:prstGeom>
          <a:noFill/>
        </p:spPr>
        <p:txBody>
          <a:bodyPr wrap="square" lIns="0" rIns="0" tIns="0" bIns="0" anchor="t">
            <a:spAutoFit/>
          </a:bodyPr>
          <a:lstStyle/>
          <a:p>
            <a:pPr algn="l">
              <a:lnSpc>
                <a:spcPts val="1800"/>
              </a:lnSpc>
            </a:pPr>
            <a:r>
              <a:rPr b="1" sz="1200" i="0" u="none">
                <a:solidFill>
                  <a:srgbClr val="334155"/>
                </a:solidFill>
                <a:latin typeface="Plus Jakarta Sans"/>
              </a:rPr>
              <a:t>Minh bạch &amp; Có thể Kiểm toán:</a:t>
            </a:r>
            <a:r>
              <a:rPr b="0" sz="1200" i="0" u="none">
                <a:solidFill>
                  <a:srgbClr val="334155"/>
                </a:solidFill>
                <a:latin typeface="Plus Jakarta Sans"/>
              </a:rPr>
              <a:t> Socratic Tutor grounded và Vòng lặp phản hồi Human-in-the-Loop an toàn.</a:t>
            </a:r>
          </a:p>
        </p:txBody>
      </p:sp>
      <p:pic>
        <p:nvPicPr>
          <p:cNvPr id="15" name="Picture 14" descr="image.png"/>
          <p:cNvPicPr>
            <a:picLocks noChangeAspect="1"/>
          </p:cNvPicPr>
          <p:nvPr/>
        </p:nvPicPr>
        <p:blipFill>
          <a:blip r:embed="rId6"/>
          <a:stretch>
            <a:fillRect/>
          </a:stretch>
        </p:blipFill>
        <p:spPr>
          <a:xfrm>
            <a:off x="6429375" y="2266950"/>
            <a:ext cx="133350" cy="133350"/>
          </a:xfrm>
          <a:prstGeom prst="rect">
            <a:avLst/>
          </a:prstGeom>
        </p:spPr>
      </p:pic>
      <p:pic>
        <p:nvPicPr>
          <p:cNvPr id="16" name="Picture 15" descr="image.png"/>
          <p:cNvPicPr>
            <a:picLocks noChangeAspect="1"/>
          </p:cNvPicPr>
          <p:nvPr/>
        </p:nvPicPr>
        <p:blipFill>
          <a:blip r:embed="rId7"/>
          <a:stretch>
            <a:fillRect/>
          </a:stretch>
        </p:blipFill>
        <p:spPr>
          <a:xfrm>
            <a:off x="771525" y="1752600"/>
            <a:ext cx="133350" cy="152400"/>
          </a:xfrm>
          <a:prstGeom prst="rect">
            <a:avLst/>
          </a:prstGeom>
        </p:spPr>
      </p:pic>
      <p:pic>
        <p:nvPicPr>
          <p:cNvPr id="17" name="Picture 16" descr="image.png"/>
          <p:cNvPicPr>
            <a:picLocks noChangeAspect="1"/>
          </p:cNvPicPr>
          <p:nvPr/>
        </p:nvPicPr>
        <p:blipFill>
          <a:blip r:embed="rId7"/>
          <a:stretch>
            <a:fillRect/>
          </a:stretch>
        </p:blipFill>
        <p:spPr>
          <a:xfrm>
            <a:off x="771525" y="2324100"/>
            <a:ext cx="133350" cy="152400"/>
          </a:xfrm>
          <a:prstGeom prst="rect">
            <a:avLst/>
          </a:prstGeom>
        </p:spPr>
      </p:pic>
      <p:pic>
        <p:nvPicPr>
          <p:cNvPr id="18" name="Picture 17" descr="image.png"/>
          <p:cNvPicPr>
            <a:picLocks noChangeAspect="1"/>
          </p:cNvPicPr>
          <p:nvPr/>
        </p:nvPicPr>
        <p:blipFill>
          <a:blip r:embed="rId7"/>
          <a:stretch>
            <a:fillRect/>
          </a:stretch>
        </p:blipFill>
        <p:spPr>
          <a:xfrm>
            <a:off x="771525" y="2895600"/>
            <a:ext cx="133350" cy="152400"/>
          </a:xfrm>
          <a:prstGeom prst="rect">
            <a:avLst/>
          </a:prstGeom>
        </p:spPr>
      </p:pic>
      <p:pic>
        <p:nvPicPr>
          <p:cNvPr id="19" name="Picture 18" descr="image.png"/>
          <p:cNvPicPr>
            <a:picLocks noChangeAspect="1"/>
          </p:cNvPicPr>
          <p:nvPr/>
        </p:nvPicPr>
        <p:blipFill>
          <a:blip r:embed="rId7"/>
          <a:stretch>
            <a:fillRect/>
          </a:stretch>
        </p:blipFill>
        <p:spPr>
          <a:xfrm>
            <a:off x="771525" y="3467100"/>
            <a:ext cx="133350" cy="1524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576339" y="4028479"/>
            <a:ext cx="5039320" cy="623887"/>
          </a:xfrm>
          <a:prstGeom prst="rect">
            <a:avLst/>
          </a:prstGeom>
        </p:spPr>
      </p:pic>
      <p:sp>
        <p:nvSpPr>
          <p:cNvPr id="4" name="TextBox 3"/>
          <p:cNvSpPr txBox="1"/>
          <p:nvPr/>
        </p:nvSpPr>
        <p:spPr>
          <a:xfrm>
            <a:off x="3014662" y="2205483"/>
            <a:ext cx="6162675" cy="200025"/>
          </a:xfrm>
          <a:prstGeom prst="rect">
            <a:avLst/>
          </a:prstGeom>
          <a:noFill/>
        </p:spPr>
        <p:txBody>
          <a:bodyPr wrap="square" lIns="0" rIns="0" tIns="0" bIns="0" anchor="t">
            <a:spAutoFit/>
          </a:bodyPr>
          <a:lstStyle/>
          <a:p>
            <a:pPr algn="ctr"/>
            <a:r>
              <a:rPr b="1" sz="1200" i="0" u="none">
                <a:solidFill>
                  <a:srgbClr val="60A5FA"/>
                </a:solidFill>
                <a:latin typeface="Plus Jakarta Sans"/>
              </a:rPr>
              <a:t>VIQA NEXUS PRESENTATION</a:t>
            </a:r>
          </a:p>
        </p:txBody>
      </p:sp>
      <p:sp>
        <p:nvSpPr>
          <p:cNvPr id="5" name="TextBox 4"/>
          <p:cNvSpPr txBox="1"/>
          <p:nvPr/>
        </p:nvSpPr>
        <p:spPr>
          <a:xfrm>
            <a:off x="2860595" y="2557908"/>
            <a:ext cx="6470808" cy="613320"/>
          </a:xfrm>
          <a:prstGeom prst="rect">
            <a:avLst/>
          </a:prstGeom>
          <a:noFill/>
        </p:spPr>
        <p:txBody>
          <a:bodyPr wrap="square" lIns="0" rIns="0" tIns="0" bIns="0" anchor="t">
            <a:spAutoFit/>
          </a:bodyPr>
          <a:lstStyle/>
          <a:p>
            <a:pPr algn="ctr">
              <a:lnSpc>
                <a:spcPts val="4830"/>
              </a:lnSpc>
            </a:pPr>
            <a:r>
              <a:rPr b="1" sz="4200" i="0" u="none">
                <a:solidFill>
                  <a:srgbClr val="F8FAFC"/>
                </a:solidFill>
                <a:latin typeface="Space Grotesk"/>
              </a:rPr>
              <a:t>Cảm ơn Thầy và các Bạn!</a:t>
            </a:r>
          </a:p>
        </p:txBody>
      </p:sp>
      <p:sp>
        <p:nvSpPr>
          <p:cNvPr id="6" name="TextBox 5"/>
          <p:cNvSpPr txBox="1"/>
          <p:nvPr/>
        </p:nvSpPr>
        <p:spPr>
          <a:xfrm>
            <a:off x="3014662" y="3399829"/>
            <a:ext cx="6162675" cy="285750"/>
          </a:xfrm>
          <a:prstGeom prst="rect">
            <a:avLst/>
          </a:prstGeom>
          <a:noFill/>
        </p:spPr>
        <p:txBody>
          <a:bodyPr wrap="square" lIns="0" rIns="0" tIns="0" bIns="0" anchor="t">
            <a:spAutoFit/>
          </a:bodyPr>
          <a:lstStyle/>
          <a:p>
            <a:pPr algn="ctr">
              <a:lnSpc>
                <a:spcPts val="2250"/>
              </a:lnSpc>
            </a:pPr>
            <a:r>
              <a:rPr b="0" sz="1500" i="0" u="none">
                <a:solidFill>
                  <a:srgbClr val="CBD5E1"/>
                </a:solidFill>
                <a:latin typeface="Plus Jakarta Sans"/>
              </a:rPr>
              <a:t>Hỏi &amp; Đáp — Q&amp;A Session</a:t>
            </a:r>
          </a:p>
        </p:txBody>
      </p:sp>
      <p:sp>
        <p:nvSpPr>
          <p:cNvPr id="7" name="TextBox 6"/>
          <p:cNvSpPr txBox="1"/>
          <p:nvPr/>
        </p:nvSpPr>
        <p:spPr>
          <a:xfrm>
            <a:off x="3890664" y="4228504"/>
            <a:ext cx="4410670" cy="223837"/>
          </a:xfrm>
          <a:prstGeom prst="rect">
            <a:avLst/>
          </a:prstGeom>
          <a:noFill/>
        </p:spPr>
        <p:txBody>
          <a:bodyPr wrap="square" lIns="0" rIns="0" tIns="0" bIns="0" anchor="t">
            <a:spAutoFit/>
          </a:bodyPr>
          <a:lstStyle/>
          <a:p>
            <a:pPr algn="ctr">
              <a:lnSpc>
                <a:spcPts val="1687"/>
              </a:lnSpc>
            </a:pPr>
            <a:r>
              <a:rPr b="0" sz="1125" i="0" u="none">
                <a:solidFill>
                  <a:srgbClr val="CBD5E1"/>
                </a:solidFill>
                <a:latin typeface="Plus Jakarta Sans"/>
              </a:rPr>
              <a:t> Mã nguồn dự án: </a:t>
            </a:r>
            <a:r>
              <a:rPr b="0" sz="1125" i="0" u="none">
                <a:solidFill>
                  <a:srgbClr val="CBD5E1"/>
                </a:solidFill>
                <a:latin typeface="Plus Jakarta Sans"/>
              </a:rPr>
              <a:t>https://github.com/duong158/QA_system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33400" y="457200"/>
            <a:ext cx="11658600" cy="409575"/>
          </a:xfrm>
          <a:prstGeom prst="rect">
            <a:avLst/>
          </a:prstGeom>
          <a:noFill/>
        </p:spPr>
        <p:txBody>
          <a:bodyPr wrap="square" lIns="0" rIns="0" tIns="0" bIns="0" anchor="ctr">
            <a:spAutoFit/>
          </a:bodyPr>
          <a:lstStyle/>
          <a:p>
            <a:pPr algn="l"/>
            <a:r>
              <a:rPr b="1" sz="2550" i="0" u="none">
                <a:solidFill>
                  <a:srgbClr val="0F172A"/>
                </a:solidFill>
                <a:latin typeface="Space Grotesk"/>
              </a:rPr>
              <a:t>Image Sources</a:t>
            </a:r>
          </a:p>
        </p:txBody>
      </p:sp>
      <p:pic>
        <p:nvPicPr>
          <p:cNvPr id="4" name="Picture 3" descr="image.png"/>
          <p:cNvPicPr>
            <a:picLocks noChangeAspect="1"/>
          </p:cNvPicPr>
          <p:nvPr/>
        </p:nvPicPr>
        <p:blipFill>
          <a:blip r:embed="rId3"/>
          <a:stretch>
            <a:fillRect/>
          </a:stretch>
        </p:blipFill>
        <p:spPr>
          <a:xfrm>
            <a:off x="533400" y="1362075"/>
            <a:ext cx="857250" cy="476250"/>
          </a:xfrm>
          <a:prstGeom prst="rect">
            <a:avLst/>
          </a:prstGeom>
        </p:spPr>
      </p:pic>
      <p:sp>
        <p:nvSpPr>
          <p:cNvPr id="5" name="TextBox 4"/>
          <p:cNvSpPr txBox="1"/>
          <p:nvPr/>
        </p:nvSpPr>
        <p:spPr>
          <a:xfrm>
            <a:off x="1628775" y="1276350"/>
            <a:ext cx="10029825" cy="371475"/>
          </a:xfrm>
          <a:prstGeom prst="rect">
            <a:avLst/>
          </a:prstGeom>
          <a:noFill/>
        </p:spPr>
        <p:txBody>
          <a:bodyPr wrap="square" lIns="0" rIns="0" tIns="0" bIns="0" anchor="t">
            <a:spAutoFit/>
          </a:bodyPr>
          <a:lstStyle/>
          <a:p>
            <a:pPr algn="l">
              <a:lnSpc>
                <a:spcPts val="1462"/>
              </a:lnSpc>
            </a:pPr>
            <a:r>
              <a:rPr b="0" sz="975" i="0" u="none">
                <a:solidFill>
                  <a:srgbClr val="334155"/>
                </a:solidFill>
                <a:latin typeface="Plus Jakarta Sans"/>
              </a:rPr>
              <a:t>https://simplea.com/getContentAsset/2a38ac0b-20e3-4496-baee-7c3c50caf5da/9c62e46d-d537-4a10-a02e-5e2b3ae99458/2_3_73_simplea_com_blog_article_what_is_a_graph_database_in_content_01_700x510.jpg?language=en</a:t>
            </a:r>
          </a:p>
        </p:txBody>
      </p:sp>
      <p:sp>
        <p:nvSpPr>
          <p:cNvPr id="6" name="TextBox 5"/>
          <p:cNvSpPr txBox="1"/>
          <p:nvPr/>
        </p:nvSpPr>
        <p:spPr>
          <a:xfrm>
            <a:off x="1628775" y="1695450"/>
            <a:ext cx="1002982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Plus Jakarta Sans"/>
              </a:rPr>
              <a:t>Source: </a:t>
            </a:r>
            <a:r>
              <a:rPr b="0" sz="1200" i="0" u="none">
                <a:solidFill>
                  <a:srgbClr val="4F46E5"/>
                </a:solidFill>
                <a:latin typeface="Plus Jakarta Sans"/>
              </a:rPr>
              <a:t>simplea.com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